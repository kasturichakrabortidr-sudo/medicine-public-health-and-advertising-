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3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972800" cy="320040"/>
          </a:xfrm>
          <a:prstGeom prst="rect">
            <a:avLst/>
          </a:prstGeom>
          <a:noFill/>
        </p:spPr>
        <p:txBody>
          <a:bodyPr wrap="square">
            <a:spAutoFit/>
          </a:bodyPr>
          <a:lstStyle/>
          <a:p>
            <a:pPr algn="l"/>
            <a:r>
              <a:rPr sz="1200" b="1">
                <a:solidFill>
                  <a:srgbClr val="C9A227"/>
                </a:solidFill>
                <a:latin typeface="Calibri"/>
              </a:rPr>
              <a:t>VALIDATED LITERATURE REVIEW  ·  EVIDENCE CAMPAIGN DECK</a:t>
            </a:r>
          </a:p>
        </p:txBody>
      </p:sp>
      <p:sp>
        <p:nvSpPr>
          <p:cNvPr id="4" name="TextBox 3"/>
          <p:cNvSpPr txBox="1"/>
          <p:nvPr/>
        </p:nvSpPr>
        <p:spPr>
          <a:xfrm>
            <a:off x="457200" y="1280160"/>
            <a:ext cx="11155680" cy="2011680"/>
          </a:xfrm>
          <a:prstGeom prst="rect">
            <a:avLst/>
          </a:prstGeom>
          <a:noFill/>
        </p:spPr>
        <p:txBody>
          <a:bodyPr wrap="square">
            <a:spAutoFit/>
          </a:bodyPr>
          <a:lstStyle/>
          <a:p>
            <a:pPr algn="l"/>
            <a:r>
              <a:rPr sz="3600" b="1">
                <a:solidFill>
                  <a:srgbClr val="FFFFFF"/>
                </a:solidFill>
                <a:latin typeface="Calibri"/>
              </a:rPr>
              <a:t>CardioShield: registry-validated evidence for HFrEF (heart failure with reduced ejection fraction), NYHA class II-IV</a:t>
            </a:r>
          </a:p>
        </p:txBody>
      </p:sp>
      <p:sp>
        <p:nvSpPr>
          <p:cNvPr id="5" name="TextBox 4"/>
          <p:cNvSpPr txBox="1"/>
          <p:nvPr/>
        </p:nvSpPr>
        <p:spPr>
          <a:xfrm>
            <a:off x="457200" y="3657600"/>
            <a:ext cx="11155680" cy="1097280"/>
          </a:xfrm>
          <a:prstGeom prst="rect">
            <a:avLst/>
          </a:prstGeom>
          <a:noFill/>
        </p:spPr>
        <p:txBody>
          <a:bodyPr wrap="square">
            <a:spAutoFit/>
          </a:bodyPr>
          <a:lstStyle/>
          <a:p>
            <a:pPr algn="l"/>
            <a:r>
              <a:rPr sz="1800" b="0">
                <a:solidFill>
                  <a:srgbClr val="F4EFE4"/>
                </a:solidFill>
                <a:latin typeface="Calibri"/>
              </a:rPr>
              <a:t>205 validated records   ·   205 numbered citations   ·   75% modelled calendar-time cut   ·   pipeline 2.0.0</a:t>
            </a:r>
          </a:p>
        </p:txBody>
      </p:sp>
      <p:sp>
        <p:nvSpPr>
          <p:cNvPr id="6" name="TextBox 5"/>
          <p:cNvSpPr txBox="1"/>
          <p:nvPr/>
        </p:nvSpPr>
        <p:spPr>
          <a:xfrm>
            <a:off x="457200" y="5852160"/>
            <a:ext cx="11155680" cy="548640"/>
          </a:xfrm>
          <a:prstGeom prst="rect">
            <a:avLst/>
          </a:prstGeom>
          <a:noFill/>
        </p:spPr>
        <p:txBody>
          <a:bodyPr wrap="square">
            <a:spAutoFit/>
          </a:bodyPr>
          <a:lstStyle/>
          <a:p>
            <a:pPr algn="l"/>
            <a:r>
              <a:rPr sz="1400" b="0">
                <a:solidFill>
                  <a:srgbClr val="C9A227"/>
                </a:solidFill>
                <a:latin typeface="Calibri"/>
              </a:rPr>
              <a:t>Every citation resolved in Crossref, Europe PMC, ClinicalTrials.gov, or an allow-listed official URL.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972800" cy="320040"/>
          </a:xfrm>
          <a:prstGeom prst="rect">
            <a:avLst/>
          </a:prstGeom>
          <a:noFill/>
        </p:spPr>
        <p:txBody>
          <a:bodyPr wrap="square">
            <a:spAutoFit/>
          </a:bodyPr>
          <a:lstStyle/>
          <a:p>
            <a:pPr algn="l"/>
            <a:r>
              <a:rPr sz="1200" b="1">
                <a:solidFill>
                  <a:srgbClr val="B85C38"/>
                </a:solidFill>
                <a:latin typeface="Calibri"/>
              </a:rPr>
              <a:t>01  BRIEF AND PICO</a:t>
            </a:r>
          </a:p>
        </p:txBody>
      </p:sp>
      <p:sp>
        <p:nvSpPr>
          <p:cNvPr id="4" name="TextBox 3"/>
          <p:cNvSpPr txBox="1"/>
          <p:nvPr/>
        </p:nvSpPr>
        <p:spPr>
          <a:xfrm>
            <a:off x="457200" y="640080"/>
            <a:ext cx="11155680" cy="1097280"/>
          </a:xfrm>
          <a:prstGeom prst="rect">
            <a:avLst/>
          </a:prstGeom>
          <a:noFill/>
        </p:spPr>
        <p:txBody>
          <a:bodyPr wrap="square">
            <a:spAutoFit/>
          </a:bodyPr>
          <a:lstStyle/>
          <a:p>
            <a:pPr algn="l"/>
            <a:r>
              <a:rPr sz="2000" b="1">
                <a:solidFill>
                  <a:srgbClr val="102A32"/>
                </a:solidFill>
                <a:latin typeface="Calibri"/>
              </a:rPr>
              <a:t>In HFrEF, what validated evidence, guidelines, and UN/NGO guidance describe the effects, implementation, and lived experience of sacubitril/valsartan fixed-dose combination?</a:t>
            </a:r>
          </a:p>
        </p:txBody>
      </p:sp>
      <p:sp>
        <p:nvSpPr>
          <p:cNvPr id="5" name="TextBox 4"/>
          <p:cNvSpPr txBox="1"/>
          <p:nvPr/>
        </p:nvSpPr>
        <p:spPr>
          <a:xfrm>
            <a:off x="457200" y="1920240"/>
            <a:ext cx="2011680" cy="640080"/>
          </a:xfrm>
          <a:prstGeom prst="rect">
            <a:avLst/>
          </a:prstGeom>
          <a:noFill/>
        </p:spPr>
        <p:txBody>
          <a:bodyPr wrap="square">
            <a:spAutoFit/>
          </a:bodyPr>
          <a:lstStyle/>
          <a:p>
            <a:pPr algn="l"/>
            <a:r>
              <a:rPr sz="1400" b="1">
                <a:solidFill>
                  <a:srgbClr val="B85C38"/>
                </a:solidFill>
                <a:latin typeface="Calibri"/>
              </a:rPr>
              <a:t>Population</a:t>
            </a:r>
          </a:p>
        </p:txBody>
      </p:sp>
      <p:sp>
        <p:nvSpPr>
          <p:cNvPr id="6" name="TextBox 5"/>
          <p:cNvSpPr txBox="1"/>
          <p:nvPr/>
        </p:nvSpPr>
        <p:spPr>
          <a:xfrm>
            <a:off x="2560320" y="1920240"/>
            <a:ext cx="8961120" cy="640080"/>
          </a:xfrm>
          <a:prstGeom prst="rect">
            <a:avLst/>
          </a:prstGeom>
          <a:noFill/>
        </p:spPr>
        <p:txBody>
          <a:bodyPr wrap="square">
            <a:spAutoFit/>
          </a:bodyPr>
          <a:lstStyle/>
          <a:p>
            <a:pPr algn="l"/>
            <a:r>
              <a:rPr sz="1600" b="0">
                <a:solidFill>
                  <a:srgbClr val="102A32"/>
                </a:solidFill>
                <a:latin typeface="Calibri"/>
              </a:rPr>
              <a:t>HFrEF</a:t>
            </a:r>
          </a:p>
        </p:txBody>
      </p:sp>
      <p:sp>
        <p:nvSpPr>
          <p:cNvPr id="7" name="TextBox 6"/>
          <p:cNvSpPr txBox="1"/>
          <p:nvPr/>
        </p:nvSpPr>
        <p:spPr>
          <a:xfrm>
            <a:off x="457200" y="2697480"/>
            <a:ext cx="2011680" cy="640080"/>
          </a:xfrm>
          <a:prstGeom prst="rect">
            <a:avLst/>
          </a:prstGeom>
          <a:noFill/>
        </p:spPr>
        <p:txBody>
          <a:bodyPr wrap="square">
            <a:spAutoFit/>
          </a:bodyPr>
          <a:lstStyle/>
          <a:p>
            <a:pPr algn="l"/>
            <a:r>
              <a:rPr sz="1400" b="1">
                <a:solidFill>
                  <a:srgbClr val="B85C38"/>
                </a:solidFill>
                <a:latin typeface="Calibri"/>
              </a:rPr>
              <a:t>Intervention</a:t>
            </a:r>
          </a:p>
        </p:txBody>
      </p:sp>
      <p:sp>
        <p:nvSpPr>
          <p:cNvPr id="8" name="TextBox 7"/>
          <p:cNvSpPr txBox="1"/>
          <p:nvPr/>
        </p:nvSpPr>
        <p:spPr>
          <a:xfrm>
            <a:off x="2560320" y="2697480"/>
            <a:ext cx="8961120" cy="640080"/>
          </a:xfrm>
          <a:prstGeom prst="rect">
            <a:avLst/>
          </a:prstGeom>
          <a:noFill/>
        </p:spPr>
        <p:txBody>
          <a:bodyPr wrap="square">
            <a:spAutoFit/>
          </a:bodyPr>
          <a:lstStyle/>
          <a:p>
            <a:pPr algn="l"/>
            <a:r>
              <a:rPr sz="1600" b="0">
                <a:solidFill>
                  <a:srgbClr val="102A32"/>
                </a:solidFill>
                <a:latin typeface="Calibri"/>
              </a:rPr>
              <a:t>sacubitril/valsartan fixed-dose combination</a:t>
            </a:r>
          </a:p>
        </p:txBody>
      </p:sp>
      <p:sp>
        <p:nvSpPr>
          <p:cNvPr id="9" name="TextBox 8"/>
          <p:cNvSpPr txBox="1"/>
          <p:nvPr/>
        </p:nvSpPr>
        <p:spPr>
          <a:xfrm>
            <a:off x="457200" y="3474720"/>
            <a:ext cx="2011680" cy="640080"/>
          </a:xfrm>
          <a:prstGeom prst="rect">
            <a:avLst/>
          </a:prstGeom>
          <a:noFill/>
        </p:spPr>
        <p:txBody>
          <a:bodyPr wrap="square">
            <a:spAutoFit/>
          </a:bodyPr>
          <a:lstStyle/>
          <a:p>
            <a:pPr algn="l"/>
            <a:r>
              <a:rPr sz="1400" b="1">
                <a:solidFill>
                  <a:srgbClr val="B85C38"/>
                </a:solidFill>
                <a:latin typeface="Calibri"/>
              </a:rPr>
              <a:t>Comparator</a:t>
            </a:r>
          </a:p>
        </p:txBody>
      </p:sp>
      <p:sp>
        <p:nvSpPr>
          <p:cNvPr id="10" name="TextBox 9"/>
          <p:cNvSpPr txBox="1"/>
          <p:nvPr/>
        </p:nvSpPr>
        <p:spPr>
          <a:xfrm>
            <a:off x="2560320" y="3474720"/>
            <a:ext cx="8961120" cy="640080"/>
          </a:xfrm>
          <a:prstGeom prst="rect">
            <a:avLst/>
          </a:prstGeom>
          <a:noFill/>
        </p:spPr>
        <p:txBody>
          <a:bodyPr wrap="square">
            <a:spAutoFit/>
          </a:bodyPr>
          <a:lstStyle/>
          <a:p>
            <a:pPr algn="l"/>
            <a:r>
              <a:rPr sz="1600" b="0">
                <a:solidFill>
                  <a:srgbClr val="102A32"/>
                </a:solidFill>
                <a:latin typeface="Calibri"/>
              </a:rPr>
              <a:t>standard of care / incumbent therapy as reported in sources</a:t>
            </a:r>
          </a:p>
        </p:txBody>
      </p:sp>
      <p:sp>
        <p:nvSpPr>
          <p:cNvPr id="11" name="TextBox 10"/>
          <p:cNvSpPr txBox="1"/>
          <p:nvPr/>
        </p:nvSpPr>
        <p:spPr>
          <a:xfrm>
            <a:off x="457200" y="4251960"/>
            <a:ext cx="2011680" cy="640080"/>
          </a:xfrm>
          <a:prstGeom prst="rect">
            <a:avLst/>
          </a:prstGeom>
          <a:noFill/>
        </p:spPr>
        <p:txBody>
          <a:bodyPr wrap="square">
            <a:spAutoFit/>
          </a:bodyPr>
          <a:lstStyle/>
          <a:p>
            <a:pPr algn="l"/>
            <a:r>
              <a:rPr sz="1400" b="1">
                <a:solidFill>
                  <a:srgbClr val="B85C38"/>
                </a:solidFill>
                <a:latin typeface="Calibri"/>
              </a:rPr>
              <a:t>Outcomes</a:t>
            </a:r>
          </a:p>
        </p:txBody>
      </p:sp>
      <p:sp>
        <p:nvSpPr>
          <p:cNvPr id="12" name="TextBox 11"/>
          <p:cNvSpPr txBox="1"/>
          <p:nvPr/>
        </p:nvSpPr>
        <p:spPr>
          <a:xfrm>
            <a:off x="2560320" y="4251960"/>
            <a:ext cx="8961120" cy="640080"/>
          </a:xfrm>
          <a:prstGeom prst="rect">
            <a:avLst/>
          </a:prstGeom>
          <a:noFill/>
        </p:spPr>
        <p:txBody>
          <a:bodyPr wrap="square">
            <a:spAutoFit/>
          </a:bodyPr>
          <a:lstStyle/>
          <a:p>
            <a:pPr algn="l"/>
            <a:r>
              <a:rPr sz="1600" b="0">
                <a:solidFill>
                  <a:srgbClr val="102A32"/>
                </a:solidFill>
                <a:latin typeface="Calibri"/>
              </a:rPr>
              <a:t>morbidity/mortality, hospitalisation, quality of life, guideline-directed uptake, and access barriers</a:t>
            </a:r>
          </a:p>
        </p:txBody>
      </p:sp>
      <p:sp>
        <p:nvSpPr>
          <p:cNvPr id="13" name="TextBox 12"/>
          <p:cNvSpPr txBox="1"/>
          <p:nvPr/>
        </p:nvSpPr>
        <p:spPr>
          <a:xfrm>
            <a:off x="457200" y="5029200"/>
            <a:ext cx="2011680" cy="640080"/>
          </a:xfrm>
          <a:prstGeom prst="rect">
            <a:avLst/>
          </a:prstGeom>
          <a:noFill/>
        </p:spPr>
        <p:txBody>
          <a:bodyPr wrap="square">
            <a:spAutoFit/>
          </a:bodyPr>
          <a:lstStyle/>
          <a:p>
            <a:pPr algn="l"/>
            <a:r>
              <a:rPr sz="1400" b="1">
                <a:solidFill>
                  <a:srgbClr val="B85C38"/>
                </a:solidFill>
                <a:latin typeface="Calibri"/>
              </a:rPr>
              <a:t>Setting</a:t>
            </a:r>
          </a:p>
        </p:txBody>
      </p:sp>
      <p:sp>
        <p:nvSpPr>
          <p:cNvPr id="14" name="TextBox 13"/>
          <p:cNvSpPr txBox="1"/>
          <p:nvPr/>
        </p:nvSpPr>
        <p:spPr>
          <a:xfrm>
            <a:off x="2560320" y="5029200"/>
            <a:ext cx="8961120" cy="640080"/>
          </a:xfrm>
          <a:prstGeom prst="rect">
            <a:avLst/>
          </a:prstGeom>
          <a:noFill/>
        </p:spPr>
        <p:txBody>
          <a:bodyPr wrap="square">
            <a:spAutoFit/>
          </a:bodyPr>
          <a:lstStyle/>
          <a:p>
            <a:pPr algn="l"/>
            <a:r>
              <a:rPr sz="1600" b="0">
                <a:solidFill>
                  <a:srgbClr val="102A32"/>
                </a:solidFill>
                <a:latin typeface="Calibri"/>
              </a:rPr>
              <a:t>India (metro + tier-2/3 cities)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972800" cy="320040"/>
          </a:xfrm>
          <a:prstGeom prst="rect">
            <a:avLst/>
          </a:prstGeom>
          <a:noFill/>
        </p:spPr>
        <p:txBody>
          <a:bodyPr wrap="square">
            <a:spAutoFit/>
          </a:bodyPr>
          <a:lstStyle/>
          <a:p>
            <a:pPr algn="l"/>
            <a:r>
              <a:rPr sz="1200" b="1">
                <a:solidFill>
                  <a:srgbClr val="B85C38"/>
                </a:solidFill>
                <a:latin typeface="Calibri"/>
              </a:rPr>
              <a:t>02  SCREENING FLOW</a:t>
            </a:r>
          </a:p>
        </p:txBody>
      </p:sp>
      <p:sp>
        <p:nvSpPr>
          <p:cNvPr id="4" name="TextBox 3"/>
          <p:cNvSpPr txBox="1"/>
          <p:nvPr/>
        </p:nvSpPr>
        <p:spPr>
          <a:xfrm>
            <a:off x="457200" y="640080"/>
            <a:ext cx="10972800" cy="457200"/>
          </a:xfrm>
          <a:prstGeom prst="rect">
            <a:avLst/>
          </a:prstGeom>
          <a:noFill/>
        </p:spPr>
        <p:txBody>
          <a:bodyPr wrap="square">
            <a:spAutoFit/>
          </a:bodyPr>
          <a:lstStyle/>
          <a:p>
            <a:pPr algn="l"/>
            <a:r>
              <a:rPr sz="2400" b="1">
                <a:solidFill>
                  <a:srgbClr val="102A32"/>
                </a:solidFill>
                <a:latin typeface="Calibri"/>
              </a:rPr>
              <a:t>PRISMA-style counts from this live run</a:t>
            </a:r>
          </a:p>
        </p:txBody>
      </p:sp>
      <p:sp>
        <p:nvSpPr>
          <p:cNvPr id="5" name="Rounded Rectangle 4"/>
          <p:cNvSpPr/>
          <p:nvPr/>
        </p:nvSpPr>
        <p:spPr>
          <a:xfrm>
            <a:off x="457200" y="1828800"/>
            <a:ext cx="2011680" cy="2194560"/>
          </a:xfrm>
          <a:prstGeom prst="roundRect">
            <a:avLst/>
          </a:prstGeom>
          <a:solidFill>
            <a:srgbClr val="1A6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057400"/>
            <a:ext cx="2011680" cy="1005840"/>
          </a:xfrm>
          <a:prstGeom prst="rect">
            <a:avLst/>
          </a:prstGeom>
          <a:noFill/>
        </p:spPr>
        <p:txBody>
          <a:bodyPr wrap="square">
            <a:spAutoFit/>
          </a:bodyPr>
          <a:lstStyle/>
          <a:p>
            <a:pPr algn="ctr"/>
            <a:r>
              <a:rPr sz="3200" b="1">
                <a:solidFill>
                  <a:srgbClr val="FFFFFF"/>
                </a:solidFill>
                <a:latin typeface="Calibri"/>
              </a:rPr>
              <a:t>351</a:t>
            </a:r>
          </a:p>
        </p:txBody>
      </p:sp>
      <p:sp>
        <p:nvSpPr>
          <p:cNvPr id="7" name="TextBox 6"/>
          <p:cNvSpPr txBox="1"/>
          <p:nvPr/>
        </p:nvSpPr>
        <p:spPr>
          <a:xfrm>
            <a:off x="457200" y="3200400"/>
            <a:ext cx="2011680" cy="640080"/>
          </a:xfrm>
          <a:prstGeom prst="rect">
            <a:avLst/>
          </a:prstGeom>
          <a:noFill/>
        </p:spPr>
        <p:txBody>
          <a:bodyPr wrap="square">
            <a:spAutoFit/>
          </a:bodyPr>
          <a:lstStyle/>
          <a:p>
            <a:pPr algn="ctr"/>
            <a:r>
              <a:rPr sz="1400" b="0">
                <a:solidFill>
                  <a:srgbClr val="F4EFE4"/>
                </a:solidFill>
                <a:latin typeface="Calibri"/>
              </a:rPr>
              <a:t>Identified</a:t>
            </a:r>
          </a:p>
        </p:txBody>
      </p:sp>
      <p:sp>
        <p:nvSpPr>
          <p:cNvPr id="8" name="Rounded Rectangle 7"/>
          <p:cNvSpPr/>
          <p:nvPr/>
        </p:nvSpPr>
        <p:spPr>
          <a:xfrm>
            <a:off x="2743200" y="1828800"/>
            <a:ext cx="2011680" cy="2194560"/>
          </a:xfrm>
          <a:prstGeom prst="roundRect">
            <a:avLst/>
          </a:prstGeom>
          <a:solidFill>
            <a:srgbClr val="1A6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0" y="2057400"/>
            <a:ext cx="2011680" cy="1005840"/>
          </a:xfrm>
          <a:prstGeom prst="rect">
            <a:avLst/>
          </a:prstGeom>
          <a:noFill/>
        </p:spPr>
        <p:txBody>
          <a:bodyPr wrap="square">
            <a:spAutoFit/>
          </a:bodyPr>
          <a:lstStyle/>
          <a:p>
            <a:pPr algn="ctr"/>
            <a:r>
              <a:rPr sz="3200" b="1">
                <a:solidFill>
                  <a:srgbClr val="FFFFFF"/>
                </a:solidFill>
                <a:latin typeface="Calibri"/>
              </a:rPr>
              <a:t>81</a:t>
            </a:r>
          </a:p>
        </p:txBody>
      </p:sp>
      <p:sp>
        <p:nvSpPr>
          <p:cNvPr id="10" name="TextBox 9"/>
          <p:cNvSpPr txBox="1"/>
          <p:nvPr/>
        </p:nvSpPr>
        <p:spPr>
          <a:xfrm>
            <a:off x="2743200" y="3200400"/>
            <a:ext cx="2011680" cy="640080"/>
          </a:xfrm>
          <a:prstGeom prst="rect">
            <a:avLst/>
          </a:prstGeom>
          <a:noFill/>
        </p:spPr>
        <p:txBody>
          <a:bodyPr wrap="square">
            <a:spAutoFit/>
          </a:bodyPr>
          <a:lstStyle/>
          <a:p>
            <a:pPr algn="ctr"/>
            <a:r>
              <a:rPr sz="1400" b="0">
                <a:solidFill>
                  <a:srgbClr val="F4EFE4"/>
                </a:solidFill>
                <a:latin typeface="Calibri"/>
              </a:rPr>
              <a:t>Duplicates out</a:t>
            </a:r>
          </a:p>
        </p:txBody>
      </p:sp>
      <p:sp>
        <p:nvSpPr>
          <p:cNvPr id="11" name="Rounded Rectangle 10"/>
          <p:cNvSpPr/>
          <p:nvPr/>
        </p:nvSpPr>
        <p:spPr>
          <a:xfrm>
            <a:off x="5029200" y="1828800"/>
            <a:ext cx="2011680" cy="2194560"/>
          </a:xfrm>
          <a:prstGeom prst="roundRect">
            <a:avLst/>
          </a:prstGeom>
          <a:solidFill>
            <a:srgbClr val="1A6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0" y="2057400"/>
            <a:ext cx="2011680" cy="1005840"/>
          </a:xfrm>
          <a:prstGeom prst="rect">
            <a:avLst/>
          </a:prstGeom>
          <a:noFill/>
        </p:spPr>
        <p:txBody>
          <a:bodyPr wrap="square">
            <a:spAutoFit/>
          </a:bodyPr>
          <a:lstStyle/>
          <a:p>
            <a:pPr algn="ctr"/>
            <a:r>
              <a:rPr sz="3200" b="1">
                <a:solidFill>
                  <a:srgbClr val="FFFFFF"/>
                </a:solidFill>
                <a:latin typeface="Calibri"/>
              </a:rPr>
              <a:t>230</a:t>
            </a:r>
          </a:p>
        </p:txBody>
      </p:sp>
      <p:sp>
        <p:nvSpPr>
          <p:cNvPr id="13" name="TextBox 12"/>
          <p:cNvSpPr txBox="1"/>
          <p:nvPr/>
        </p:nvSpPr>
        <p:spPr>
          <a:xfrm>
            <a:off x="5029200" y="3200400"/>
            <a:ext cx="2011680" cy="640080"/>
          </a:xfrm>
          <a:prstGeom prst="rect">
            <a:avLst/>
          </a:prstGeom>
          <a:noFill/>
        </p:spPr>
        <p:txBody>
          <a:bodyPr wrap="square">
            <a:spAutoFit/>
          </a:bodyPr>
          <a:lstStyle/>
          <a:p>
            <a:pPr algn="ctr"/>
            <a:r>
              <a:rPr sz="1400" b="0">
                <a:solidFill>
                  <a:srgbClr val="F4EFE4"/>
                </a:solidFill>
                <a:latin typeface="Calibri"/>
              </a:rPr>
              <a:t>On-topic</a:t>
            </a:r>
          </a:p>
        </p:txBody>
      </p:sp>
      <p:sp>
        <p:nvSpPr>
          <p:cNvPr id="14" name="Rounded Rectangle 13"/>
          <p:cNvSpPr/>
          <p:nvPr/>
        </p:nvSpPr>
        <p:spPr>
          <a:xfrm>
            <a:off x="7315200" y="1828800"/>
            <a:ext cx="2011680" cy="2194560"/>
          </a:xfrm>
          <a:prstGeom prst="roundRect">
            <a:avLst/>
          </a:prstGeom>
          <a:solidFill>
            <a:srgbClr val="1A6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0" y="2057400"/>
            <a:ext cx="2011680" cy="1005840"/>
          </a:xfrm>
          <a:prstGeom prst="rect">
            <a:avLst/>
          </a:prstGeom>
          <a:noFill/>
        </p:spPr>
        <p:txBody>
          <a:bodyPr wrap="square">
            <a:spAutoFit/>
          </a:bodyPr>
          <a:lstStyle/>
          <a:p>
            <a:pPr algn="ctr"/>
            <a:r>
              <a:rPr sz="3200" b="1">
                <a:solidFill>
                  <a:srgbClr val="FFFFFF"/>
                </a:solidFill>
                <a:latin typeface="Calibri"/>
              </a:rPr>
              <a:t>16</a:t>
            </a:r>
          </a:p>
        </p:txBody>
      </p:sp>
      <p:sp>
        <p:nvSpPr>
          <p:cNvPr id="16" name="TextBox 15"/>
          <p:cNvSpPr txBox="1"/>
          <p:nvPr/>
        </p:nvSpPr>
        <p:spPr>
          <a:xfrm>
            <a:off x="7315200" y="3200400"/>
            <a:ext cx="2011680" cy="640080"/>
          </a:xfrm>
          <a:prstGeom prst="rect">
            <a:avLst/>
          </a:prstGeom>
          <a:noFill/>
        </p:spPr>
        <p:txBody>
          <a:bodyPr wrap="square">
            <a:spAutoFit/>
          </a:bodyPr>
          <a:lstStyle/>
          <a:p>
            <a:pPr algn="ctr"/>
            <a:r>
              <a:rPr sz="1400" b="0">
                <a:solidFill>
                  <a:srgbClr val="F4EFE4"/>
                </a:solidFill>
                <a:latin typeface="Calibri"/>
              </a:rPr>
              <a:t>Unvalidated out</a:t>
            </a:r>
          </a:p>
        </p:txBody>
      </p:sp>
      <p:sp>
        <p:nvSpPr>
          <p:cNvPr id="17" name="Rounded Rectangle 16"/>
          <p:cNvSpPr/>
          <p:nvPr/>
        </p:nvSpPr>
        <p:spPr>
          <a:xfrm>
            <a:off x="9601200" y="1828800"/>
            <a:ext cx="2011680" cy="2194560"/>
          </a:xfrm>
          <a:prstGeom prst="roundRect">
            <a:avLst/>
          </a:prstGeom>
          <a:solidFill>
            <a:srgbClr val="0B3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0" y="2057400"/>
            <a:ext cx="2011680" cy="1005840"/>
          </a:xfrm>
          <a:prstGeom prst="rect">
            <a:avLst/>
          </a:prstGeom>
          <a:noFill/>
        </p:spPr>
        <p:txBody>
          <a:bodyPr wrap="square">
            <a:spAutoFit/>
          </a:bodyPr>
          <a:lstStyle/>
          <a:p>
            <a:pPr algn="ctr"/>
            <a:r>
              <a:rPr sz="3200" b="1">
                <a:solidFill>
                  <a:srgbClr val="FFFFFF"/>
                </a:solidFill>
                <a:latin typeface="Calibri"/>
              </a:rPr>
              <a:t>205</a:t>
            </a:r>
          </a:p>
        </p:txBody>
      </p:sp>
      <p:sp>
        <p:nvSpPr>
          <p:cNvPr id="19" name="TextBox 18"/>
          <p:cNvSpPr txBox="1"/>
          <p:nvPr/>
        </p:nvSpPr>
        <p:spPr>
          <a:xfrm>
            <a:off x="9601200" y="3200400"/>
            <a:ext cx="2011680" cy="640080"/>
          </a:xfrm>
          <a:prstGeom prst="rect">
            <a:avLst/>
          </a:prstGeom>
          <a:noFill/>
        </p:spPr>
        <p:txBody>
          <a:bodyPr wrap="square">
            <a:spAutoFit/>
          </a:bodyPr>
          <a:lstStyle/>
          <a:p>
            <a:pPr algn="ctr"/>
            <a:r>
              <a:rPr sz="1400" b="0">
                <a:solidFill>
                  <a:srgbClr val="F4EFE4"/>
                </a:solidFill>
                <a:latin typeface="Calibri"/>
              </a:rPr>
              <a:t>Included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972800" cy="320040"/>
          </a:xfrm>
          <a:prstGeom prst="rect">
            <a:avLst/>
          </a:prstGeom>
          <a:noFill/>
        </p:spPr>
        <p:txBody>
          <a:bodyPr wrap="square">
            <a:spAutoFit/>
          </a:bodyPr>
          <a:lstStyle/>
          <a:p>
            <a:pPr algn="l"/>
            <a:r>
              <a:rPr sz="1200" b="1">
                <a:solidFill>
                  <a:srgbClr val="B85C38"/>
                </a:solidFill>
                <a:latin typeface="Calibri"/>
              </a:rPr>
              <a:t>03  QUANTITATIVE FREQUENCY ANALYSIS</a:t>
            </a:r>
          </a:p>
        </p:txBody>
      </p:sp>
      <p:sp>
        <p:nvSpPr>
          <p:cNvPr id="4" name="TextBox 3"/>
          <p:cNvSpPr txBox="1"/>
          <p:nvPr/>
        </p:nvSpPr>
        <p:spPr>
          <a:xfrm>
            <a:off x="457200" y="640080"/>
            <a:ext cx="10972800" cy="457200"/>
          </a:xfrm>
          <a:prstGeom prst="rect">
            <a:avLst/>
          </a:prstGeom>
          <a:noFill/>
        </p:spPr>
        <p:txBody>
          <a:bodyPr wrap="square">
            <a:spAutoFit/>
          </a:bodyPr>
          <a:lstStyle/>
          <a:p>
            <a:pPr algn="l"/>
            <a:r>
              <a:rPr sz="2200" b="1">
                <a:solidFill>
                  <a:srgbClr val="102A32"/>
                </a:solidFill>
                <a:latin typeface="Calibri"/>
              </a:rPr>
              <a:t>Unique papers supporting each coded claim  (n = 205)</a:t>
            </a:r>
          </a:p>
        </p:txBody>
      </p:sp>
      <p:sp>
        <p:nvSpPr>
          <p:cNvPr id="5" name="TextBox 4"/>
          <p:cNvSpPr txBox="1"/>
          <p:nvPr/>
        </p:nvSpPr>
        <p:spPr>
          <a:xfrm>
            <a:off x="457200" y="1280160"/>
            <a:ext cx="5120640" cy="411480"/>
          </a:xfrm>
          <a:prstGeom prst="rect">
            <a:avLst/>
          </a:prstGeom>
          <a:noFill/>
        </p:spPr>
        <p:txBody>
          <a:bodyPr wrap="square">
            <a:spAutoFit/>
          </a:bodyPr>
          <a:lstStyle/>
          <a:p>
            <a:pPr algn="l"/>
            <a:r>
              <a:rPr sz="1300" b="0">
                <a:solidFill>
                  <a:srgbClr val="102A32"/>
                </a:solidFill>
                <a:latin typeface="Calibri"/>
              </a:rPr>
              <a:t>Epidemiology and disease burden</a:t>
            </a:r>
          </a:p>
        </p:txBody>
      </p:sp>
      <p:sp>
        <p:nvSpPr>
          <p:cNvPr id="6" name="Rectangle 5"/>
          <p:cNvSpPr/>
          <p:nvPr/>
        </p:nvSpPr>
        <p:spPr>
          <a:xfrm>
            <a:off x="5669280" y="1353312"/>
            <a:ext cx="5029200" cy="256032"/>
          </a:xfrm>
          <a:prstGeom prst="rect">
            <a:avLst/>
          </a:prstGeom>
          <a:solidFill>
            <a:srgbClr val="DCE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353312"/>
            <a:ext cx="1227124" cy="25603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0" y="1280160"/>
            <a:ext cx="1097280" cy="365760"/>
          </a:xfrm>
          <a:prstGeom prst="rect">
            <a:avLst/>
          </a:prstGeom>
          <a:noFill/>
        </p:spPr>
        <p:txBody>
          <a:bodyPr wrap="square">
            <a:spAutoFit/>
          </a:bodyPr>
          <a:lstStyle/>
          <a:p>
            <a:pPr algn="l"/>
            <a:r>
              <a:rPr sz="1200" b="1">
                <a:solidFill>
                  <a:srgbClr val="0B3D4A"/>
                </a:solidFill>
                <a:latin typeface="Calibri"/>
              </a:rPr>
              <a:t>24.4%</a:t>
            </a:r>
          </a:p>
        </p:txBody>
      </p:sp>
      <p:sp>
        <p:nvSpPr>
          <p:cNvPr id="9" name="TextBox 8"/>
          <p:cNvSpPr txBox="1"/>
          <p:nvPr/>
        </p:nvSpPr>
        <p:spPr>
          <a:xfrm>
            <a:off x="457200" y="1901952"/>
            <a:ext cx="5120640" cy="411480"/>
          </a:xfrm>
          <a:prstGeom prst="rect">
            <a:avLst/>
          </a:prstGeom>
          <a:noFill/>
        </p:spPr>
        <p:txBody>
          <a:bodyPr wrap="square">
            <a:spAutoFit/>
          </a:bodyPr>
          <a:lstStyle/>
          <a:p>
            <a:pPr algn="l"/>
            <a:r>
              <a:rPr sz="1300" b="0">
                <a:solidFill>
                  <a:srgbClr val="102A32"/>
                </a:solidFill>
                <a:latin typeface="Calibri"/>
              </a:rPr>
              <a:t>Symptoms / quality of life</a:t>
            </a:r>
          </a:p>
        </p:txBody>
      </p:sp>
      <p:sp>
        <p:nvSpPr>
          <p:cNvPr id="10" name="Rectangle 9"/>
          <p:cNvSpPr/>
          <p:nvPr/>
        </p:nvSpPr>
        <p:spPr>
          <a:xfrm>
            <a:off x="5669280" y="1975104"/>
            <a:ext cx="5029200" cy="256032"/>
          </a:xfrm>
          <a:prstGeom prst="rect">
            <a:avLst/>
          </a:prstGeom>
          <a:solidFill>
            <a:srgbClr val="DCE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0" y="1975104"/>
            <a:ext cx="1151686" cy="25603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89920" y="1901952"/>
            <a:ext cx="1097280" cy="365760"/>
          </a:xfrm>
          <a:prstGeom prst="rect">
            <a:avLst/>
          </a:prstGeom>
          <a:noFill/>
        </p:spPr>
        <p:txBody>
          <a:bodyPr wrap="square">
            <a:spAutoFit/>
          </a:bodyPr>
          <a:lstStyle/>
          <a:p>
            <a:pPr algn="l"/>
            <a:r>
              <a:rPr sz="1200" b="1">
                <a:solidFill>
                  <a:srgbClr val="0B3D4A"/>
                </a:solidFill>
                <a:latin typeface="Calibri"/>
              </a:rPr>
              <a:t>22.9%</a:t>
            </a:r>
          </a:p>
        </p:txBody>
      </p:sp>
      <p:sp>
        <p:nvSpPr>
          <p:cNvPr id="13" name="TextBox 12"/>
          <p:cNvSpPr txBox="1"/>
          <p:nvPr/>
        </p:nvSpPr>
        <p:spPr>
          <a:xfrm>
            <a:off x="457200" y="2523744"/>
            <a:ext cx="5120640" cy="411480"/>
          </a:xfrm>
          <a:prstGeom prst="rect">
            <a:avLst/>
          </a:prstGeom>
          <a:noFill/>
        </p:spPr>
        <p:txBody>
          <a:bodyPr wrap="square">
            <a:spAutoFit/>
          </a:bodyPr>
          <a:lstStyle/>
          <a:p>
            <a:pPr algn="l"/>
            <a:r>
              <a:rPr sz="1300" b="0">
                <a:solidFill>
                  <a:srgbClr val="102A32"/>
                </a:solidFill>
                <a:latin typeface="Calibri"/>
              </a:rPr>
              <a:t>Mortality or HF hospitalisation benefit</a:t>
            </a:r>
          </a:p>
        </p:txBody>
      </p:sp>
      <p:sp>
        <p:nvSpPr>
          <p:cNvPr id="14" name="Rectangle 13"/>
          <p:cNvSpPr/>
          <p:nvPr/>
        </p:nvSpPr>
        <p:spPr>
          <a:xfrm>
            <a:off x="5669280" y="2596896"/>
            <a:ext cx="5029200" cy="256032"/>
          </a:xfrm>
          <a:prstGeom prst="rect">
            <a:avLst/>
          </a:prstGeom>
          <a:solidFill>
            <a:srgbClr val="DCE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0" y="2596896"/>
            <a:ext cx="512978" cy="25603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789920" y="2523744"/>
            <a:ext cx="1097280" cy="365760"/>
          </a:xfrm>
          <a:prstGeom prst="rect">
            <a:avLst/>
          </a:prstGeom>
          <a:noFill/>
        </p:spPr>
        <p:txBody>
          <a:bodyPr wrap="square">
            <a:spAutoFit/>
          </a:bodyPr>
          <a:lstStyle/>
          <a:p>
            <a:pPr algn="l"/>
            <a:r>
              <a:rPr sz="1200" b="1">
                <a:solidFill>
                  <a:srgbClr val="0B3D4A"/>
                </a:solidFill>
                <a:latin typeface="Calibri"/>
              </a:rPr>
              <a:t>10.2%</a:t>
            </a:r>
          </a:p>
        </p:txBody>
      </p:sp>
      <p:sp>
        <p:nvSpPr>
          <p:cNvPr id="17" name="TextBox 16"/>
          <p:cNvSpPr txBox="1"/>
          <p:nvPr/>
        </p:nvSpPr>
        <p:spPr>
          <a:xfrm>
            <a:off x="457200" y="3145536"/>
            <a:ext cx="5120640" cy="411480"/>
          </a:xfrm>
          <a:prstGeom prst="rect">
            <a:avLst/>
          </a:prstGeom>
          <a:noFill/>
        </p:spPr>
        <p:txBody>
          <a:bodyPr wrap="square">
            <a:spAutoFit/>
          </a:bodyPr>
          <a:lstStyle/>
          <a:p>
            <a:pPr algn="l"/>
            <a:r>
              <a:rPr sz="1300" b="0">
                <a:solidFill>
                  <a:srgbClr val="102A32"/>
                </a:solidFill>
                <a:latin typeface="Calibri"/>
              </a:rPr>
              <a:t>Safety: hypotension, renal, electrolytes</a:t>
            </a:r>
          </a:p>
        </p:txBody>
      </p:sp>
      <p:sp>
        <p:nvSpPr>
          <p:cNvPr id="18" name="Rectangle 17"/>
          <p:cNvSpPr/>
          <p:nvPr/>
        </p:nvSpPr>
        <p:spPr>
          <a:xfrm>
            <a:off x="5669280" y="3218688"/>
            <a:ext cx="5029200" cy="256032"/>
          </a:xfrm>
          <a:prstGeom prst="rect">
            <a:avLst/>
          </a:prstGeom>
          <a:solidFill>
            <a:srgbClr val="DCE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69280" y="3218688"/>
            <a:ext cx="316839" cy="25603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789920" y="3145536"/>
            <a:ext cx="1097280" cy="365760"/>
          </a:xfrm>
          <a:prstGeom prst="rect">
            <a:avLst/>
          </a:prstGeom>
          <a:noFill/>
        </p:spPr>
        <p:txBody>
          <a:bodyPr wrap="square">
            <a:spAutoFit/>
          </a:bodyPr>
          <a:lstStyle/>
          <a:p>
            <a:pPr algn="l"/>
            <a:r>
              <a:rPr sz="1200" b="1">
                <a:solidFill>
                  <a:srgbClr val="0B3D4A"/>
                </a:solidFill>
                <a:latin typeface="Calibri"/>
              </a:rPr>
              <a:t>6.3%</a:t>
            </a:r>
          </a:p>
        </p:txBody>
      </p:sp>
      <p:sp>
        <p:nvSpPr>
          <p:cNvPr id="21" name="TextBox 20"/>
          <p:cNvSpPr txBox="1"/>
          <p:nvPr/>
        </p:nvSpPr>
        <p:spPr>
          <a:xfrm>
            <a:off x="457200" y="3767328"/>
            <a:ext cx="5120640" cy="411480"/>
          </a:xfrm>
          <a:prstGeom prst="rect">
            <a:avLst/>
          </a:prstGeom>
          <a:noFill/>
        </p:spPr>
        <p:txBody>
          <a:bodyPr wrap="square">
            <a:spAutoFit/>
          </a:bodyPr>
          <a:lstStyle/>
          <a:p>
            <a:pPr algn="l"/>
            <a:r>
              <a:rPr sz="1300" b="0">
                <a:solidFill>
                  <a:srgbClr val="102A32"/>
                </a:solidFill>
                <a:latin typeface="Calibri"/>
              </a:rPr>
              <a:t>Cost and access barriers</a:t>
            </a:r>
          </a:p>
        </p:txBody>
      </p:sp>
      <p:sp>
        <p:nvSpPr>
          <p:cNvPr id="22" name="Rectangle 21"/>
          <p:cNvSpPr/>
          <p:nvPr/>
        </p:nvSpPr>
        <p:spPr>
          <a:xfrm>
            <a:off x="5669280" y="3840480"/>
            <a:ext cx="5029200" cy="256032"/>
          </a:xfrm>
          <a:prstGeom prst="rect">
            <a:avLst/>
          </a:prstGeom>
          <a:solidFill>
            <a:srgbClr val="DCE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0" y="3840480"/>
            <a:ext cx="296722" cy="25603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789920" y="3767328"/>
            <a:ext cx="1097280" cy="365760"/>
          </a:xfrm>
          <a:prstGeom prst="rect">
            <a:avLst/>
          </a:prstGeom>
          <a:noFill/>
        </p:spPr>
        <p:txBody>
          <a:bodyPr wrap="square">
            <a:spAutoFit/>
          </a:bodyPr>
          <a:lstStyle/>
          <a:p>
            <a:pPr algn="l"/>
            <a:r>
              <a:rPr sz="1200" b="1">
                <a:solidFill>
                  <a:srgbClr val="0B3D4A"/>
                </a:solidFill>
                <a:latin typeface="Calibri"/>
              </a:rPr>
              <a:t>5.9%</a:t>
            </a:r>
          </a:p>
        </p:txBody>
      </p:sp>
      <p:sp>
        <p:nvSpPr>
          <p:cNvPr id="25" name="TextBox 24"/>
          <p:cNvSpPr txBox="1"/>
          <p:nvPr/>
        </p:nvSpPr>
        <p:spPr>
          <a:xfrm>
            <a:off x="457200" y="4389120"/>
            <a:ext cx="5120640" cy="411480"/>
          </a:xfrm>
          <a:prstGeom prst="rect">
            <a:avLst/>
          </a:prstGeom>
          <a:noFill/>
        </p:spPr>
        <p:txBody>
          <a:bodyPr wrap="square">
            <a:spAutoFit/>
          </a:bodyPr>
          <a:lstStyle/>
          <a:p>
            <a:pPr algn="l"/>
            <a:r>
              <a:rPr sz="1300" b="0">
                <a:solidFill>
                  <a:srgbClr val="102A32"/>
                </a:solidFill>
                <a:latin typeface="Calibri"/>
              </a:rPr>
              <a:t>Lived experience and care relationships</a:t>
            </a:r>
          </a:p>
        </p:txBody>
      </p:sp>
      <p:sp>
        <p:nvSpPr>
          <p:cNvPr id="26" name="Rectangle 25"/>
          <p:cNvSpPr/>
          <p:nvPr/>
        </p:nvSpPr>
        <p:spPr>
          <a:xfrm>
            <a:off x="5669280" y="4462272"/>
            <a:ext cx="5029200" cy="256032"/>
          </a:xfrm>
          <a:prstGeom prst="rect">
            <a:avLst/>
          </a:prstGeom>
          <a:solidFill>
            <a:srgbClr val="DCE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0" y="4462272"/>
            <a:ext cx="296722" cy="25603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789920" y="4389120"/>
            <a:ext cx="1097280" cy="365760"/>
          </a:xfrm>
          <a:prstGeom prst="rect">
            <a:avLst/>
          </a:prstGeom>
          <a:noFill/>
        </p:spPr>
        <p:txBody>
          <a:bodyPr wrap="square">
            <a:spAutoFit/>
          </a:bodyPr>
          <a:lstStyle/>
          <a:p>
            <a:pPr algn="l"/>
            <a:r>
              <a:rPr sz="1200" b="1">
                <a:solidFill>
                  <a:srgbClr val="0B3D4A"/>
                </a:solidFill>
                <a:latin typeface="Calibri"/>
              </a:rPr>
              <a:t>5.9%</a:t>
            </a:r>
          </a:p>
        </p:txBody>
      </p:sp>
      <p:sp>
        <p:nvSpPr>
          <p:cNvPr id="29" name="TextBox 28"/>
          <p:cNvSpPr txBox="1"/>
          <p:nvPr/>
        </p:nvSpPr>
        <p:spPr>
          <a:xfrm>
            <a:off x="457200" y="5010912"/>
            <a:ext cx="5120640" cy="411480"/>
          </a:xfrm>
          <a:prstGeom prst="rect">
            <a:avLst/>
          </a:prstGeom>
          <a:noFill/>
        </p:spPr>
        <p:txBody>
          <a:bodyPr wrap="square">
            <a:spAutoFit/>
          </a:bodyPr>
          <a:lstStyle/>
          <a:p>
            <a:pPr algn="l"/>
            <a:r>
              <a:rPr sz="1300" b="0">
                <a:solidFill>
                  <a:srgbClr val="102A32"/>
                </a:solidFill>
                <a:latin typeface="Calibri"/>
              </a:rPr>
              <a:t>LMIC / national context</a:t>
            </a:r>
          </a:p>
        </p:txBody>
      </p:sp>
      <p:sp>
        <p:nvSpPr>
          <p:cNvPr id="30" name="Rectangle 29"/>
          <p:cNvSpPr/>
          <p:nvPr/>
        </p:nvSpPr>
        <p:spPr>
          <a:xfrm>
            <a:off x="5669280" y="5084064"/>
            <a:ext cx="5029200" cy="256032"/>
          </a:xfrm>
          <a:prstGeom prst="rect">
            <a:avLst/>
          </a:prstGeom>
          <a:solidFill>
            <a:srgbClr val="DCE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0" y="5084064"/>
            <a:ext cx="296722" cy="25603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789920" y="5010912"/>
            <a:ext cx="1097280" cy="365760"/>
          </a:xfrm>
          <a:prstGeom prst="rect">
            <a:avLst/>
          </a:prstGeom>
          <a:noFill/>
        </p:spPr>
        <p:txBody>
          <a:bodyPr wrap="square">
            <a:spAutoFit/>
          </a:bodyPr>
          <a:lstStyle/>
          <a:p>
            <a:pPr algn="l"/>
            <a:r>
              <a:rPr sz="1200" b="1">
                <a:solidFill>
                  <a:srgbClr val="0B3D4A"/>
                </a:solidFill>
                <a:latin typeface="Calibri"/>
              </a:rPr>
              <a:t>5.9%</a:t>
            </a:r>
          </a:p>
        </p:txBody>
      </p:sp>
      <p:sp>
        <p:nvSpPr>
          <p:cNvPr id="33" name="TextBox 32"/>
          <p:cNvSpPr txBox="1"/>
          <p:nvPr/>
        </p:nvSpPr>
        <p:spPr>
          <a:xfrm>
            <a:off x="457200" y="5632704"/>
            <a:ext cx="5120640" cy="411480"/>
          </a:xfrm>
          <a:prstGeom prst="rect">
            <a:avLst/>
          </a:prstGeom>
          <a:noFill/>
        </p:spPr>
        <p:txBody>
          <a:bodyPr wrap="square">
            <a:spAutoFit/>
          </a:bodyPr>
          <a:lstStyle/>
          <a:p>
            <a:pPr algn="l"/>
            <a:r>
              <a:rPr sz="1300" b="0">
                <a:solidFill>
                  <a:srgbClr val="102A32"/>
                </a:solidFill>
                <a:latin typeface="Calibri"/>
              </a:rPr>
              <a:t>Guideline-directed foundational therapy</a:t>
            </a:r>
          </a:p>
        </p:txBody>
      </p:sp>
      <p:sp>
        <p:nvSpPr>
          <p:cNvPr id="34" name="Rectangle 33"/>
          <p:cNvSpPr/>
          <p:nvPr/>
        </p:nvSpPr>
        <p:spPr>
          <a:xfrm>
            <a:off x="5669280" y="5705856"/>
            <a:ext cx="5029200" cy="256032"/>
          </a:xfrm>
          <a:prstGeom prst="rect">
            <a:avLst/>
          </a:prstGeom>
          <a:solidFill>
            <a:srgbClr val="DCE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669280" y="5705856"/>
            <a:ext cx="145846" cy="25603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789920" y="5632704"/>
            <a:ext cx="1097280" cy="365760"/>
          </a:xfrm>
          <a:prstGeom prst="rect">
            <a:avLst/>
          </a:prstGeom>
          <a:noFill/>
        </p:spPr>
        <p:txBody>
          <a:bodyPr wrap="square">
            <a:spAutoFit/>
          </a:bodyPr>
          <a:lstStyle/>
          <a:p>
            <a:pPr algn="l"/>
            <a:r>
              <a:rPr sz="1200" b="1">
                <a:solidFill>
                  <a:srgbClr val="0B3D4A"/>
                </a:solidFill>
                <a:latin typeface="Calibri"/>
              </a:rPr>
              <a:t>2.9%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972800" cy="320040"/>
          </a:xfrm>
          <a:prstGeom prst="rect">
            <a:avLst/>
          </a:prstGeom>
          <a:noFill/>
        </p:spPr>
        <p:txBody>
          <a:bodyPr wrap="square">
            <a:spAutoFit/>
          </a:bodyPr>
          <a:lstStyle/>
          <a:p>
            <a:pPr algn="l"/>
            <a:r>
              <a:rPr sz="1200" b="1">
                <a:solidFill>
                  <a:srgbClr val="B85C38"/>
                </a:solidFill>
                <a:latin typeface="Calibri"/>
              </a:rPr>
              <a:t>04  FOREST PLOT — PARSED 95% CIS ONLY</a:t>
            </a:r>
          </a:p>
        </p:txBody>
      </p:sp>
      <p:sp>
        <p:nvSpPr>
          <p:cNvPr id="4" name="TextBox 3"/>
          <p:cNvSpPr txBox="1"/>
          <p:nvPr/>
        </p:nvSpPr>
        <p:spPr>
          <a:xfrm>
            <a:off x="457200" y="594360"/>
            <a:ext cx="10972800" cy="365760"/>
          </a:xfrm>
          <a:prstGeom prst="rect">
            <a:avLst/>
          </a:prstGeom>
          <a:noFill/>
        </p:spPr>
        <p:txBody>
          <a:bodyPr wrap="square">
            <a:spAutoFit/>
          </a:bodyPr>
          <a:lstStyle/>
          <a:p>
            <a:pPr algn="l"/>
            <a:r>
              <a:rPr sz="1400" b="0">
                <a:solidFill>
                  <a:srgbClr val="102A32"/>
                </a:solidFill>
                <a:latin typeface="Calibri"/>
              </a:rPr>
              <a:t>One primary hazard/rate ratio per named outcome trial. Missing numbers are never invented.</a:t>
            </a:r>
          </a:p>
        </p:txBody>
      </p:sp>
      <p:sp>
        <p:nvSpPr>
          <p:cNvPr id="5" name="Rectangle 4"/>
          <p:cNvSpPr/>
          <p:nvPr/>
        </p:nvSpPr>
        <p:spPr>
          <a:xfrm>
            <a:off x="9814560" y="1143000"/>
            <a:ext cx="27432" cy="5120640"/>
          </a:xfrm>
          <a:prstGeom prst="rect">
            <a:avLst/>
          </a:prstGeom>
          <a:solidFill>
            <a:srgbClr val="B85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40240" y="6263640"/>
            <a:ext cx="914400" cy="274320"/>
          </a:xfrm>
          <a:prstGeom prst="rect">
            <a:avLst/>
          </a:prstGeom>
          <a:noFill/>
        </p:spPr>
        <p:txBody>
          <a:bodyPr wrap="square">
            <a:spAutoFit/>
          </a:bodyPr>
          <a:lstStyle/>
          <a:p>
            <a:pPr algn="ctr"/>
            <a:r>
              <a:rPr sz="1100" b="0">
                <a:solidFill>
                  <a:srgbClr val="B85C38"/>
                </a:solidFill>
                <a:latin typeface="Calibri"/>
              </a:rPr>
              <a:t>1.0</a:t>
            </a:r>
          </a:p>
        </p:txBody>
      </p:sp>
      <p:sp>
        <p:nvSpPr>
          <p:cNvPr id="7" name="TextBox 6"/>
          <p:cNvSpPr txBox="1"/>
          <p:nvPr/>
        </p:nvSpPr>
        <p:spPr>
          <a:xfrm>
            <a:off x="320040" y="1143000"/>
            <a:ext cx="3566160" cy="365760"/>
          </a:xfrm>
          <a:prstGeom prst="rect">
            <a:avLst/>
          </a:prstGeom>
          <a:noFill/>
        </p:spPr>
        <p:txBody>
          <a:bodyPr wrap="square">
            <a:spAutoFit/>
          </a:bodyPr>
          <a:lstStyle/>
          <a:p>
            <a:pPr algn="l"/>
            <a:r>
              <a:rPr sz="1200" b="0">
                <a:solidFill>
                  <a:srgbClr val="102A32"/>
                </a:solidFill>
                <a:latin typeface="Calibri"/>
              </a:rPr>
              <a:t>COAPT (2018)  [145]</a:t>
            </a:r>
          </a:p>
        </p:txBody>
      </p:sp>
      <p:sp>
        <p:nvSpPr>
          <p:cNvPr id="8" name="Rectangle 7"/>
          <p:cNvSpPr/>
          <p:nvPr/>
        </p:nvSpPr>
        <p:spPr>
          <a:xfrm>
            <a:off x="4023360" y="1280160"/>
            <a:ext cx="2316479" cy="109728"/>
          </a:xfrm>
          <a:prstGeom prst="rect">
            <a:avLst/>
          </a:prstGeom>
          <a:solidFill>
            <a:srgbClr val="0B3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297680" y="1225296"/>
            <a:ext cx="201168" cy="201168"/>
          </a:xfrm>
          <a:prstGeom prst="ellipse">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64240" y="1170432"/>
            <a:ext cx="1005840" cy="320040"/>
          </a:xfrm>
          <a:prstGeom prst="rect">
            <a:avLst/>
          </a:prstGeom>
          <a:noFill/>
        </p:spPr>
        <p:txBody>
          <a:bodyPr wrap="square">
            <a:spAutoFit/>
          </a:bodyPr>
          <a:lstStyle/>
          <a:p>
            <a:pPr algn="l"/>
            <a:r>
              <a:rPr sz="1100" b="0">
                <a:solidFill>
                  <a:srgbClr val="0B3D4A"/>
                </a:solidFill>
                <a:latin typeface="Calibri"/>
              </a:rPr>
              <a:t>0.53</a:t>
            </a:r>
          </a:p>
        </p:txBody>
      </p:sp>
      <p:sp>
        <p:nvSpPr>
          <p:cNvPr id="11" name="TextBox 10"/>
          <p:cNvSpPr txBox="1"/>
          <p:nvPr/>
        </p:nvSpPr>
        <p:spPr>
          <a:xfrm>
            <a:off x="320040" y="1563624"/>
            <a:ext cx="3566160" cy="365760"/>
          </a:xfrm>
          <a:prstGeom prst="rect">
            <a:avLst/>
          </a:prstGeom>
          <a:noFill/>
        </p:spPr>
        <p:txBody>
          <a:bodyPr wrap="square">
            <a:spAutoFit/>
          </a:bodyPr>
          <a:lstStyle/>
          <a:p>
            <a:pPr algn="l"/>
            <a:r>
              <a:rPr sz="1200" b="0">
                <a:solidFill>
                  <a:srgbClr val="102A32"/>
                </a:solidFill>
                <a:latin typeface="Calibri"/>
              </a:rPr>
              <a:t>SUMMIT (2025)  [5]</a:t>
            </a:r>
          </a:p>
        </p:txBody>
      </p:sp>
      <p:sp>
        <p:nvSpPr>
          <p:cNvPr id="12" name="Rectangle 11"/>
          <p:cNvSpPr/>
          <p:nvPr/>
        </p:nvSpPr>
        <p:spPr>
          <a:xfrm>
            <a:off x="4023360" y="1700784"/>
            <a:ext cx="5212079" cy="109728"/>
          </a:xfrm>
          <a:prstGeom prst="rect">
            <a:avLst/>
          </a:prstGeom>
          <a:solidFill>
            <a:srgbClr val="0B3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340096" y="1645920"/>
            <a:ext cx="201168" cy="201168"/>
          </a:xfrm>
          <a:prstGeom prst="ellipse">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064240" y="1591056"/>
            <a:ext cx="1005840" cy="320040"/>
          </a:xfrm>
          <a:prstGeom prst="rect">
            <a:avLst/>
          </a:prstGeom>
          <a:noFill/>
        </p:spPr>
        <p:txBody>
          <a:bodyPr wrap="square">
            <a:spAutoFit/>
          </a:bodyPr>
          <a:lstStyle/>
          <a:p>
            <a:pPr algn="l"/>
            <a:r>
              <a:rPr sz="1100" b="0">
                <a:solidFill>
                  <a:srgbClr val="0B3D4A"/>
                </a:solidFill>
                <a:latin typeface="Calibri"/>
              </a:rPr>
              <a:t>0.62</a:t>
            </a:r>
          </a:p>
        </p:txBody>
      </p:sp>
      <p:sp>
        <p:nvSpPr>
          <p:cNvPr id="15" name="TextBox 14"/>
          <p:cNvSpPr txBox="1"/>
          <p:nvPr/>
        </p:nvSpPr>
        <p:spPr>
          <a:xfrm>
            <a:off x="320040" y="1984248"/>
            <a:ext cx="3566160" cy="365760"/>
          </a:xfrm>
          <a:prstGeom prst="rect">
            <a:avLst/>
          </a:prstGeom>
          <a:noFill/>
        </p:spPr>
        <p:txBody>
          <a:bodyPr wrap="square">
            <a:spAutoFit/>
          </a:bodyPr>
          <a:lstStyle/>
          <a:p>
            <a:pPr algn="l"/>
            <a:r>
              <a:rPr sz="1200" b="0">
                <a:solidFill>
                  <a:srgbClr val="102A32"/>
                </a:solidFill>
                <a:latin typeface="Calibri"/>
              </a:rPr>
              <a:t>EMPHASIS-HF (2011)  [195]</a:t>
            </a:r>
          </a:p>
        </p:txBody>
      </p:sp>
      <p:sp>
        <p:nvSpPr>
          <p:cNvPr id="16" name="Rectangle 15"/>
          <p:cNvSpPr/>
          <p:nvPr/>
        </p:nvSpPr>
        <p:spPr>
          <a:xfrm>
            <a:off x="4486656" y="2121408"/>
            <a:ext cx="2316480" cy="109728"/>
          </a:xfrm>
          <a:prstGeom prst="rect">
            <a:avLst/>
          </a:prstGeom>
          <a:solidFill>
            <a:srgbClr val="0B3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455920" y="2066544"/>
            <a:ext cx="201168" cy="201168"/>
          </a:xfrm>
          <a:prstGeom prst="ellipse">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064240" y="2011680"/>
            <a:ext cx="1005840" cy="320040"/>
          </a:xfrm>
          <a:prstGeom prst="rect">
            <a:avLst/>
          </a:prstGeom>
          <a:noFill/>
        </p:spPr>
        <p:txBody>
          <a:bodyPr wrap="square">
            <a:spAutoFit/>
          </a:bodyPr>
          <a:lstStyle/>
          <a:p>
            <a:pPr algn="l"/>
            <a:r>
              <a:rPr sz="1100" b="0">
                <a:solidFill>
                  <a:srgbClr val="0B3D4A"/>
                </a:solidFill>
                <a:latin typeface="Calibri"/>
              </a:rPr>
              <a:t>0.63</a:t>
            </a:r>
          </a:p>
        </p:txBody>
      </p:sp>
      <p:sp>
        <p:nvSpPr>
          <p:cNvPr id="19" name="TextBox 18"/>
          <p:cNvSpPr txBox="1"/>
          <p:nvPr/>
        </p:nvSpPr>
        <p:spPr>
          <a:xfrm>
            <a:off x="320040" y="2404872"/>
            <a:ext cx="3566160" cy="365760"/>
          </a:xfrm>
          <a:prstGeom prst="rect">
            <a:avLst/>
          </a:prstGeom>
          <a:noFill/>
        </p:spPr>
        <p:txBody>
          <a:bodyPr wrap="square">
            <a:spAutoFit/>
          </a:bodyPr>
          <a:lstStyle/>
          <a:p>
            <a:pPr algn="l"/>
            <a:r>
              <a:rPr sz="1200" b="0">
                <a:solidFill>
                  <a:srgbClr val="102A32"/>
                </a:solidFill>
                <a:latin typeface="Calibri"/>
              </a:rPr>
              <a:t>SOLOIST-WHF (2021)  [94]</a:t>
            </a:r>
          </a:p>
        </p:txBody>
      </p:sp>
      <p:sp>
        <p:nvSpPr>
          <p:cNvPr id="20" name="Rectangle 19"/>
          <p:cNvSpPr/>
          <p:nvPr/>
        </p:nvSpPr>
        <p:spPr>
          <a:xfrm>
            <a:off x="4255008" y="2542032"/>
            <a:ext cx="3822192" cy="109728"/>
          </a:xfrm>
          <a:prstGeom prst="rect">
            <a:avLst/>
          </a:prstGeom>
          <a:solidFill>
            <a:srgbClr val="0B3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919216" y="2487168"/>
            <a:ext cx="201168" cy="201168"/>
          </a:xfrm>
          <a:prstGeom prst="ellipse">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064240" y="2432304"/>
            <a:ext cx="1005840" cy="320040"/>
          </a:xfrm>
          <a:prstGeom prst="rect">
            <a:avLst/>
          </a:prstGeom>
          <a:noFill/>
        </p:spPr>
        <p:txBody>
          <a:bodyPr wrap="square">
            <a:spAutoFit/>
          </a:bodyPr>
          <a:lstStyle/>
          <a:p>
            <a:pPr algn="l"/>
            <a:r>
              <a:rPr sz="1100" b="0">
                <a:solidFill>
                  <a:srgbClr val="0B3D4A"/>
                </a:solidFill>
                <a:latin typeface="Calibri"/>
              </a:rPr>
              <a:t>0.67</a:t>
            </a:r>
          </a:p>
        </p:txBody>
      </p:sp>
      <p:sp>
        <p:nvSpPr>
          <p:cNvPr id="23" name="TextBox 22"/>
          <p:cNvSpPr txBox="1"/>
          <p:nvPr/>
        </p:nvSpPr>
        <p:spPr>
          <a:xfrm>
            <a:off x="320040" y="2825496"/>
            <a:ext cx="3566160" cy="365760"/>
          </a:xfrm>
          <a:prstGeom prst="rect">
            <a:avLst/>
          </a:prstGeom>
          <a:noFill/>
        </p:spPr>
        <p:txBody>
          <a:bodyPr wrap="square">
            <a:spAutoFit/>
          </a:bodyPr>
          <a:lstStyle/>
          <a:p>
            <a:pPr algn="l"/>
            <a:r>
              <a:rPr sz="1200" b="0">
                <a:solidFill>
                  <a:srgbClr val="102A32"/>
                </a:solidFill>
                <a:latin typeface="Calibri"/>
              </a:rPr>
              <a:t>DAPA-HF (2019)  [137]</a:t>
            </a:r>
          </a:p>
        </p:txBody>
      </p:sp>
      <p:sp>
        <p:nvSpPr>
          <p:cNvPr id="24" name="Rectangle 23"/>
          <p:cNvSpPr/>
          <p:nvPr/>
        </p:nvSpPr>
        <p:spPr>
          <a:xfrm>
            <a:off x="5760720" y="2962656"/>
            <a:ext cx="2316480" cy="109728"/>
          </a:xfrm>
          <a:prstGeom prst="rect">
            <a:avLst/>
          </a:prstGeom>
          <a:solidFill>
            <a:srgbClr val="0B3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729984" y="2907792"/>
            <a:ext cx="201168" cy="201168"/>
          </a:xfrm>
          <a:prstGeom prst="ellipse">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064240" y="2852928"/>
            <a:ext cx="1005840" cy="320040"/>
          </a:xfrm>
          <a:prstGeom prst="rect">
            <a:avLst/>
          </a:prstGeom>
          <a:noFill/>
        </p:spPr>
        <p:txBody>
          <a:bodyPr wrap="square">
            <a:spAutoFit/>
          </a:bodyPr>
          <a:lstStyle/>
          <a:p>
            <a:pPr algn="l"/>
            <a:r>
              <a:rPr sz="1100" b="0">
                <a:solidFill>
                  <a:srgbClr val="0B3D4A"/>
                </a:solidFill>
                <a:latin typeface="Calibri"/>
              </a:rPr>
              <a:t>0.74</a:t>
            </a:r>
          </a:p>
        </p:txBody>
      </p:sp>
      <p:sp>
        <p:nvSpPr>
          <p:cNvPr id="27" name="TextBox 26"/>
          <p:cNvSpPr txBox="1"/>
          <p:nvPr/>
        </p:nvSpPr>
        <p:spPr>
          <a:xfrm>
            <a:off x="320040" y="3246120"/>
            <a:ext cx="3566160" cy="365760"/>
          </a:xfrm>
          <a:prstGeom prst="rect">
            <a:avLst/>
          </a:prstGeom>
          <a:noFill/>
        </p:spPr>
        <p:txBody>
          <a:bodyPr wrap="square">
            <a:spAutoFit/>
          </a:bodyPr>
          <a:lstStyle/>
          <a:p>
            <a:pPr algn="l"/>
            <a:r>
              <a:rPr sz="1200" b="0">
                <a:solidFill>
                  <a:srgbClr val="102A32"/>
                </a:solidFill>
                <a:latin typeface="Calibri"/>
              </a:rPr>
              <a:t>EMPEROR-Reduced (2020)  [124]</a:t>
            </a:r>
          </a:p>
        </p:txBody>
      </p:sp>
      <p:sp>
        <p:nvSpPr>
          <p:cNvPr id="28" name="Rectangle 27"/>
          <p:cNvSpPr/>
          <p:nvPr/>
        </p:nvSpPr>
        <p:spPr>
          <a:xfrm>
            <a:off x="5760720" y="3383280"/>
            <a:ext cx="2432303" cy="109728"/>
          </a:xfrm>
          <a:prstGeom prst="rect">
            <a:avLst/>
          </a:prstGeom>
          <a:solidFill>
            <a:srgbClr val="0B3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845808" y="3328416"/>
            <a:ext cx="201168" cy="201168"/>
          </a:xfrm>
          <a:prstGeom prst="ellipse">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064240" y="3273552"/>
            <a:ext cx="1005840" cy="320040"/>
          </a:xfrm>
          <a:prstGeom prst="rect">
            <a:avLst/>
          </a:prstGeom>
          <a:noFill/>
        </p:spPr>
        <p:txBody>
          <a:bodyPr wrap="square">
            <a:spAutoFit/>
          </a:bodyPr>
          <a:lstStyle/>
          <a:p>
            <a:pPr algn="l"/>
            <a:r>
              <a:rPr sz="1100" b="0">
                <a:solidFill>
                  <a:srgbClr val="0B3D4A"/>
                </a:solidFill>
                <a:latin typeface="Calibri"/>
              </a:rPr>
              <a:t>0.75</a:t>
            </a:r>
          </a:p>
        </p:txBody>
      </p:sp>
      <p:sp>
        <p:nvSpPr>
          <p:cNvPr id="31" name="TextBox 30"/>
          <p:cNvSpPr txBox="1"/>
          <p:nvPr/>
        </p:nvSpPr>
        <p:spPr>
          <a:xfrm>
            <a:off x="320040" y="3666744"/>
            <a:ext cx="3566160" cy="365760"/>
          </a:xfrm>
          <a:prstGeom prst="rect">
            <a:avLst/>
          </a:prstGeom>
          <a:noFill/>
        </p:spPr>
        <p:txBody>
          <a:bodyPr wrap="square">
            <a:spAutoFit/>
          </a:bodyPr>
          <a:lstStyle/>
          <a:p>
            <a:pPr algn="l"/>
            <a:r>
              <a:rPr sz="1200" b="0">
                <a:solidFill>
                  <a:srgbClr val="102A32"/>
                </a:solidFill>
                <a:latin typeface="Calibri"/>
              </a:rPr>
              <a:t>EMPEROR-Preserved (2021)  [106]</a:t>
            </a:r>
          </a:p>
        </p:txBody>
      </p:sp>
      <p:sp>
        <p:nvSpPr>
          <p:cNvPr id="32" name="Rectangle 31"/>
          <p:cNvSpPr/>
          <p:nvPr/>
        </p:nvSpPr>
        <p:spPr>
          <a:xfrm>
            <a:off x="6224015" y="3803904"/>
            <a:ext cx="2432305" cy="109728"/>
          </a:xfrm>
          <a:prstGeom prst="rect">
            <a:avLst/>
          </a:prstGeom>
          <a:solidFill>
            <a:srgbClr val="0B3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309104" y="3749040"/>
            <a:ext cx="201168" cy="201168"/>
          </a:xfrm>
          <a:prstGeom prst="ellipse">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064240" y="3694176"/>
            <a:ext cx="1005840" cy="320040"/>
          </a:xfrm>
          <a:prstGeom prst="rect">
            <a:avLst/>
          </a:prstGeom>
          <a:noFill/>
        </p:spPr>
        <p:txBody>
          <a:bodyPr wrap="square">
            <a:spAutoFit/>
          </a:bodyPr>
          <a:lstStyle/>
          <a:p>
            <a:pPr algn="l"/>
            <a:r>
              <a:rPr sz="1100" b="0">
                <a:solidFill>
                  <a:srgbClr val="0B3D4A"/>
                </a:solidFill>
                <a:latin typeface="Calibri"/>
              </a:rPr>
              <a:t>0.79</a:t>
            </a:r>
          </a:p>
        </p:txBody>
      </p:sp>
      <p:sp>
        <p:nvSpPr>
          <p:cNvPr id="35" name="TextBox 34"/>
          <p:cNvSpPr txBox="1"/>
          <p:nvPr/>
        </p:nvSpPr>
        <p:spPr>
          <a:xfrm>
            <a:off x="320040" y="4087368"/>
            <a:ext cx="3566160" cy="365760"/>
          </a:xfrm>
          <a:prstGeom prst="rect">
            <a:avLst/>
          </a:prstGeom>
          <a:noFill/>
        </p:spPr>
        <p:txBody>
          <a:bodyPr wrap="square">
            <a:spAutoFit/>
          </a:bodyPr>
          <a:lstStyle/>
          <a:p>
            <a:pPr algn="l"/>
            <a:r>
              <a:rPr sz="1200" b="0">
                <a:solidFill>
                  <a:srgbClr val="102A32"/>
                </a:solidFill>
                <a:latin typeface="Calibri"/>
              </a:rPr>
              <a:t>PARADIGM-HF (2014)  [183]</a:t>
            </a:r>
          </a:p>
        </p:txBody>
      </p:sp>
      <p:sp>
        <p:nvSpPr>
          <p:cNvPr id="36" name="Rectangle 35"/>
          <p:cNvSpPr/>
          <p:nvPr/>
        </p:nvSpPr>
        <p:spPr>
          <a:xfrm>
            <a:off x="6687312" y="4224528"/>
            <a:ext cx="1621535" cy="109728"/>
          </a:xfrm>
          <a:prstGeom prst="rect">
            <a:avLst/>
          </a:prstGeom>
          <a:solidFill>
            <a:srgbClr val="0B3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424928" y="4169664"/>
            <a:ext cx="201168" cy="201168"/>
          </a:xfrm>
          <a:prstGeom prst="ellipse">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1064240" y="4114800"/>
            <a:ext cx="1005840" cy="320040"/>
          </a:xfrm>
          <a:prstGeom prst="rect">
            <a:avLst/>
          </a:prstGeom>
          <a:noFill/>
        </p:spPr>
        <p:txBody>
          <a:bodyPr wrap="square">
            <a:spAutoFit/>
          </a:bodyPr>
          <a:lstStyle/>
          <a:p>
            <a:pPr algn="l"/>
            <a:r>
              <a:rPr sz="1100" b="0">
                <a:solidFill>
                  <a:srgbClr val="0B3D4A"/>
                </a:solidFill>
                <a:latin typeface="Calibri"/>
              </a:rPr>
              <a:t>0.80</a:t>
            </a:r>
          </a:p>
        </p:txBody>
      </p:sp>
      <p:sp>
        <p:nvSpPr>
          <p:cNvPr id="39" name="TextBox 38"/>
          <p:cNvSpPr txBox="1"/>
          <p:nvPr/>
        </p:nvSpPr>
        <p:spPr>
          <a:xfrm>
            <a:off x="320040" y="4507992"/>
            <a:ext cx="3566160" cy="365760"/>
          </a:xfrm>
          <a:prstGeom prst="rect">
            <a:avLst/>
          </a:prstGeom>
          <a:noFill/>
        </p:spPr>
        <p:txBody>
          <a:bodyPr wrap="square">
            <a:spAutoFit/>
          </a:bodyPr>
          <a:lstStyle/>
          <a:p>
            <a:pPr algn="l"/>
            <a:r>
              <a:rPr sz="1200" b="0">
                <a:solidFill>
                  <a:srgbClr val="102A32"/>
                </a:solidFill>
                <a:latin typeface="Calibri"/>
              </a:rPr>
              <a:t>DELIVER (2022)  [87]</a:t>
            </a:r>
          </a:p>
        </p:txBody>
      </p:sp>
      <p:sp>
        <p:nvSpPr>
          <p:cNvPr id="40" name="Rectangle 39"/>
          <p:cNvSpPr/>
          <p:nvPr/>
        </p:nvSpPr>
        <p:spPr>
          <a:xfrm>
            <a:off x="6687312" y="4645152"/>
            <a:ext cx="2200656" cy="109728"/>
          </a:xfrm>
          <a:prstGeom prst="rect">
            <a:avLst/>
          </a:prstGeom>
          <a:solidFill>
            <a:srgbClr val="0B3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7656575" y="4590288"/>
            <a:ext cx="201168" cy="201168"/>
          </a:xfrm>
          <a:prstGeom prst="ellipse">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1064240" y="4535424"/>
            <a:ext cx="1005840" cy="320040"/>
          </a:xfrm>
          <a:prstGeom prst="rect">
            <a:avLst/>
          </a:prstGeom>
          <a:noFill/>
        </p:spPr>
        <p:txBody>
          <a:bodyPr wrap="square">
            <a:spAutoFit/>
          </a:bodyPr>
          <a:lstStyle/>
          <a:p>
            <a:pPr algn="l"/>
            <a:r>
              <a:rPr sz="1100" b="0">
                <a:solidFill>
                  <a:srgbClr val="0B3D4A"/>
                </a:solidFill>
                <a:latin typeface="Calibri"/>
              </a:rPr>
              <a:t>0.82</a:t>
            </a:r>
          </a:p>
        </p:txBody>
      </p:sp>
      <p:sp>
        <p:nvSpPr>
          <p:cNvPr id="43" name="TextBox 42"/>
          <p:cNvSpPr txBox="1"/>
          <p:nvPr/>
        </p:nvSpPr>
        <p:spPr>
          <a:xfrm>
            <a:off x="320040" y="4928616"/>
            <a:ext cx="3566160" cy="365760"/>
          </a:xfrm>
          <a:prstGeom prst="rect">
            <a:avLst/>
          </a:prstGeom>
          <a:noFill/>
        </p:spPr>
        <p:txBody>
          <a:bodyPr wrap="square">
            <a:spAutoFit/>
          </a:bodyPr>
          <a:lstStyle/>
          <a:p>
            <a:pPr algn="l"/>
            <a:r>
              <a:rPr sz="1200" b="0">
                <a:solidFill>
                  <a:srgbClr val="102A32"/>
                </a:solidFill>
                <a:latin typeface="Calibri"/>
              </a:rPr>
              <a:t>FINEARTS-HF (2024)  [45]</a:t>
            </a:r>
          </a:p>
        </p:txBody>
      </p:sp>
      <p:sp>
        <p:nvSpPr>
          <p:cNvPr id="44" name="Rectangle 43"/>
          <p:cNvSpPr/>
          <p:nvPr/>
        </p:nvSpPr>
        <p:spPr>
          <a:xfrm>
            <a:off x="6803136" y="5065776"/>
            <a:ext cx="2432303" cy="109728"/>
          </a:xfrm>
          <a:prstGeom prst="rect">
            <a:avLst/>
          </a:prstGeom>
          <a:solidFill>
            <a:srgbClr val="0B3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7888223" y="5010912"/>
            <a:ext cx="201168" cy="201168"/>
          </a:xfrm>
          <a:prstGeom prst="ellipse">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1064240" y="4956048"/>
            <a:ext cx="1005840" cy="320040"/>
          </a:xfrm>
          <a:prstGeom prst="rect">
            <a:avLst/>
          </a:prstGeom>
          <a:noFill/>
        </p:spPr>
        <p:txBody>
          <a:bodyPr wrap="square">
            <a:spAutoFit/>
          </a:bodyPr>
          <a:lstStyle/>
          <a:p>
            <a:pPr algn="l"/>
            <a:r>
              <a:rPr sz="1100" b="0">
                <a:solidFill>
                  <a:srgbClr val="0B3D4A"/>
                </a:solidFill>
                <a:latin typeface="Calibri"/>
              </a:rPr>
              <a:t>0.84</a:t>
            </a:r>
          </a:p>
        </p:txBody>
      </p:sp>
      <p:sp>
        <p:nvSpPr>
          <p:cNvPr id="47" name="TextBox 46"/>
          <p:cNvSpPr txBox="1"/>
          <p:nvPr/>
        </p:nvSpPr>
        <p:spPr>
          <a:xfrm>
            <a:off x="320040" y="5349240"/>
            <a:ext cx="3566160" cy="365760"/>
          </a:xfrm>
          <a:prstGeom prst="rect">
            <a:avLst/>
          </a:prstGeom>
          <a:noFill/>
        </p:spPr>
        <p:txBody>
          <a:bodyPr wrap="square">
            <a:spAutoFit/>
          </a:bodyPr>
          <a:lstStyle/>
          <a:p>
            <a:pPr algn="l"/>
            <a:r>
              <a:rPr sz="1200" b="0">
                <a:solidFill>
                  <a:srgbClr val="102A32"/>
                </a:solidFill>
                <a:latin typeface="Calibri"/>
              </a:rPr>
              <a:t>PARAGON-HF (2019)  [139]</a:t>
            </a:r>
          </a:p>
        </p:txBody>
      </p:sp>
      <p:sp>
        <p:nvSpPr>
          <p:cNvPr id="48" name="Rectangle 47"/>
          <p:cNvSpPr/>
          <p:nvPr/>
        </p:nvSpPr>
        <p:spPr>
          <a:xfrm>
            <a:off x="6918960" y="5486400"/>
            <a:ext cx="3011424" cy="109728"/>
          </a:xfrm>
          <a:prstGeom prst="rect">
            <a:avLst/>
          </a:prstGeom>
          <a:solidFill>
            <a:srgbClr val="0B3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235695" y="5431536"/>
            <a:ext cx="201168" cy="201168"/>
          </a:xfrm>
          <a:prstGeom prst="ellipse">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1064240" y="5376672"/>
            <a:ext cx="1005840" cy="320040"/>
          </a:xfrm>
          <a:prstGeom prst="rect">
            <a:avLst/>
          </a:prstGeom>
          <a:noFill/>
        </p:spPr>
        <p:txBody>
          <a:bodyPr wrap="square">
            <a:spAutoFit/>
          </a:bodyPr>
          <a:lstStyle/>
          <a:p>
            <a:pPr algn="l"/>
            <a:r>
              <a:rPr sz="1100" b="0">
                <a:solidFill>
                  <a:srgbClr val="0B3D4A"/>
                </a:solidFill>
                <a:latin typeface="Calibri"/>
              </a:rPr>
              <a:t>0.87</a:t>
            </a:r>
          </a:p>
        </p:txBody>
      </p:sp>
      <p:sp>
        <p:nvSpPr>
          <p:cNvPr id="51" name="TextBox 50"/>
          <p:cNvSpPr txBox="1"/>
          <p:nvPr/>
        </p:nvSpPr>
        <p:spPr>
          <a:xfrm>
            <a:off x="320040" y="5769864"/>
            <a:ext cx="3566160" cy="365760"/>
          </a:xfrm>
          <a:prstGeom prst="rect">
            <a:avLst/>
          </a:prstGeom>
          <a:noFill/>
        </p:spPr>
        <p:txBody>
          <a:bodyPr wrap="square">
            <a:spAutoFit/>
          </a:bodyPr>
          <a:lstStyle/>
          <a:p>
            <a:pPr algn="l"/>
            <a:r>
              <a:rPr sz="1200" b="0">
                <a:solidFill>
                  <a:srgbClr val="102A32"/>
                </a:solidFill>
                <a:latin typeface="Calibri"/>
              </a:rPr>
              <a:t>TOPCAT (2014)  [179]</a:t>
            </a:r>
          </a:p>
        </p:txBody>
      </p:sp>
      <p:sp>
        <p:nvSpPr>
          <p:cNvPr id="52" name="Rectangle 51"/>
          <p:cNvSpPr/>
          <p:nvPr/>
        </p:nvSpPr>
        <p:spPr>
          <a:xfrm>
            <a:off x="7150608" y="5907024"/>
            <a:ext cx="3127248" cy="109728"/>
          </a:xfrm>
          <a:prstGeom prst="rect">
            <a:avLst/>
          </a:prstGeom>
          <a:solidFill>
            <a:srgbClr val="0B3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8467344" y="5852160"/>
            <a:ext cx="201168" cy="201168"/>
          </a:xfrm>
          <a:prstGeom prst="ellipse">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1064240" y="5797296"/>
            <a:ext cx="1005840" cy="320040"/>
          </a:xfrm>
          <a:prstGeom prst="rect">
            <a:avLst/>
          </a:prstGeom>
          <a:noFill/>
        </p:spPr>
        <p:txBody>
          <a:bodyPr wrap="square">
            <a:spAutoFit/>
          </a:bodyPr>
          <a:lstStyle/>
          <a:p>
            <a:pPr algn="l"/>
            <a:r>
              <a:rPr sz="1100" b="0">
                <a:solidFill>
                  <a:srgbClr val="0B3D4A"/>
                </a:solidFill>
                <a:latin typeface="Calibri"/>
              </a:rPr>
              <a:t>0.89</a:t>
            </a:r>
          </a:p>
        </p:txBody>
      </p:sp>
      <p:sp>
        <p:nvSpPr>
          <p:cNvPr id="55" name="TextBox 54"/>
          <p:cNvSpPr txBox="1"/>
          <p:nvPr/>
        </p:nvSpPr>
        <p:spPr>
          <a:xfrm>
            <a:off x="320040" y="6190488"/>
            <a:ext cx="3566160" cy="365760"/>
          </a:xfrm>
          <a:prstGeom prst="rect">
            <a:avLst/>
          </a:prstGeom>
          <a:noFill/>
        </p:spPr>
        <p:txBody>
          <a:bodyPr wrap="square">
            <a:spAutoFit/>
          </a:bodyPr>
          <a:lstStyle/>
          <a:p>
            <a:pPr algn="l"/>
            <a:r>
              <a:rPr sz="1200" b="1">
                <a:solidFill>
                  <a:srgbClr val="B85C38"/>
                </a:solidFill>
                <a:latin typeface="Calibri"/>
              </a:rPr>
              <a:t>Pooled IV  I2=75.3%</a:t>
            </a:r>
          </a:p>
        </p:txBody>
      </p:sp>
      <p:sp>
        <p:nvSpPr>
          <p:cNvPr id="56" name="Rectangle 55"/>
          <p:cNvSpPr/>
          <p:nvPr/>
        </p:nvSpPr>
        <p:spPr>
          <a:xfrm>
            <a:off x="7602321" y="6327648"/>
            <a:ext cx="648615" cy="109728"/>
          </a:xfrm>
          <a:prstGeom prst="rect">
            <a:avLst/>
          </a:prstGeom>
          <a:solidFill>
            <a:srgbClr val="B85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Diamond 56"/>
          <p:cNvSpPr/>
          <p:nvPr/>
        </p:nvSpPr>
        <p:spPr>
          <a:xfrm>
            <a:off x="7816900" y="6236208"/>
            <a:ext cx="256032" cy="256032"/>
          </a:xfrm>
          <a:prstGeom prst="diamond">
            <a:avLst/>
          </a:prstGeom>
          <a:solidFill>
            <a:srgbClr val="B85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1064240" y="6217920"/>
            <a:ext cx="1005840" cy="320040"/>
          </a:xfrm>
          <a:prstGeom prst="rect">
            <a:avLst/>
          </a:prstGeom>
          <a:noFill/>
        </p:spPr>
        <p:txBody>
          <a:bodyPr wrap="square">
            <a:spAutoFit/>
          </a:bodyPr>
          <a:lstStyle/>
          <a:p>
            <a:pPr algn="l"/>
            <a:r>
              <a:rPr sz="1100" b="0">
                <a:solidFill>
                  <a:srgbClr val="B85C38"/>
                </a:solidFill>
                <a:latin typeface="Calibri"/>
              </a:rPr>
              <a:t>0.84</a:t>
            </a:r>
          </a:p>
        </p:txBody>
      </p:sp>
      <p:sp>
        <p:nvSpPr>
          <p:cNvPr id="59" name="TextBox 58"/>
          <p:cNvSpPr txBox="1"/>
          <p:nvPr/>
        </p:nvSpPr>
        <p:spPr>
          <a:xfrm>
            <a:off x="320040" y="6611112"/>
            <a:ext cx="3566160" cy="365760"/>
          </a:xfrm>
          <a:prstGeom prst="rect">
            <a:avLst/>
          </a:prstGeom>
          <a:noFill/>
        </p:spPr>
        <p:txBody>
          <a:bodyPr wrap="square">
            <a:spAutoFit/>
          </a:bodyPr>
          <a:lstStyle/>
          <a:p>
            <a:pPr algn="l"/>
            <a:r>
              <a:rPr sz="1200" b="1">
                <a:solidFill>
                  <a:srgbClr val="C9A227"/>
                </a:solidFill>
                <a:latin typeface="Calibri"/>
              </a:rPr>
              <a:t>Random DL  tau2=0.014</a:t>
            </a:r>
          </a:p>
        </p:txBody>
      </p:sp>
      <p:sp>
        <p:nvSpPr>
          <p:cNvPr id="60" name="Rectangle 59"/>
          <p:cNvSpPr/>
          <p:nvPr/>
        </p:nvSpPr>
        <p:spPr>
          <a:xfrm>
            <a:off x="6953707" y="6748272"/>
            <a:ext cx="1366723" cy="109728"/>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Diamond 60"/>
          <p:cNvSpPr/>
          <p:nvPr/>
        </p:nvSpPr>
        <p:spPr>
          <a:xfrm>
            <a:off x="7504176" y="6656832"/>
            <a:ext cx="256032" cy="256032"/>
          </a:xfrm>
          <a:prstGeom prst="diamond">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1064240" y="6638544"/>
            <a:ext cx="1005840" cy="320040"/>
          </a:xfrm>
          <a:prstGeom prst="rect">
            <a:avLst/>
          </a:prstGeom>
          <a:noFill/>
        </p:spPr>
        <p:txBody>
          <a:bodyPr wrap="square">
            <a:spAutoFit/>
          </a:bodyPr>
          <a:lstStyle/>
          <a:p>
            <a:pPr algn="l"/>
            <a:r>
              <a:rPr sz="1100" b="0">
                <a:solidFill>
                  <a:srgbClr val="C9A227"/>
                </a:solidFill>
                <a:latin typeface="Calibri"/>
              </a:rPr>
              <a:t>0.81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972800" cy="320040"/>
          </a:xfrm>
          <a:prstGeom prst="rect">
            <a:avLst/>
          </a:prstGeom>
          <a:noFill/>
        </p:spPr>
        <p:txBody>
          <a:bodyPr wrap="square">
            <a:spAutoFit/>
          </a:bodyPr>
          <a:lstStyle/>
          <a:p>
            <a:pPr algn="l"/>
            <a:r>
              <a:rPr sz="1200" b="1">
                <a:solidFill>
                  <a:srgbClr val="B85C38"/>
                </a:solidFill>
                <a:latin typeface="Calibri"/>
              </a:rPr>
              <a:t>05  DESIGN-BAND CERTAINTY TABLE</a:t>
            </a:r>
          </a:p>
        </p:txBody>
      </p:sp>
      <p:sp>
        <p:nvSpPr>
          <p:cNvPr id="4" name="TextBox 3"/>
          <p:cNvSpPr txBox="1"/>
          <p:nvPr/>
        </p:nvSpPr>
        <p:spPr>
          <a:xfrm>
            <a:off x="457200" y="640080"/>
            <a:ext cx="10972800" cy="411480"/>
          </a:xfrm>
          <a:prstGeom prst="rect">
            <a:avLst/>
          </a:prstGeom>
          <a:noFill/>
        </p:spPr>
        <p:txBody>
          <a:bodyPr wrap="square">
            <a:spAutoFit/>
          </a:bodyPr>
          <a:lstStyle/>
          <a:p>
            <a:pPr algn="l"/>
            <a:r>
              <a:rPr sz="1600" b="0">
                <a:solidFill>
                  <a:srgbClr val="102A32"/>
                </a:solidFill>
                <a:latin typeface="Calibri"/>
              </a:rPr>
              <a:t>Heuristic GRADE-style bands from title/abstract markers — not a full-text panel.</a:t>
            </a:r>
          </a:p>
        </p:txBody>
      </p:sp>
      <p:sp>
        <p:nvSpPr>
          <p:cNvPr id="5" name="TextBox 4"/>
          <p:cNvSpPr txBox="1"/>
          <p:nvPr/>
        </p:nvSpPr>
        <p:spPr>
          <a:xfrm>
            <a:off x="457200" y="1234440"/>
            <a:ext cx="3200400" cy="320040"/>
          </a:xfrm>
          <a:prstGeom prst="rect">
            <a:avLst/>
          </a:prstGeom>
          <a:noFill/>
        </p:spPr>
        <p:txBody>
          <a:bodyPr wrap="square">
            <a:spAutoFit/>
          </a:bodyPr>
          <a:lstStyle/>
          <a:p>
            <a:pPr algn="l"/>
            <a:r>
              <a:rPr sz="1300" b="1">
                <a:solidFill>
                  <a:srgbClr val="B85C38"/>
                </a:solidFill>
                <a:latin typeface="Calibri"/>
              </a:rPr>
              <a:t>Design</a:t>
            </a:r>
          </a:p>
        </p:txBody>
      </p:sp>
      <p:sp>
        <p:nvSpPr>
          <p:cNvPr id="6" name="TextBox 5"/>
          <p:cNvSpPr txBox="1"/>
          <p:nvPr/>
        </p:nvSpPr>
        <p:spPr>
          <a:xfrm>
            <a:off x="3840480" y="1234440"/>
            <a:ext cx="1828800" cy="320040"/>
          </a:xfrm>
          <a:prstGeom prst="rect">
            <a:avLst/>
          </a:prstGeom>
          <a:noFill/>
        </p:spPr>
        <p:txBody>
          <a:bodyPr wrap="square">
            <a:spAutoFit/>
          </a:bodyPr>
          <a:lstStyle/>
          <a:p>
            <a:pPr algn="l"/>
            <a:r>
              <a:rPr sz="1300" b="1">
                <a:solidFill>
                  <a:srgbClr val="B85C38"/>
                </a:solidFill>
                <a:latin typeface="Calibri"/>
              </a:rPr>
              <a:t>Band</a:t>
            </a:r>
          </a:p>
        </p:txBody>
      </p:sp>
      <p:sp>
        <p:nvSpPr>
          <p:cNvPr id="7" name="TextBox 6"/>
          <p:cNvSpPr txBox="1"/>
          <p:nvPr/>
        </p:nvSpPr>
        <p:spPr>
          <a:xfrm>
            <a:off x="5852160" y="1234440"/>
            <a:ext cx="1097280" cy="320040"/>
          </a:xfrm>
          <a:prstGeom prst="rect">
            <a:avLst/>
          </a:prstGeom>
          <a:noFill/>
        </p:spPr>
        <p:txBody>
          <a:bodyPr wrap="square">
            <a:spAutoFit/>
          </a:bodyPr>
          <a:lstStyle/>
          <a:p>
            <a:pPr algn="l"/>
            <a:r>
              <a:rPr sz="1300" b="1">
                <a:solidFill>
                  <a:srgbClr val="B85C38"/>
                </a:solidFill>
                <a:latin typeface="Calibri"/>
              </a:rPr>
              <a:t>n</a:t>
            </a:r>
          </a:p>
        </p:txBody>
      </p:sp>
      <p:sp>
        <p:nvSpPr>
          <p:cNvPr id="8" name="TextBox 7"/>
          <p:cNvSpPr txBox="1"/>
          <p:nvPr/>
        </p:nvSpPr>
        <p:spPr>
          <a:xfrm>
            <a:off x="6949440" y="1234440"/>
            <a:ext cx="4754880" cy="320040"/>
          </a:xfrm>
          <a:prstGeom prst="rect">
            <a:avLst/>
          </a:prstGeom>
          <a:noFill/>
        </p:spPr>
        <p:txBody>
          <a:bodyPr wrap="square">
            <a:spAutoFit/>
          </a:bodyPr>
          <a:lstStyle/>
          <a:p>
            <a:pPr algn="l"/>
            <a:r>
              <a:rPr sz="1300" b="1">
                <a:solidFill>
                  <a:srgbClr val="B85C38"/>
                </a:solidFill>
                <a:latin typeface="Calibri"/>
              </a:rPr>
              <a:t>Note</a:t>
            </a:r>
          </a:p>
        </p:txBody>
      </p:sp>
      <p:sp>
        <p:nvSpPr>
          <p:cNvPr id="9" name="TextBox 8"/>
          <p:cNvSpPr txBox="1"/>
          <p:nvPr/>
        </p:nvSpPr>
        <p:spPr>
          <a:xfrm>
            <a:off x="457200" y="1645920"/>
            <a:ext cx="3200400" cy="502920"/>
          </a:xfrm>
          <a:prstGeom prst="rect">
            <a:avLst/>
          </a:prstGeom>
          <a:noFill/>
        </p:spPr>
        <p:txBody>
          <a:bodyPr wrap="square">
            <a:spAutoFit/>
          </a:bodyPr>
          <a:lstStyle/>
          <a:p>
            <a:pPr algn="l"/>
            <a:r>
              <a:rPr sz="1300" b="0">
                <a:solidFill>
                  <a:srgbClr val="102A32"/>
                </a:solidFill>
                <a:latin typeface="Calibri"/>
              </a:rPr>
              <a:t>Randomised trial</a:t>
            </a:r>
          </a:p>
        </p:txBody>
      </p:sp>
      <p:sp>
        <p:nvSpPr>
          <p:cNvPr id="10" name="TextBox 9"/>
          <p:cNvSpPr txBox="1"/>
          <p:nvPr/>
        </p:nvSpPr>
        <p:spPr>
          <a:xfrm>
            <a:off x="3840480" y="1645920"/>
            <a:ext cx="1828800" cy="502920"/>
          </a:xfrm>
          <a:prstGeom prst="rect">
            <a:avLst/>
          </a:prstGeom>
          <a:noFill/>
        </p:spPr>
        <p:txBody>
          <a:bodyPr wrap="square">
            <a:spAutoFit/>
          </a:bodyPr>
          <a:lstStyle/>
          <a:p>
            <a:pPr algn="l"/>
            <a:r>
              <a:rPr sz="1300" b="1">
                <a:solidFill>
                  <a:srgbClr val="0B3D4A"/>
                </a:solidFill>
                <a:latin typeface="Calibri"/>
              </a:rPr>
              <a:t>High</a:t>
            </a:r>
          </a:p>
        </p:txBody>
      </p:sp>
      <p:sp>
        <p:nvSpPr>
          <p:cNvPr id="11" name="TextBox 10"/>
          <p:cNvSpPr txBox="1"/>
          <p:nvPr/>
        </p:nvSpPr>
        <p:spPr>
          <a:xfrm>
            <a:off x="5852160" y="1645920"/>
            <a:ext cx="1097280" cy="502920"/>
          </a:xfrm>
          <a:prstGeom prst="rect">
            <a:avLst/>
          </a:prstGeom>
          <a:noFill/>
        </p:spPr>
        <p:txBody>
          <a:bodyPr wrap="square">
            <a:spAutoFit/>
          </a:bodyPr>
          <a:lstStyle/>
          <a:p>
            <a:pPr algn="l"/>
            <a:r>
              <a:rPr sz="1300" b="0">
                <a:solidFill>
                  <a:srgbClr val="102A32"/>
                </a:solidFill>
                <a:latin typeface="Calibri"/>
              </a:rPr>
              <a:t>21</a:t>
            </a:r>
          </a:p>
        </p:txBody>
      </p:sp>
      <p:sp>
        <p:nvSpPr>
          <p:cNvPr id="12" name="TextBox 11"/>
          <p:cNvSpPr txBox="1"/>
          <p:nvPr/>
        </p:nvSpPr>
        <p:spPr>
          <a:xfrm>
            <a:off x="6949440" y="1645920"/>
            <a:ext cx="4754880" cy="594360"/>
          </a:xfrm>
          <a:prstGeom prst="rect">
            <a:avLst/>
          </a:prstGeom>
          <a:noFill/>
        </p:spPr>
        <p:txBody>
          <a:bodyPr wrap="square">
            <a:spAutoFit/>
          </a:bodyPr>
          <a:lstStyle/>
          <a:p>
            <a:pPr algn="l"/>
            <a:r>
              <a:rPr sz="1100" b="0">
                <a:solidFill>
                  <a:srgbClr val="102A32"/>
                </a:solidFill>
                <a:latin typeface="Calibri"/>
              </a:rPr>
              <a:t>Outcome RCTs with a parsed 95% CI. Formal GRADE would still require risk-of-bias appraisal of full texts.</a:t>
            </a:r>
          </a:p>
        </p:txBody>
      </p:sp>
      <p:sp>
        <p:nvSpPr>
          <p:cNvPr id="13" name="TextBox 12"/>
          <p:cNvSpPr txBox="1"/>
          <p:nvPr/>
        </p:nvSpPr>
        <p:spPr>
          <a:xfrm>
            <a:off x="457200" y="2267712"/>
            <a:ext cx="3200400" cy="502920"/>
          </a:xfrm>
          <a:prstGeom prst="rect">
            <a:avLst/>
          </a:prstGeom>
          <a:noFill/>
        </p:spPr>
        <p:txBody>
          <a:bodyPr wrap="square">
            <a:spAutoFit/>
          </a:bodyPr>
          <a:lstStyle/>
          <a:p>
            <a:pPr algn="l"/>
            <a:r>
              <a:rPr sz="1300" b="0">
                <a:solidFill>
                  <a:srgbClr val="102A32"/>
                </a:solidFill>
                <a:latin typeface="Calibri"/>
              </a:rPr>
              <a:t>Systematic review / meta-analysis</a:t>
            </a:r>
          </a:p>
        </p:txBody>
      </p:sp>
      <p:sp>
        <p:nvSpPr>
          <p:cNvPr id="14" name="TextBox 13"/>
          <p:cNvSpPr txBox="1"/>
          <p:nvPr/>
        </p:nvSpPr>
        <p:spPr>
          <a:xfrm>
            <a:off x="3840480" y="2267712"/>
            <a:ext cx="1828800" cy="502920"/>
          </a:xfrm>
          <a:prstGeom prst="rect">
            <a:avLst/>
          </a:prstGeom>
          <a:noFill/>
        </p:spPr>
        <p:txBody>
          <a:bodyPr wrap="square">
            <a:spAutoFit/>
          </a:bodyPr>
          <a:lstStyle/>
          <a:p>
            <a:pPr algn="l"/>
            <a:r>
              <a:rPr sz="1300" b="1">
                <a:solidFill>
                  <a:srgbClr val="0B3D4A"/>
                </a:solidFill>
                <a:latin typeface="Calibri"/>
              </a:rPr>
              <a:t>High–moderate</a:t>
            </a:r>
          </a:p>
        </p:txBody>
      </p:sp>
      <p:sp>
        <p:nvSpPr>
          <p:cNvPr id="15" name="TextBox 14"/>
          <p:cNvSpPr txBox="1"/>
          <p:nvPr/>
        </p:nvSpPr>
        <p:spPr>
          <a:xfrm>
            <a:off x="5852160" y="2267712"/>
            <a:ext cx="1097280" cy="502920"/>
          </a:xfrm>
          <a:prstGeom prst="rect">
            <a:avLst/>
          </a:prstGeom>
          <a:noFill/>
        </p:spPr>
        <p:txBody>
          <a:bodyPr wrap="square">
            <a:spAutoFit/>
          </a:bodyPr>
          <a:lstStyle/>
          <a:p>
            <a:pPr algn="l"/>
            <a:r>
              <a:rPr sz="1300" b="0">
                <a:solidFill>
                  <a:srgbClr val="102A32"/>
                </a:solidFill>
                <a:latin typeface="Calibri"/>
              </a:rPr>
              <a:t>16</a:t>
            </a:r>
          </a:p>
        </p:txBody>
      </p:sp>
      <p:sp>
        <p:nvSpPr>
          <p:cNvPr id="16" name="TextBox 15"/>
          <p:cNvSpPr txBox="1"/>
          <p:nvPr/>
        </p:nvSpPr>
        <p:spPr>
          <a:xfrm>
            <a:off x="6949440" y="2267712"/>
            <a:ext cx="4754880" cy="594360"/>
          </a:xfrm>
          <a:prstGeom prst="rect">
            <a:avLst/>
          </a:prstGeom>
          <a:noFill/>
        </p:spPr>
        <p:txBody>
          <a:bodyPr wrap="square">
            <a:spAutoFit/>
          </a:bodyPr>
          <a:lstStyle/>
          <a:p>
            <a:pPr algn="l"/>
            <a:r>
              <a:rPr sz="1100" b="0">
                <a:solidFill>
                  <a:srgbClr val="102A32"/>
                </a:solidFill>
                <a:latin typeface="Calibri"/>
              </a:rPr>
              <a:t>Systematic reviews and meta-analyses. Certainty still depends on included-study quality.</a:t>
            </a:r>
          </a:p>
        </p:txBody>
      </p:sp>
      <p:sp>
        <p:nvSpPr>
          <p:cNvPr id="17" name="TextBox 16"/>
          <p:cNvSpPr txBox="1"/>
          <p:nvPr/>
        </p:nvSpPr>
        <p:spPr>
          <a:xfrm>
            <a:off x="457200" y="2889504"/>
            <a:ext cx="3200400" cy="502920"/>
          </a:xfrm>
          <a:prstGeom prst="rect">
            <a:avLst/>
          </a:prstGeom>
          <a:noFill/>
        </p:spPr>
        <p:txBody>
          <a:bodyPr wrap="square">
            <a:spAutoFit/>
          </a:bodyPr>
          <a:lstStyle/>
          <a:p>
            <a:pPr algn="l"/>
            <a:r>
              <a:rPr sz="1300" b="0">
                <a:solidFill>
                  <a:srgbClr val="102A32"/>
                </a:solidFill>
                <a:latin typeface="Calibri"/>
              </a:rPr>
              <a:t>Clinical practice guideline</a:t>
            </a:r>
          </a:p>
        </p:txBody>
      </p:sp>
      <p:sp>
        <p:nvSpPr>
          <p:cNvPr id="18" name="TextBox 17"/>
          <p:cNvSpPr txBox="1"/>
          <p:nvPr/>
        </p:nvSpPr>
        <p:spPr>
          <a:xfrm>
            <a:off x="3840480" y="2889504"/>
            <a:ext cx="1828800" cy="502920"/>
          </a:xfrm>
          <a:prstGeom prst="rect">
            <a:avLst/>
          </a:prstGeom>
          <a:noFill/>
        </p:spPr>
        <p:txBody>
          <a:bodyPr wrap="square">
            <a:spAutoFit/>
          </a:bodyPr>
          <a:lstStyle/>
          <a:p>
            <a:pPr algn="l"/>
            <a:r>
              <a:rPr sz="1300" b="1">
                <a:solidFill>
                  <a:srgbClr val="0B3D4A"/>
                </a:solidFill>
                <a:latin typeface="Calibri"/>
              </a:rPr>
              <a:t>Moderate</a:t>
            </a:r>
          </a:p>
        </p:txBody>
      </p:sp>
      <p:sp>
        <p:nvSpPr>
          <p:cNvPr id="19" name="TextBox 18"/>
          <p:cNvSpPr txBox="1"/>
          <p:nvPr/>
        </p:nvSpPr>
        <p:spPr>
          <a:xfrm>
            <a:off x="5852160" y="2889504"/>
            <a:ext cx="1097280" cy="502920"/>
          </a:xfrm>
          <a:prstGeom prst="rect">
            <a:avLst/>
          </a:prstGeom>
          <a:noFill/>
        </p:spPr>
        <p:txBody>
          <a:bodyPr wrap="square">
            <a:spAutoFit/>
          </a:bodyPr>
          <a:lstStyle/>
          <a:p>
            <a:pPr algn="l"/>
            <a:r>
              <a:rPr sz="1300" b="0">
                <a:solidFill>
                  <a:srgbClr val="102A32"/>
                </a:solidFill>
                <a:latin typeface="Calibri"/>
              </a:rPr>
              <a:t>52</a:t>
            </a:r>
          </a:p>
        </p:txBody>
      </p:sp>
      <p:sp>
        <p:nvSpPr>
          <p:cNvPr id="20" name="TextBox 19"/>
          <p:cNvSpPr txBox="1"/>
          <p:nvPr/>
        </p:nvSpPr>
        <p:spPr>
          <a:xfrm>
            <a:off x="6949440" y="2889504"/>
            <a:ext cx="4754880" cy="594360"/>
          </a:xfrm>
          <a:prstGeom prst="rect">
            <a:avLst/>
          </a:prstGeom>
          <a:noFill/>
        </p:spPr>
        <p:txBody>
          <a:bodyPr wrap="square">
            <a:spAutoFit/>
          </a:bodyPr>
          <a:lstStyle/>
          <a:p>
            <a:pPr algn="l"/>
            <a:r>
              <a:rPr sz="1100" b="0">
                <a:solidFill>
                  <a:srgbClr val="102A32"/>
                </a:solidFill>
                <a:latin typeface="Calibri"/>
              </a:rPr>
              <a:t>Society or national guidance. Recommendation class/level is taken from the source, not re-graded here.</a:t>
            </a:r>
          </a:p>
        </p:txBody>
      </p:sp>
      <p:sp>
        <p:nvSpPr>
          <p:cNvPr id="21" name="TextBox 20"/>
          <p:cNvSpPr txBox="1"/>
          <p:nvPr/>
        </p:nvSpPr>
        <p:spPr>
          <a:xfrm>
            <a:off x="457200" y="3511296"/>
            <a:ext cx="3200400" cy="502920"/>
          </a:xfrm>
          <a:prstGeom prst="rect">
            <a:avLst/>
          </a:prstGeom>
          <a:noFill/>
        </p:spPr>
        <p:txBody>
          <a:bodyPr wrap="square">
            <a:spAutoFit/>
          </a:bodyPr>
          <a:lstStyle/>
          <a:p>
            <a:pPr algn="l"/>
            <a:r>
              <a:rPr sz="1300" b="0">
                <a:solidFill>
                  <a:srgbClr val="102A32"/>
                </a:solidFill>
                <a:latin typeface="Calibri"/>
              </a:rPr>
              <a:t>Observational / registry</a:t>
            </a:r>
          </a:p>
        </p:txBody>
      </p:sp>
      <p:sp>
        <p:nvSpPr>
          <p:cNvPr id="22" name="TextBox 21"/>
          <p:cNvSpPr txBox="1"/>
          <p:nvPr/>
        </p:nvSpPr>
        <p:spPr>
          <a:xfrm>
            <a:off x="3840480" y="3511296"/>
            <a:ext cx="1828800" cy="502920"/>
          </a:xfrm>
          <a:prstGeom prst="rect">
            <a:avLst/>
          </a:prstGeom>
          <a:noFill/>
        </p:spPr>
        <p:txBody>
          <a:bodyPr wrap="square">
            <a:spAutoFit/>
          </a:bodyPr>
          <a:lstStyle/>
          <a:p>
            <a:pPr algn="l"/>
            <a:r>
              <a:rPr sz="1300" b="1">
                <a:solidFill>
                  <a:srgbClr val="0B3D4A"/>
                </a:solidFill>
                <a:latin typeface="Calibri"/>
              </a:rPr>
              <a:t>Low</a:t>
            </a:r>
          </a:p>
        </p:txBody>
      </p:sp>
      <p:sp>
        <p:nvSpPr>
          <p:cNvPr id="23" name="TextBox 22"/>
          <p:cNvSpPr txBox="1"/>
          <p:nvPr/>
        </p:nvSpPr>
        <p:spPr>
          <a:xfrm>
            <a:off x="5852160" y="3511296"/>
            <a:ext cx="1097280" cy="502920"/>
          </a:xfrm>
          <a:prstGeom prst="rect">
            <a:avLst/>
          </a:prstGeom>
          <a:noFill/>
        </p:spPr>
        <p:txBody>
          <a:bodyPr wrap="square">
            <a:spAutoFit/>
          </a:bodyPr>
          <a:lstStyle/>
          <a:p>
            <a:pPr algn="l"/>
            <a:r>
              <a:rPr sz="1300" b="0">
                <a:solidFill>
                  <a:srgbClr val="102A32"/>
                </a:solidFill>
                <a:latin typeface="Calibri"/>
              </a:rPr>
              <a:t>8</a:t>
            </a:r>
          </a:p>
        </p:txBody>
      </p:sp>
      <p:sp>
        <p:nvSpPr>
          <p:cNvPr id="24" name="TextBox 23"/>
          <p:cNvSpPr txBox="1"/>
          <p:nvPr/>
        </p:nvSpPr>
        <p:spPr>
          <a:xfrm>
            <a:off x="6949440" y="3511296"/>
            <a:ext cx="4754880" cy="594360"/>
          </a:xfrm>
          <a:prstGeom prst="rect">
            <a:avLst/>
          </a:prstGeom>
          <a:noFill/>
        </p:spPr>
        <p:txBody>
          <a:bodyPr wrap="square">
            <a:spAutoFit/>
          </a:bodyPr>
          <a:lstStyle/>
          <a:p>
            <a:pPr algn="l"/>
            <a:r>
              <a:rPr sz="1100" b="0">
                <a:solidFill>
                  <a:srgbClr val="102A32"/>
                </a:solidFill>
                <a:latin typeface="Calibri"/>
              </a:rPr>
              <a:t>Cohorts, registries, and observational analyses.</a:t>
            </a:r>
          </a:p>
        </p:txBody>
      </p:sp>
      <p:sp>
        <p:nvSpPr>
          <p:cNvPr id="25" name="TextBox 24"/>
          <p:cNvSpPr txBox="1"/>
          <p:nvPr/>
        </p:nvSpPr>
        <p:spPr>
          <a:xfrm>
            <a:off x="457200" y="4133088"/>
            <a:ext cx="3200400" cy="502920"/>
          </a:xfrm>
          <a:prstGeom prst="rect">
            <a:avLst/>
          </a:prstGeom>
          <a:noFill/>
        </p:spPr>
        <p:txBody>
          <a:bodyPr wrap="square">
            <a:spAutoFit/>
          </a:bodyPr>
          <a:lstStyle/>
          <a:p>
            <a:pPr algn="l"/>
            <a:r>
              <a:rPr sz="1300" b="0">
                <a:solidFill>
                  <a:srgbClr val="102A32"/>
                </a:solidFill>
                <a:latin typeface="Calibri"/>
              </a:rPr>
              <a:t>Qualitative / IPA-eligible</a:t>
            </a:r>
          </a:p>
        </p:txBody>
      </p:sp>
      <p:sp>
        <p:nvSpPr>
          <p:cNvPr id="26" name="TextBox 25"/>
          <p:cNvSpPr txBox="1"/>
          <p:nvPr/>
        </p:nvSpPr>
        <p:spPr>
          <a:xfrm>
            <a:off x="3840480" y="4133088"/>
            <a:ext cx="1828800" cy="502920"/>
          </a:xfrm>
          <a:prstGeom prst="rect">
            <a:avLst/>
          </a:prstGeom>
          <a:noFill/>
        </p:spPr>
        <p:txBody>
          <a:bodyPr wrap="square">
            <a:spAutoFit/>
          </a:bodyPr>
          <a:lstStyle/>
          <a:p>
            <a:pPr algn="l"/>
            <a:r>
              <a:rPr sz="1300" b="1">
                <a:solidFill>
                  <a:srgbClr val="0B3D4A"/>
                </a:solidFill>
                <a:latin typeface="Calibri"/>
              </a:rPr>
              <a:t>Not for effect sizes</a:t>
            </a:r>
          </a:p>
        </p:txBody>
      </p:sp>
      <p:sp>
        <p:nvSpPr>
          <p:cNvPr id="27" name="TextBox 26"/>
          <p:cNvSpPr txBox="1"/>
          <p:nvPr/>
        </p:nvSpPr>
        <p:spPr>
          <a:xfrm>
            <a:off x="5852160" y="4133088"/>
            <a:ext cx="1097280" cy="502920"/>
          </a:xfrm>
          <a:prstGeom prst="rect">
            <a:avLst/>
          </a:prstGeom>
          <a:noFill/>
        </p:spPr>
        <p:txBody>
          <a:bodyPr wrap="square">
            <a:spAutoFit/>
          </a:bodyPr>
          <a:lstStyle/>
          <a:p>
            <a:pPr algn="l"/>
            <a:r>
              <a:rPr sz="1300" b="0">
                <a:solidFill>
                  <a:srgbClr val="102A32"/>
                </a:solidFill>
                <a:latin typeface="Calibri"/>
              </a:rPr>
              <a:t>17</a:t>
            </a:r>
          </a:p>
        </p:txBody>
      </p:sp>
      <p:sp>
        <p:nvSpPr>
          <p:cNvPr id="28" name="TextBox 27"/>
          <p:cNvSpPr txBox="1"/>
          <p:nvPr/>
        </p:nvSpPr>
        <p:spPr>
          <a:xfrm>
            <a:off x="6949440" y="4133088"/>
            <a:ext cx="4754880" cy="594360"/>
          </a:xfrm>
          <a:prstGeom prst="rect">
            <a:avLst/>
          </a:prstGeom>
          <a:noFill/>
        </p:spPr>
        <p:txBody>
          <a:bodyPr wrap="square">
            <a:spAutoFit/>
          </a:bodyPr>
          <a:lstStyle/>
          <a:p>
            <a:pPr algn="l"/>
            <a:r>
              <a:rPr sz="1100" b="0">
                <a:solidFill>
                  <a:srgbClr val="102A32"/>
                </a:solidFill>
                <a:latin typeface="Calibri"/>
              </a:rPr>
              <a:t>IPA-eligible papers inform meaning and barriers; they do not yield hazard ratios.</a:t>
            </a:r>
          </a:p>
        </p:txBody>
      </p:sp>
      <p:sp>
        <p:nvSpPr>
          <p:cNvPr id="29" name="TextBox 28"/>
          <p:cNvSpPr txBox="1"/>
          <p:nvPr/>
        </p:nvSpPr>
        <p:spPr>
          <a:xfrm>
            <a:off x="457200" y="4754880"/>
            <a:ext cx="3200400" cy="502920"/>
          </a:xfrm>
          <a:prstGeom prst="rect">
            <a:avLst/>
          </a:prstGeom>
          <a:noFill/>
        </p:spPr>
        <p:txBody>
          <a:bodyPr wrap="square">
            <a:spAutoFit/>
          </a:bodyPr>
          <a:lstStyle/>
          <a:p>
            <a:pPr algn="l"/>
            <a:r>
              <a:rPr sz="1300" b="0">
                <a:solidFill>
                  <a:srgbClr val="102A32"/>
                </a:solidFill>
                <a:latin typeface="Calibri"/>
              </a:rPr>
              <a:t>UN / NGO policy guidance</a:t>
            </a:r>
          </a:p>
        </p:txBody>
      </p:sp>
      <p:sp>
        <p:nvSpPr>
          <p:cNvPr id="30" name="TextBox 29"/>
          <p:cNvSpPr txBox="1"/>
          <p:nvPr/>
        </p:nvSpPr>
        <p:spPr>
          <a:xfrm>
            <a:off x="3840480" y="4754880"/>
            <a:ext cx="1828800" cy="502920"/>
          </a:xfrm>
          <a:prstGeom prst="rect">
            <a:avLst/>
          </a:prstGeom>
          <a:noFill/>
        </p:spPr>
        <p:txBody>
          <a:bodyPr wrap="square">
            <a:spAutoFit/>
          </a:bodyPr>
          <a:lstStyle/>
          <a:p>
            <a:pPr algn="l"/>
            <a:r>
              <a:rPr sz="1300" b="1">
                <a:solidFill>
                  <a:srgbClr val="0B3D4A"/>
                </a:solidFill>
                <a:latin typeface="Calibri"/>
              </a:rPr>
              <a:t>Not GRADE-rated</a:t>
            </a:r>
          </a:p>
        </p:txBody>
      </p:sp>
      <p:sp>
        <p:nvSpPr>
          <p:cNvPr id="31" name="TextBox 30"/>
          <p:cNvSpPr txBox="1"/>
          <p:nvPr/>
        </p:nvSpPr>
        <p:spPr>
          <a:xfrm>
            <a:off x="5852160" y="4754880"/>
            <a:ext cx="1097280" cy="502920"/>
          </a:xfrm>
          <a:prstGeom prst="rect">
            <a:avLst/>
          </a:prstGeom>
          <a:noFill/>
        </p:spPr>
        <p:txBody>
          <a:bodyPr wrap="square">
            <a:spAutoFit/>
          </a:bodyPr>
          <a:lstStyle/>
          <a:p>
            <a:pPr algn="l"/>
            <a:r>
              <a:rPr sz="1300" b="0">
                <a:solidFill>
                  <a:srgbClr val="102A32"/>
                </a:solidFill>
                <a:latin typeface="Calibri"/>
              </a:rPr>
              <a:t>41</a:t>
            </a:r>
          </a:p>
        </p:txBody>
      </p:sp>
      <p:sp>
        <p:nvSpPr>
          <p:cNvPr id="32" name="TextBox 31"/>
          <p:cNvSpPr txBox="1"/>
          <p:nvPr/>
        </p:nvSpPr>
        <p:spPr>
          <a:xfrm>
            <a:off x="6949440" y="4754880"/>
            <a:ext cx="4754880" cy="594360"/>
          </a:xfrm>
          <a:prstGeom prst="rect">
            <a:avLst/>
          </a:prstGeom>
          <a:noFill/>
        </p:spPr>
        <p:txBody>
          <a:bodyPr wrap="square">
            <a:spAutoFit/>
          </a:bodyPr>
          <a:lstStyle/>
          <a:p>
            <a:pPr algn="l"/>
            <a:r>
              <a:rPr sz="1100" b="0">
                <a:solidFill>
                  <a:srgbClr val="102A32"/>
                </a:solidFill>
                <a:latin typeface="Calibri"/>
              </a:rPr>
              <a:t>UN/NGO technical packages and fact sheets used for implementation context.</a:t>
            </a:r>
          </a:p>
        </p:txBody>
      </p:sp>
      <p:sp>
        <p:nvSpPr>
          <p:cNvPr id="33" name="TextBox 32"/>
          <p:cNvSpPr txBox="1"/>
          <p:nvPr/>
        </p:nvSpPr>
        <p:spPr>
          <a:xfrm>
            <a:off x="457200" y="5376672"/>
            <a:ext cx="3200400" cy="502920"/>
          </a:xfrm>
          <a:prstGeom prst="rect">
            <a:avLst/>
          </a:prstGeom>
          <a:noFill/>
        </p:spPr>
        <p:txBody>
          <a:bodyPr wrap="square">
            <a:spAutoFit/>
          </a:bodyPr>
          <a:lstStyle/>
          <a:p>
            <a:pPr algn="l"/>
            <a:r>
              <a:rPr sz="1300" b="0">
                <a:solidFill>
                  <a:srgbClr val="102A32"/>
                </a:solidFill>
                <a:latin typeface="Calibri"/>
              </a:rPr>
              <a:t>Other / unclassified</a:t>
            </a:r>
          </a:p>
        </p:txBody>
      </p:sp>
      <p:sp>
        <p:nvSpPr>
          <p:cNvPr id="34" name="TextBox 33"/>
          <p:cNvSpPr txBox="1"/>
          <p:nvPr/>
        </p:nvSpPr>
        <p:spPr>
          <a:xfrm>
            <a:off x="3840480" y="5376672"/>
            <a:ext cx="1828800" cy="502920"/>
          </a:xfrm>
          <a:prstGeom prst="rect">
            <a:avLst/>
          </a:prstGeom>
          <a:noFill/>
        </p:spPr>
        <p:txBody>
          <a:bodyPr wrap="square">
            <a:spAutoFit/>
          </a:bodyPr>
          <a:lstStyle/>
          <a:p>
            <a:pPr algn="l"/>
            <a:r>
              <a:rPr sz="1300" b="1">
                <a:solidFill>
                  <a:srgbClr val="0B3D4A"/>
                </a:solidFill>
                <a:latin typeface="Calibri"/>
              </a:rPr>
              <a:t>Ungraded</a:t>
            </a:r>
          </a:p>
        </p:txBody>
      </p:sp>
      <p:sp>
        <p:nvSpPr>
          <p:cNvPr id="35" name="TextBox 34"/>
          <p:cNvSpPr txBox="1"/>
          <p:nvPr/>
        </p:nvSpPr>
        <p:spPr>
          <a:xfrm>
            <a:off x="5852160" y="5376672"/>
            <a:ext cx="1097280" cy="502920"/>
          </a:xfrm>
          <a:prstGeom prst="rect">
            <a:avLst/>
          </a:prstGeom>
          <a:noFill/>
        </p:spPr>
        <p:txBody>
          <a:bodyPr wrap="square">
            <a:spAutoFit/>
          </a:bodyPr>
          <a:lstStyle/>
          <a:p>
            <a:pPr algn="l"/>
            <a:r>
              <a:rPr sz="1300" b="0">
                <a:solidFill>
                  <a:srgbClr val="102A32"/>
                </a:solidFill>
                <a:latin typeface="Calibri"/>
              </a:rPr>
              <a:t>50</a:t>
            </a:r>
          </a:p>
        </p:txBody>
      </p:sp>
      <p:sp>
        <p:nvSpPr>
          <p:cNvPr id="36" name="TextBox 35"/>
          <p:cNvSpPr txBox="1"/>
          <p:nvPr/>
        </p:nvSpPr>
        <p:spPr>
          <a:xfrm>
            <a:off x="6949440" y="5376672"/>
            <a:ext cx="4754880" cy="594360"/>
          </a:xfrm>
          <a:prstGeom prst="rect">
            <a:avLst/>
          </a:prstGeom>
          <a:noFill/>
        </p:spPr>
        <p:txBody>
          <a:bodyPr wrap="square">
            <a:spAutoFit/>
          </a:bodyPr>
          <a:lstStyle/>
          <a:p>
            <a:pPr algn="l"/>
            <a:r>
              <a:rPr sz="1100" b="0">
                <a:solidFill>
                  <a:srgbClr val="102A32"/>
                </a:solidFill>
                <a:latin typeface="Calibri"/>
              </a:rPr>
              <a:t>Insufficient design markers in the abstract.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972800" cy="320040"/>
          </a:xfrm>
          <a:prstGeom prst="rect">
            <a:avLst/>
          </a:prstGeom>
          <a:noFill/>
        </p:spPr>
        <p:txBody>
          <a:bodyPr wrap="square">
            <a:spAutoFit/>
          </a:bodyPr>
          <a:lstStyle/>
          <a:p>
            <a:pPr algn="l"/>
            <a:r>
              <a:rPr sz="1200" b="1">
                <a:solidFill>
                  <a:srgbClr val="B85C38"/>
                </a:solidFill>
                <a:latin typeface="Calibri"/>
              </a:rPr>
              <a:t>06  GUIDELINES, UN SYSTEM, AND NGOS</a:t>
            </a:r>
          </a:p>
        </p:txBody>
      </p:sp>
      <p:sp>
        <p:nvSpPr>
          <p:cNvPr id="4" name="TextBox 3"/>
          <p:cNvSpPr txBox="1"/>
          <p:nvPr/>
        </p:nvSpPr>
        <p:spPr>
          <a:xfrm>
            <a:off x="457200" y="640080"/>
            <a:ext cx="10972800" cy="365760"/>
          </a:xfrm>
          <a:prstGeom prst="rect">
            <a:avLst/>
          </a:prstGeom>
          <a:noFill/>
        </p:spPr>
        <p:txBody>
          <a:bodyPr wrap="square">
            <a:spAutoFit/>
          </a:bodyPr>
          <a:lstStyle/>
          <a:p>
            <a:pPr algn="l"/>
            <a:r>
              <a:rPr sz="1600" b="0">
                <a:solidFill>
                  <a:srgbClr val="102A32"/>
                </a:solidFill>
                <a:latin typeface="Calibri"/>
              </a:rPr>
              <a:t>International / national guidance and UN-branch pages that returned HTTP 200.</a:t>
            </a:r>
          </a:p>
        </p:txBody>
      </p:sp>
      <p:sp>
        <p:nvSpPr>
          <p:cNvPr id="5" name="TextBox 4"/>
          <p:cNvSpPr txBox="1"/>
          <p:nvPr/>
        </p:nvSpPr>
        <p:spPr>
          <a:xfrm>
            <a:off x="457200" y="1097280"/>
            <a:ext cx="548640" cy="365760"/>
          </a:xfrm>
          <a:prstGeom prst="rect">
            <a:avLst/>
          </a:prstGeom>
          <a:noFill/>
        </p:spPr>
        <p:txBody>
          <a:bodyPr wrap="square">
            <a:spAutoFit/>
          </a:bodyPr>
          <a:lstStyle/>
          <a:p>
            <a:pPr algn="l"/>
            <a:r>
              <a:rPr sz="1300" b="1">
                <a:solidFill>
                  <a:srgbClr val="0B3D4A"/>
                </a:solidFill>
                <a:latin typeface="Calibri"/>
              </a:rPr>
              <a:t>[2]</a:t>
            </a:r>
          </a:p>
        </p:txBody>
      </p:sp>
      <p:sp>
        <p:nvSpPr>
          <p:cNvPr id="6" name="TextBox 5"/>
          <p:cNvSpPr txBox="1"/>
          <p:nvPr/>
        </p:nvSpPr>
        <p:spPr>
          <a:xfrm>
            <a:off x="1097280" y="1097280"/>
            <a:ext cx="8046720" cy="411480"/>
          </a:xfrm>
          <a:prstGeom prst="rect">
            <a:avLst/>
          </a:prstGeom>
          <a:noFill/>
        </p:spPr>
        <p:txBody>
          <a:bodyPr wrap="square">
            <a:spAutoFit/>
          </a:bodyPr>
          <a:lstStyle/>
          <a:p>
            <a:pPr algn="l"/>
            <a:r>
              <a:rPr sz="1300" b="0">
                <a:solidFill>
                  <a:srgbClr val="102A32"/>
                </a:solidFill>
                <a:latin typeface="Calibri"/>
              </a:rPr>
              <a:t>Treatment gaps in guideline-directed medical therapy for HFrEF in Singapore: findings from a multicentre retro</a:t>
            </a:r>
          </a:p>
        </p:txBody>
      </p:sp>
      <p:sp>
        <p:nvSpPr>
          <p:cNvPr id="7" name="TextBox 6"/>
          <p:cNvSpPr txBox="1"/>
          <p:nvPr/>
        </p:nvSpPr>
        <p:spPr>
          <a:xfrm>
            <a:off x="9235440" y="1097280"/>
            <a:ext cx="2560320" cy="411480"/>
          </a:xfrm>
          <a:prstGeom prst="rect">
            <a:avLst/>
          </a:prstGeom>
          <a:noFill/>
        </p:spPr>
        <p:txBody>
          <a:bodyPr wrap="square">
            <a:spAutoFit/>
          </a:bodyPr>
          <a:lstStyle/>
          <a:p>
            <a:pPr algn="l"/>
            <a:r>
              <a:rPr sz="1200" b="0">
                <a:solidFill>
                  <a:srgbClr val="B85C38"/>
                </a:solidFill>
                <a:latin typeface="Calibri"/>
              </a:rPr>
              <a:t>BMJ Open</a:t>
            </a:r>
          </a:p>
        </p:txBody>
      </p:sp>
      <p:sp>
        <p:nvSpPr>
          <p:cNvPr id="8" name="TextBox 7"/>
          <p:cNvSpPr txBox="1"/>
          <p:nvPr/>
        </p:nvSpPr>
        <p:spPr>
          <a:xfrm>
            <a:off x="457200" y="1536192"/>
            <a:ext cx="548640" cy="365760"/>
          </a:xfrm>
          <a:prstGeom prst="rect">
            <a:avLst/>
          </a:prstGeom>
          <a:noFill/>
        </p:spPr>
        <p:txBody>
          <a:bodyPr wrap="square">
            <a:spAutoFit/>
          </a:bodyPr>
          <a:lstStyle/>
          <a:p>
            <a:pPr algn="l"/>
            <a:r>
              <a:rPr sz="1300" b="1">
                <a:solidFill>
                  <a:srgbClr val="0B3D4A"/>
                </a:solidFill>
                <a:latin typeface="Calibri"/>
              </a:rPr>
              <a:t>[3]</a:t>
            </a:r>
          </a:p>
        </p:txBody>
      </p:sp>
      <p:sp>
        <p:nvSpPr>
          <p:cNvPr id="9" name="TextBox 8"/>
          <p:cNvSpPr txBox="1"/>
          <p:nvPr/>
        </p:nvSpPr>
        <p:spPr>
          <a:xfrm>
            <a:off x="1097280" y="1536192"/>
            <a:ext cx="8046720" cy="411480"/>
          </a:xfrm>
          <a:prstGeom prst="rect">
            <a:avLst/>
          </a:prstGeom>
          <a:noFill/>
        </p:spPr>
        <p:txBody>
          <a:bodyPr wrap="square">
            <a:spAutoFit/>
          </a:bodyPr>
          <a:lstStyle/>
          <a:p>
            <a:pPr algn="l"/>
            <a:r>
              <a:rPr sz="1300" b="0">
                <a:solidFill>
                  <a:srgbClr val="102A32"/>
                </a:solidFill>
                <a:latin typeface="Calibri"/>
              </a:rPr>
              <a:t>Rapid Uptitration of Guideline-Directed Medical Therapy for Heart Failure</a:t>
            </a:r>
          </a:p>
        </p:txBody>
      </p:sp>
      <p:sp>
        <p:nvSpPr>
          <p:cNvPr id="10" name="TextBox 9"/>
          <p:cNvSpPr txBox="1"/>
          <p:nvPr/>
        </p:nvSpPr>
        <p:spPr>
          <a:xfrm>
            <a:off x="9235440" y="1536192"/>
            <a:ext cx="2560320" cy="411480"/>
          </a:xfrm>
          <a:prstGeom prst="rect">
            <a:avLst/>
          </a:prstGeom>
          <a:noFill/>
        </p:spPr>
        <p:txBody>
          <a:bodyPr wrap="square">
            <a:spAutoFit/>
          </a:bodyPr>
          <a:lstStyle/>
          <a:p>
            <a:pPr algn="l"/>
            <a:r>
              <a:rPr sz="1200" b="0">
                <a:solidFill>
                  <a:srgbClr val="B85C38"/>
                </a:solidFill>
                <a:latin typeface="Calibri"/>
              </a:rPr>
              <a:t>JACC: Heart Failure</a:t>
            </a:r>
          </a:p>
        </p:txBody>
      </p:sp>
      <p:sp>
        <p:nvSpPr>
          <p:cNvPr id="11" name="TextBox 10"/>
          <p:cNvSpPr txBox="1"/>
          <p:nvPr/>
        </p:nvSpPr>
        <p:spPr>
          <a:xfrm>
            <a:off x="457200" y="1975104"/>
            <a:ext cx="548640" cy="365760"/>
          </a:xfrm>
          <a:prstGeom prst="rect">
            <a:avLst/>
          </a:prstGeom>
          <a:noFill/>
        </p:spPr>
        <p:txBody>
          <a:bodyPr wrap="square">
            <a:spAutoFit/>
          </a:bodyPr>
          <a:lstStyle/>
          <a:p>
            <a:pPr algn="l"/>
            <a:r>
              <a:rPr sz="1300" b="1">
                <a:solidFill>
                  <a:srgbClr val="0B3D4A"/>
                </a:solidFill>
                <a:latin typeface="Calibri"/>
              </a:rPr>
              <a:t>[14]</a:t>
            </a:r>
          </a:p>
        </p:txBody>
      </p:sp>
      <p:sp>
        <p:nvSpPr>
          <p:cNvPr id="12" name="TextBox 11"/>
          <p:cNvSpPr txBox="1"/>
          <p:nvPr/>
        </p:nvSpPr>
        <p:spPr>
          <a:xfrm>
            <a:off x="1097280" y="1975104"/>
            <a:ext cx="8046720" cy="411480"/>
          </a:xfrm>
          <a:prstGeom prst="rect">
            <a:avLst/>
          </a:prstGeom>
          <a:noFill/>
        </p:spPr>
        <p:txBody>
          <a:bodyPr wrap="square">
            <a:spAutoFit/>
          </a:bodyPr>
          <a:lstStyle/>
          <a:p>
            <a:pPr algn="l"/>
            <a:r>
              <a:rPr sz="1300" b="0">
                <a:solidFill>
                  <a:srgbClr val="102A32"/>
                </a:solidFill>
                <a:latin typeface="Calibri"/>
              </a:rPr>
              <a:t>Cardiac Resynchronization and Guideline-Directed Heart Failure Therapy</a:t>
            </a:r>
          </a:p>
        </p:txBody>
      </p:sp>
      <p:sp>
        <p:nvSpPr>
          <p:cNvPr id="13" name="TextBox 12"/>
          <p:cNvSpPr txBox="1"/>
          <p:nvPr/>
        </p:nvSpPr>
        <p:spPr>
          <a:xfrm>
            <a:off x="9235440" y="1975104"/>
            <a:ext cx="2560320" cy="411480"/>
          </a:xfrm>
          <a:prstGeom prst="rect">
            <a:avLst/>
          </a:prstGeom>
          <a:noFill/>
        </p:spPr>
        <p:txBody>
          <a:bodyPr wrap="square">
            <a:spAutoFit/>
          </a:bodyPr>
          <a:lstStyle/>
          <a:p>
            <a:pPr algn="l"/>
            <a:r>
              <a:rPr sz="1200" b="0">
                <a:solidFill>
                  <a:srgbClr val="B85C38"/>
                </a:solidFill>
                <a:latin typeface="Calibri"/>
              </a:rPr>
              <a:t>JACC: Heart Failure</a:t>
            </a:r>
          </a:p>
        </p:txBody>
      </p:sp>
      <p:sp>
        <p:nvSpPr>
          <p:cNvPr id="14" name="TextBox 13"/>
          <p:cNvSpPr txBox="1"/>
          <p:nvPr/>
        </p:nvSpPr>
        <p:spPr>
          <a:xfrm>
            <a:off x="457200" y="2414016"/>
            <a:ext cx="548640" cy="365760"/>
          </a:xfrm>
          <a:prstGeom prst="rect">
            <a:avLst/>
          </a:prstGeom>
          <a:noFill/>
        </p:spPr>
        <p:txBody>
          <a:bodyPr wrap="square">
            <a:spAutoFit/>
          </a:bodyPr>
          <a:lstStyle/>
          <a:p>
            <a:pPr algn="l"/>
            <a:r>
              <a:rPr sz="1300" b="1">
                <a:solidFill>
                  <a:srgbClr val="0B3D4A"/>
                </a:solidFill>
                <a:latin typeface="Calibri"/>
              </a:rPr>
              <a:t>[16]</a:t>
            </a:r>
          </a:p>
        </p:txBody>
      </p:sp>
      <p:sp>
        <p:nvSpPr>
          <p:cNvPr id="15" name="TextBox 14"/>
          <p:cNvSpPr txBox="1"/>
          <p:nvPr/>
        </p:nvSpPr>
        <p:spPr>
          <a:xfrm>
            <a:off x="1097280" y="2414016"/>
            <a:ext cx="8046720" cy="411480"/>
          </a:xfrm>
          <a:prstGeom prst="rect">
            <a:avLst/>
          </a:prstGeom>
          <a:noFill/>
        </p:spPr>
        <p:txBody>
          <a:bodyPr wrap="square">
            <a:spAutoFit/>
          </a:bodyPr>
          <a:lstStyle/>
          <a:p>
            <a:pPr algn="l"/>
            <a:r>
              <a:rPr sz="1300" b="0">
                <a:solidFill>
                  <a:srgbClr val="102A32"/>
                </a:solidFill>
                <a:latin typeface="Calibri"/>
              </a:rPr>
              <a:t>2025 AHA/ACC/AANP/AAPA/ABC/ACCP/ACPM/AGS/AMA/ASPC/NMA/PCNA/SGIM Guideline for the Prevention, Detection, Evalu</a:t>
            </a:r>
          </a:p>
        </p:txBody>
      </p:sp>
      <p:sp>
        <p:nvSpPr>
          <p:cNvPr id="16" name="TextBox 15"/>
          <p:cNvSpPr txBox="1"/>
          <p:nvPr/>
        </p:nvSpPr>
        <p:spPr>
          <a:xfrm>
            <a:off x="9235440" y="2414016"/>
            <a:ext cx="2560320" cy="411480"/>
          </a:xfrm>
          <a:prstGeom prst="rect">
            <a:avLst/>
          </a:prstGeom>
          <a:noFill/>
        </p:spPr>
        <p:txBody>
          <a:bodyPr wrap="square">
            <a:spAutoFit/>
          </a:bodyPr>
          <a:lstStyle/>
          <a:p>
            <a:pPr algn="l"/>
            <a:r>
              <a:rPr sz="1200" b="0">
                <a:solidFill>
                  <a:srgbClr val="B85C38"/>
                </a:solidFill>
                <a:latin typeface="Calibri"/>
              </a:rPr>
              <a:t>American Heart Association</a:t>
            </a:r>
          </a:p>
        </p:txBody>
      </p:sp>
      <p:sp>
        <p:nvSpPr>
          <p:cNvPr id="17" name="TextBox 16"/>
          <p:cNvSpPr txBox="1"/>
          <p:nvPr/>
        </p:nvSpPr>
        <p:spPr>
          <a:xfrm>
            <a:off x="457200" y="2852928"/>
            <a:ext cx="548640" cy="365760"/>
          </a:xfrm>
          <a:prstGeom prst="rect">
            <a:avLst/>
          </a:prstGeom>
          <a:noFill/>
        </p:spPr>
        <p:txBody>
          <a:bodyPr wrap="square">
            <a:spAutoFit/>
          </a:bodyPr>
          <a:lstStyle/>
          <a:p>
            <a:pPr algn="l"/>
            <a:r>
              <a:rPr sz="1300" b="1">
                <a:solidFill>
                  <a:srgbClr val="0B3D4A"/>
                </a:solidFill>
                <a:latin typeface="Calibri"/>
              </a:rPr>
              <a:t>[23]</a:t>
            </a:r>
          </a:p>
        </p:txBody>
      </p:sp>
      <p:sp>
        <p:nvSpPr>
          <p:cNvPr id="18" name="TextBox 17"/>
          <p:cNvSpPr txBox="1"/>
          <p:nvPr/>
        </p:nvSpPr>
        <p:spPr>
          <a:xfrm>
            <a:off x="1097280" y="2852928"/>
            <a:ext cx="8046720" cy="411480"/>
          </a:xfrm>
          <a:prstGeom prst="rect">
            <a:avLst/>
          </a:prstGeom>
          <a:noFill/>
        </p:spPr>
        <p:txBody>
          <a:bodyPr wrap="square">
            <a:spAutoFit/>
          </a:bodyPr>
          <a:lstStyle/>
          <a:p>
            <a:pPr algn="l"/>
            <a:r>
              <a:rPr sz="1300" b="0">
                <a:solidFill>
                  <a:srgbClr val="102A32"/>
                </a:solidFill>
                <a:latin typeface="Calibri"/>
              </a:rPr>
              <a:t>UNICEF — Non-communicable diseases</a:t>
            </a:r>
          </a:p>
        </p:txBody>
      </p:sp>
      <p:sp>
        <p:nvSpPr>
          <p:cNvPr id="19" name="TextBox 18"/>
          <p:cNvSpPr txBox="1"/>
          <p:nvPr/>
        </p:nvSpPr>
        <p:spPr>
          <a:xfrm>
            <a:off x="9235440" y="2852928"/>
            <a:ext cx="2560320" cy="411480"/>
          </a:xfrm>
          <a:prstGeom prst="rect">
            <a:avLst/>
          </a:prstGeom>
          <a:noFill/>
        </p:spPr>
        <p:txBody>
          <a:bodyPr wrap="square">
            <a:spAutoFit/>
          </a:bodyPr>
          <a:lstStyle/>
          <a:p>
            <a:pPr algn="l"/>
            <a:r>
              <a:rPr sz="1200" b="0">
                <a:solidFill>
                  <a:srgbClr val="B85C38"/>
                </a:solidFill>
                <a:latin typeface="Calibri"/>
              </a:rPr>
              <a:t>UNICEF</a:t>
            </a:r>
          </a:p>
        </p:txBody>
      </p:sp>
      <p:sp>
        <p:nvSpPr>
          <p:cNvPr id="20" name="TextBox 19"/>
          <p:cNvSpPr txBox="1"/>
          <p:nvPr/>
        </p:nvSpPr>
        <p:spPr>
          <a:xfrm>
            <a:off x="457200" y="3291840"/>
            <a:ext cx="548640" cy="365760"/>
          </a:xfrm>
          <a:prstGeom prst="rect">
            <a:avLst/>
          </a:prstGeom>
          <a:noFill/>
        </p:spPr>
        <p:txBody>
          <a:bodyPr wrap="square">
            <a:spAutoFit/>
          </a:bodyPr>
          <a:lstStyle/>
          <a:p>
            <a:pPr algn="l"/>
            <a:r>
              <a:rPr sz="1300" b="1">
                <a:solidFill>
                  <a:srgbClr val="0B3D4A"/>
                </a:solidFill>
                <a:latin typeface="Calibri"/>
              </a:rPr>
              <a:t>[35]</a:t>
            </a:r>
          </a:p>
        </p:txBody>
      </p:sp>
      <p:sp>
        <p:nvSpPr>
          <p:cNvPr id="21" name="TextBox 20"/>
          <p:cNvSpPr txBox="1"/>
          <p:nvPr/>
        </p:nvSpPr>
        <p:spPr>
          <a:xfrm>
            <a:off x="1097280" y="3291840"/>
            <a:ext cx="8046720" cy="411480"/>
          </a:xfrm>
          <a:prstGeom prst="rect">
            <a:avLst/>
          </a:prstGeom>
          <a:noFill/>
        </p:spPr>
        <p:txBody>
          <a:bodyPr wrap="square">
            <a:spAutoFit/>
          </a:bodyPr>
          <a:lstStyle/>
          <a:p>
            <a:pPr algn="l"/>
            <a:r>
              <a:rPr sz="1300" b="0">
                <a:solidFill>
                  <a:srgbClr val="102A32"/>
                </a:solidFill>
                <a:latin typeface="Calibri"/>
              </a:rPr>
              <a:t>National Programme for Prevention and Control of NCDs (NPCDCS) — NHM</a:t>
            </a:r>
          </a:p>
        </p:txBody>
      </p:sp>
      <p:sp>
        <p:nvSpPr>
          <p:cNvPr id="22" name="TextBox 21"/>
          <p:cNvSpPr txBox="1"/>
          <p:nvPr/>
        </p:nvSpPr>
        <p:spPr>
          <a:xfrm>
            <a:off x="9235440" y="3291840"/>
            <a:ext cx="2560320" cy="411480"/>
          </a:xfrm>
          <a:prstGeom prst="rect">
            <a:avLst/>
          </a:prstGeom>
          <a:noFill/>
        </p:spPr>
        <p:txBody>
          <a:bodyPr wrap="square">
            <a:spAutoFit/>
          </a:bodyPr>
          <a:lstStyle/>
          <a:p>
            <a:pPr algn="l"/>
            <a:r>
              <a:rPr sz="1200" b="0">
                <a:solidFill>
                  <a:srgbClr val="B85C38"/>
                </a:solidFill>
                <a:latin typeface="Calibri"/>
              </a:rPr>
              <a:t>National Health Mission (India)</a:t>
            </a:r>
          </a:p>
        </p:txBody>
      </p:sp>
      <p:sp>
        <p:nvSpPr>
          <p:cNvPr id="23" name="TextBox 22"/>
          <p:cNvSpPr txBox="1"/>
          <p:nvPr/>
        </p:nvSpPr>
        <p:spPr>
          <a:xfrm>
            <a:off x="457200" y="3730752"/>
            <a:ext cx="548640" cy="365760"/>
          </a:xfrm>
          <a:prstGeom prst="rect">
            <a:avLst/>
          </a:prstGeom>
          <a:noFill/>
        </p:spPr>
        <p:txBody>
          <a:bodyPr wrap="square">
            <a:spAutoFit/>
          </a:bodyPr>
          <a:lstStyle/>
          <a:p>
            <a:pPr algn="l"/>
            <a:r>
              <a:rPr sz="1300" b="1">
                <a:solidFill>
                  <a:srgbClr val="0B3D4A"/>
                </a:solidFill>
                <a:latin typeface="Calibri"/>
              </a:rPr>
              <a:t>[1]</a:t>
            </a:r>
          </a:p>
        </p:txBody>
      </p:sp>
      <p:sp>
        <p:nvSpPr>
          <p:cNvPr id="24" name="TextBox 23"/>
          <p:cNvSpPr txBox="1"/>
          <p:nvPr/>
        </p:nvSpPr>
        <p:spPr>
          <a:xfrm>
            <a:off x="1097280" y="3730752"/>
            <a:ext cx="8046720" cy="411480"/>
          </a:xfrm>
          <a:prstGeom prst="rect">
            <a:avLst/>
          </a:prstGeom>
          <a:noFill/>
        </p:spPr>
        <p:txBody>
          <a:bodyPr wrap="square">
            <a:spAutoFit/>
          </a:bodyPr>
          <a:lstStyle/>
          <a:p>
            <a:pPr algn="l"/>
            <a:r>
              <a:rPr sz="1300" b="0">
                <a:solidFill>
                  <a:srgbClr val="102A32"/>
                </a:solidFill>
                <a:latin typeface="Calibri"/>
              </a:rPr>
              <a:t>WHF Roadmap for Integrated Care in People Living with – or at Risk of – Cardiovascular Disease and Multiple Lo</a:t>
            </a:r>
          </a:p>
        </p:txBody>
      </p:sp>
      <p:sp>
        <p:nvSpPr>
          <p:cNvPr id="25" name="TextBox 24"/>
          <p:cNvSpPr txBox="1"/>
          <p:nvPr/>
        </p:nvSpPr>
        <p:spPr>
          <a:xfrm>
            <a:off x="9235440" y="3730752"/>
            <a:ext cx="2560320" cy="411480"/>
          </a:xfrm>
          <a:prstGeom prst="rect">
            <a:avLst/>
          </a:prstGeom>
          <a:noFill/>
        </p:spPr>
        <p:txBody>
          <a:bodyPr wrap="square">
            <a:spAutoFit/>
          </a:bodyPr>
          <a:lstStyle/>
          <a:p>
            <a:pPr algn="l"/>
            <a:r>
              <a:rPr sz="1200" b="0">
                <a:solidFill>
                  <a:srgbClr val="B85C38"/>
                </a:solidFill>
                <a:latin typeface="Calibri"/>
              </a:rPr>
              <a:t>World Health Organization</a:t>
            </a:r>
          </a:p>
        </p:txBody>
      </p:sp>
      <p:sp>
        <p:nvSpPr>
          <p:cNvPr id="26" name="TextBox 25"/>
          <p:cNvSpPr txBox="1"/>
          <p:nvPr/>
        </p:nvSpPr>
        <p:spPr>
          <a:xfrm>
            <a:off x="457200" y="4169664"/>
            <a:ext cx="548640" cy="365760"/>
          </a:xfrm>
          <a:prstGeom prst="rect">
            <a:avLst/>
          </a:prstGeom>
          <a:noFill/>
        </p:spPr>
        <p:txBody>
          <a:bodyPr wrap="square">
            <a:spAutoFit/>
          </a:bodyPr>
          <a:lstStyle/>
          <a:p>
            <a:pPr algn="l"/>
            <a:r>
              <a:rPr sz="1300" b="1">
                <a:solidFill>
                  <a:srgbClr val="0B3D4A"/>
                </a:solidFill>
                <a:latin typeface="Calibri"/>
              </a:rPr>
              <a:t>[17]</a:t>
            </a:r>
          </a:p>
        </p:txBody>
      </p:sp>
      <p:sp>
        <p:nvSpPr>
          <p:cNvPr id="27" name="TextBox 26"/>
          <p:cNvSpPr txBox="1"/>
          <p:nvPr/>
        </p:nvSpPr>
        <p:spPr>
          <a:xfrm>
            <a:off x="1097280" y="4169664"/>
            <a:ext cx="8046720" cy="411480"/>
          </a:xfrm>
          <a:prstGeom prst="rect">
            <a:avLst/>
          </a:prstGeom>
          <a:noFill/>
        </p:spPr>
        <p:txBody>
          <a:bodyPr wrap="square">
            <a:spAutoFit/>
          </a:bodyPr>
          <a:lstStyle/>
          <a:p>
            <a:pPr algn="l"/>
            <a:r>
              <a:rPr sz="1300" b="0">
                <a:solidFill>
                  <a:srgbClr val="102A32"/>
                </a:solidFill>
                <a:latin typeface="Calibri"/>
              </a:rPr>
              <a:t>WHO NCD department — Surveillance, monitoring and reporting</a:t>
            </a:r>
          </a:p>
        </p:txBody>
      </p:sp>
      <p:sp>
        <p:nvSpPr>
          <p:cNvPr id="28" name="TextBox 27"/>
          <p:cNvSpPr txBox="1"/>
          <p:nvPr/>
        </p:nvSpPr>
        <p:spPr>
          <a:xfrm>
            <a:off x="9235440" y="4169664"/>
            <a:ext cx="2560320" cy="411480"/>
          </a:xfrm>
          <a:prstGeom prst="rect">
            <a:avLst/>
          </a:prstGeom>
          <a:noFill/>
        </p:spPr>
        <p:txBody>
          <a:bodyPr wrap="square">
            <a:spAutoFit/>
          </a:bodyPr>
          <a:lstStyle/>
          <a:p>
            <a:pPr algn="l"/>
            <a:r>
              <a:rPr sz="1200" b="0">
                <a:solidFill>
                  <a:srgbClr val="B85C38"/>
                </a:solidFill>
                <a:latin typeface="Calibri"/>
              </a:rPr>
              <a:t>World Health Organization</a:t>
            </a:r>
          </a:p>
        </p:txBody>
      </p:sp>
      <p:sp>
        <p:nvSpPr>
          <p:cNvPr id="29" name="TextBox 28"/>
          <p:cNvSpPr txBox="1"/>
          <p:nvPr/>
        </p:nvSpPr>
        <p:spPr>
          <a:xfrm>
            <a:off x="457200" y="4608576"/>
            <a:ext cx="548640" cy="365760"/>
          </a:xfrm>
          <a:prstGeom prst="rect">
            <a:avLst/>
          </a:prstGeom>
          <a:noFill/>
        </p:spPr>
        <p:txBody>
          <a:bodyPr wrap="square">
            <a:spAutoFit/>
          </a:bodyPr>
          <a:lstStyle/>
          <a:p>
            <a:pPr algn="l"/>
            <a:r>
              <a:rPr sz="1300" b="1">
                <a:solidFill>
                  <a:srgbClr val="0B3D4A"/>
                </a:solidFill>
                <a:latin typeface="Calibri"/>
              </a:rPr>
              <a:t>[18]</a:t>
            </a:r>
          </a:p>
        </p:txBody>
      </p:sp>
      <p:sp>
        <p:nvSpPr>
          <p:cNvPr id="30" name="TextBox 29"/>
          <p:cNvSpPr txBox="1"/>
          <p:nvPr/>
        </p:nvSpPr>
        <p:spPr>
          <a:xfrm>
            <a:off x="1097280" y="4608576"/>
            <a:ext cx="8046720" cy="411480"/>
          </a:xfrm>
          <a:prstGeom prst="rect">
            <a:avLst/>
          </a:prstGeom>
          <a:noFill/>
        </p:spPr>
        <p:txBody>
          <a:bodyPr wrap="square">
            <a:spAutoFit/>
          </a:bodyPr>
          <a:lstStyle/>
          <a:p>
            <a:pPr algn="l"/>
            <a:r>
              <a:rPr sz="1300" b="0">
                <a:solidFill>
                  <a:srgbClr val="102A32"/>
                </a:solidFill>
                <a:latin typeface="Calibri"/>
              </a:rPr>
              <a:t>WHO Department of Noncommunicable Diseases</a:t>
            </a:r>
          </a:p>
        </p:txBody>
      </p:sp>
      <p:sp>
        <p:nvSpPr>
          <p:cNvPr id="31" name="TextBox 30"/>
          <p:cNvSpPr txBox="1"/>
          <p:nvPr/>
        </p:nvSpPr>
        <p:spPr>
          <a:xfrm>
            <a:off x="9235440" y="4608576"/>
            <a:ext cx="2560320" cy="411480"/>
          </a:xfrm>
          <a:prstGeom prst="rect">
            <a:avLst/>
          </a:prstGeom>
          <a:noFill/>
        </p:spPr>
        <p:txBody>
          <a:bodyPr wrap="square">
            <a:spAutoFit/>
          </a:bodyPr>
          <a:lstStyle/>
          <a:p>
            <a:pPr algn="l"/>
            <a:r>
              <a:rPr sz="1200" b="0">
                <a:solidFill>
                  <a:srgbClr val="B85C38"/>
                </a:solidFill>
                <a:latin typeface="Calibri"/>
              </a:rPr>
              <a:t>World Health Organization</a:t>
            </a:r>
          </a:p>
        </p:txBody>
      </p:sp>
      <p:sp>
        <p:nvSpPr>
          <p:cNvPr id="32" name="TextBox 31"/>
          <p:cNvSpPr txBox="1"/>
          <p:nvPr/>
        </p:nvSpPr>
        <p:spPr>
          <a:xfrm>
            <a:off x="457200" y="5047488"/>
            <a:ext cx="548640" cy="365760"/>
          </a:xfrm>
          <a:prstGeom prst="rect">
            <a:avLst/>
          </a:prstGeom>
          <a:noFill/>
        </p:spPr>
        <p:txBody>
          <a:bodyPr wrap="square">
            <a:spAutoFit/>
          </a:bodyPr>
          <a:lstStyle/>
          <a:p>
            <a:pPr algn="l"/>
            <a:r>
              <a:rPr sz="1300" b="1">
                <a:solidFill>
                  <a:srgbClr val="0B3D4A"/>
                </a:solidFill>
                <a:latin typeface="Calibri"/>
              </a:rPr>
              <a:t>[19]</a:t>
            </a:r>
          </a:p>
        </p:txBody>
      </p:sp>
      <p:sp>
        <p:nvSpPr>
          <p:cNvPr id="33" name="TextBox 32"/>
          <p:cNvSpPr txBox="1"/>
          <p:nvPr/>
        </p:nvSpPr>
        <p:spPr>
          <a:xfrm>
            <a:off x="1097280" y="5047488"/>
            <a:ext cx="8046720" cy="411480"/>
          </a:xfrm>
          <a:prstGeom prst="rect">
            <a:avLst/>
          </a:prstGeom>
          <a:noFill/>
        </p:spPr>
        <p:txBody>
          <a:bodyPr wrap="square">
            <a:spAutoFit/>
          </a:bodyPr>
          <a:lstStyle/>
          <a:p>
            <a:pPr algn="l"/>
            <a:r>
              <a:rPr sz="1300" b="0">
                <a:solidFill>
                  <a:srgbClr val="102A32"/>
                </a:solidFill>
                <a:latin typeface="Calibri"/>
              </a:rPr>
              <a:t>WFP — Ending malnutrition</a:t>
            </a:r>
          </a:p>
        </p:txBody>
      </p:sp>
      <p:sp>
        <p:nvSpPr>
          <p:cNvPr id="34" name="TextBox 33"/>
          <p:cNvSpPr txBox="1"/>
          <p:nvPr/>
        </p:nvSpPr>
        <p:spPr>
          <a:xfrm>
            <a:off x="9235440" y="5047488"/>
            <a:ext cx="2560320" cy="411480"/>
          </a:xfrm>
          <a:prstGeom prst="rect">
            <a:avLst/>
          </a:prstGeom>
          <a:noFill/>
        </p:spPr>
        <p:txBody>
          <a:bodyPr wrap="square">
            <a:spAutoFit/>
          </a:bodyPr>
          <a:lstStyle/>
          <a:p>
            <a:pPr algn="l"/>
            <a:r>
              <a:rPr sz="1200" b="0">
                <a:solidFill>
                  <a:srgbClr val="B85C38"/>
                </a:solidFill>
                <a:latin typeface="Calibri"/>
              </a:rPr>
              <a:t>World Food Programme</a:t>
            </a:r>
          </a:p>
        </p:txBody>
      </p:sp>
      <p:sp>
        <p:nvSpPr>
          <p:cNvPr id="35" name="TextBox 34"/>
          <p:cNvSpPr txBox="1"/>
          <p:nvPr/>
        </p:nvSpPr>
        <p:spPr>
          <a:xfrm>
            <a:off x="457200" y="5486400"/>
            <a:ext cx="548640" cy="365760"/>
          </a:xfrm>
          <a:prstGeom prst="rect">
            <a:avLst/>
          </a:prstGeom>
          <a:noFill/>
        </p:spPr>
        <p:txBody>
          <a:bodyPr wrap="square">
            <a:spAutoFit/>
          </a:bodyPr>
          <a:lstStyle/>
          <a:p>
            <a:pPr algn="l"/>
            <a:r>
              <a:rPr sz="1300" b="1">
                <a:solidFill>
                  <a:srgbClr val="0B3D4A"/>
                </a:solidFill>
                <a:latin typeface="Calibri"/>
              </a:rPr>
              <a:t>[20]</a:t>
            </a:r>
          </a:p>
        </p:txBody>
      </p:sp>
      <p:sp>
        <p:nvSpPr>
          <p:cNvPr id="36" name="TextBox 35"/>
          <p:cNvSpPr txBox="1"/>
          <p:nvPr/>
        </p:nvSpPr>
        <p:spPr>
          <a:xfrm>
            <a:off x="1097280" y="5486400"/>
            <a:ext cx="8046720" cy="411480"/>
          </a:xfrm>
          <a:prstGeom prst="rect">
            <a:avLst/>
          </a:prstGeom>
          <a:noFill/>
        </p:spPr>
        <p:txBody>
          <a:bodyPr wrap="square">
            <a:spAutoFit/>
          </a:bodyPr>
          <a:lstStyle/>
          <a:p>
            <a:pPr algn="l"/>
            <a:r>
              <a:rPr sz="1300" b="0">
                <a:solidFill>
                  <a:srgbClr val="102A32"/>
                </a:solidFill>
                <a:latin typeface="Calibri"/>
              </a:rPr>
              <a:t>UNODC — United Nations Office on Drugs and Crime</a:t>
            </a:r>
          </a:p>
        </p:txBody>
      </p:sp>
      <p:sp>
        <p:nvSpPr>
          <p:cNvPr id="37" name="TextBox 36"/>
          <p:cNvSpPr txBox="1"/>
          <p:nvPr/>
        </p:nvSpPr>
        <p:spPr>
          <a:xfrm>
            <a:off x="9235440" y="5486400"/>
            <a:ext cx="2560320" cy="411480"/>
          </a:xfrm>
          <a:prstGeom prst="rect">
            <a:avLst/>
          </a:prstGeom>
          <a:noFill/>
        </p:spPr>
        <p:txBody>
          <a:bodyPr wrap="square">
            <a:spAutoFit/>
          </a:bodyPr>
          <a:lstStyle/>
          <a:p>
            <a:pPr algn="l"/>
            <a:r>
              <a:rPr sz="1200" b="0">
                <a:solidFill>
                  <a:srgbClr val="B85C38"/>
                </a:solidFill>
                <a:latin typeface="Calibri"/>
              </a:rPr>
              <a:t>UNODC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972800" cy="320040"/>
          </a:xfrm>
          <a:prstGeom prst="rect">
            <a:avLst/>
          </a:prstGeom>
          <a:noFill/>
        </p:spPr>
        <p:txBody>
          <a:bodyPr wrap="square">
            <a:spAutoFit/>
          </a:bodyPr>
          <a:lstStyle/>
          <a:p>
            <a:pPr algn="l"/>
            <a:r>
              <a:rPr sz="1200" b="1">
                <a:solidFill>
                  <a:srgbClr val="B85C38"/>
                </a:solidFill>
                <a:latin typeface="Calibri"/>
              </a:rPr>
              <a:t>07  IPA SUPERORDINATE THEMES</a:t>
            </a:r>
          </a:p>
        </p:txBody>
      </p:sp>
      <p:sp>
        <p:nvSpPr>
          <p:cNvPr id="4" name="TextBox 3"/>
          <p:cNvSpPr txBox="1"/>
          <p:nvPr/>
        </p:nvSpPr>
        <p:spPr>
          <a:xfrm>
            <a:off x="457200" y="640080"/>
            <a:ext cx="10972800" cy="457200"/>
          </a:xfrm>
          <a:prstGeom prst="rect">
            <a:avLst/>
          </a:prstGeom>
          <a:noFill/>
        </p:spPr>
        <p:txBody>
          <a:bodyPr wrap="square">
            <a:spAutoFit/>
          </a:bodyPr>
          <a:lstStyle/>
          <a:p>
            <a:pPr algn="l"/>
            <a:r>
              <a:rPr sz="1500" b="0">
                <a:solidFill>
                  <a:srgbClr val="102A32"/>
                </a:solidFill>
                <a:latin typeface="Calibri"/>
              </a:rPr>
              <a:t>Coded only from qualitative-method papers. RCT abstracts are not treated as interviews.</a:t>
            </a:r>
          </a:p>
        </p:txBody>
      </p:sp>
      <p:sp>
        <p:nvSpPr>
          <p:cNvPr id="5" name="Rounded Rectangle 4"/>
          <p:cNvSpPr/>
          <p:nvPr/>
        </p:nvSpPr>
        <p:spPr>
          <a:xfrm>
            <a:off x="365760" y="1371600"/>
            <a:ext cx="2194560" cy="4754880"/>
          </a:xfrm>
          <a:prstGeom prst="roundRect">
            <a:avLst/>
          </a:prstGeom>
          <a:solidFill>
            <a:srgbClr val="0B3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1554480"/>
            <a:ext cx="1975104" cy="1371600"/>
          </a:xfrm>
          <a:prstGeom prst="rect">
            <a:avLst/>
          </a:prstGeom>
          <a:noFill/>
        </p:spPr>
        <p:txBody>
          <a:bodyPr wrap="square">
            <a:spAutoFit/>
          </a:bodyPr>
          <a:lstStyle/>
          <a:p>
            <a:pPr algn="l"/>
            <a:r>
              <a:rPr sz="1400" b="1">
                <a:solidFill>
                  <a:srgbClr val="C9A227"/>
                </a:solidFill>
                <a:latin typeface="Calibri"/>
              </a:rPr>
              <a:t>Relational care, trust, and family labour</a:t>
            </a:r>
          </a:p>
        </p:txBody>
      </p:sp>
      <p:sp>
        <p:nvSpPr>
          <p:cNvPr id="7" name="TextBox 6"/>
          <p:cNvSpPr txBox="1"/>
          <p:nvPr/>
        </p:nvSpPr>
        <p:spPr>
          <a:xfrm>
            <a:off x="475488" y="3017520"/>
            <a:ext cx="1975104" cy="2194560"/>
          </a:xfrm>
          <a:prstGeom prst="rect">
            <a:avLst/>
          </a:prstGeom>
          <a:noFill/>
        </p:spPr>
        <p:txBody>
          <a:bodyPr wrap="square">
            <a:spAutoFit/>
          </a:bodyPr>
          <a:lstStyle/>
          <a:p>
            <a:pPr algn="l"/>
            <a:r>
              <a:rPr sz="1200" b="0">
                <a:solidFill>
                  <a:srgbClr val="F4EFE4"/>
                </a:solidFill>
                <a:latin typeface="Calibri"/>
              </a:rPr>
              <a:t>How relationships with clinicians and family mediate feeling safe, informed, and cared for.</a:t>
            </a:r>
          </a:p>
        </p:txBody>
      </p:sp>
      <p:sp>
        <p:nvSpPr>
          <p:cNvPr id="8" name="TextBox 7"/>
          <p:cNvSpPr txBox="1"/>
          <p:nvPr/>
        </p:nvSpPr>
        <p:spPr>
          <a:xfrm>
            <a:off x="475488" y="5394960"/>
            <a:ext cx="1975104" cy="457200"/>
          </a:xfrm>
          <a:prstGeom prst="rect">
            <a:avLst/>
          </a:prstGeom>
          <a:noFill/>
        </p:spPr>
        <p:txBody>
          <a:bodyPr wrap="square">
            <a:spAutoFit/>
          </a:bodyPr>
          <a:lstStyle/>
          <a:p>
            <a:pPr algn="l"/>
            <a:r>
              <a:rPr sz="1100" b="0">
                <a:solidFill>
                  <a:srgbClr val="C9A227"/>
                </a:solidFill>
                <a:latin typeface="Calibri"/>
              </a:rPr>
              <a:t>n=5  [97,148,155,160,194]</a:t>
            </a:r>
          </a:p>
        </p:txBody>
      </p:sp>
      <p:sp>
        <p:nvSpPr>
          <p:cNvPr id="9" name="Rounded Rectangle 8"/>
          <p:cNvSpPr/>
          <p:nvPr/>
        </p:nvSpPr>
        <p:spPr>
          <a:xfrm>
            <a:off x="2697479" y="1371600"/>
            <a:ext cx="2194560" cy="4754880"/>
          </a:xfrm>
          <a:prstGeom prst="roundRect">
            <a:avLst/>
          </a:prstGeom>
          <a:solidFill>
            <a:srgbClr val="0B3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07207" y="1554480"/>
            <a:ext cx="1975104" cy="1371600"/>
          </a:xfrm>
          <a:prstGeom prst="rect">
            <a:avLst/>
          </a:prstGeom>
          <a:noFill/>
        </p:spPr>
        <p:txBody>
          <a:bodyPr wrap="square">
            <a:spAutoFit/>
          </a:bodyPr>
          <a:lstStyle/>
          <a:p>
            <a:pPr algn="l"/>
            <a:r>
              <a:rPr sz="1400" b="1">
                <a:solidFill>
                  <a:srgbClr val="C9A227"/>
                </a:solidFill>
                <a:latin typeface="Calibri"/>
              </a:rPr>
              <a:t>Existential uncertainty, fear, and prognosis</a:t>
            </a:r>
          </a:p>
        </p:txBody>
      </p:sp>
      <p:sp>
        <p:nvSpPr>
          <p:cNvPr id="11" name="TextBox 10"/>
          <p:cNvSpPr txBox="1"/>
          <p:nvPr/>
        </p:nvSpPr>
        <p:spPr>
          <a:xfrm>
            <a:off x="2807207" y="3017520"/>
            <a:ext cx="1975104" cy="2194560"/>
          </a:xfrm>
          <a:prstGeom prst="rect">
            <a:avLst/>
          </a:prstGeom>
          <a:noFill/>
        </p:spPr>
        <p:txBody>
          <a:bodyPr wrap="square">
            <a:spAutoFit/>
          </a:bodyPr>
          <a:lstStyle/>
          <a:p>
            <a:pPr algn="l"/>
            <a:r>
              <a:rPr sz="1200" b="0">
                <a:solidFill>
                  <a:srgbClr val="F4EFE4"/>
                </a:solidFill>
                <a:latin typeface="Calibri"/>
              </a:rPr>
              <a:t>The emotional and temporal horizon of living with a serious condition — fear, waiting, and not-knowing.</a:t>
            </a:r>
          </a:p>
        </p:txBody>
      </p:sp>
      <p:sp>
        <p:nvSpPr>
          <p:cNvPr id="12" name="TextBox 11"/>
          <p:cNvSpPr txBox="1"/>
          <p:nvPr/>
        </p:nvSpPr>
        <p:spPr>
          <a:xfrm>
            <a:off x="2807207" y="5394960"/>
            <a:ext cx="1975104" cy="457200"/>
          </a:xfrm>
          <a:prstGeom prst="rect">
            <a:avLst/>
          </a:prstGeom>
          <a:noFill/>
        </p:spPr>
        <p:txBody>
          <a:bodyPr wrap="square">
            <a:spAutoFit/>
          </a:bodyPr>
          <a:lstStyle/>
          <a:p>
            <a:pPr algn="l"/>
            <a:r>
              <a:rPr sz="1100" b="0">
                <a:solidFill>
                  <a:srgbClr val="C9A227"/>
                </a:solidFill>
                <a:latin typeface="Calibri"/>
              </a:rPr>
              <a:t>n=4  [97,155,178,194]</a:t>
            </a:r>
          </a:p>
        </p:txBody>
      </p:sp>
      <p:sp>
        <p:nvSpPr>
          <p:cNvPr id="13" name="Rounded Rectangle 12"/>
          <p:cNvSpPr/>
          <p:nvPr/>
        </p:nvSpPr>
        <p:spPr>
          <a:xfrm>
            <a:off x="5029200" y="1371600"/>
            <a:ext cx="2194560" cy="4754880"/>
          </a:xfrm>
          <a:prstGeom prst="roundRect">
            <a:avLst/>
          </a:prstGeom>
          <a:solidFill>
            <a:srgbClr val="0B3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38928" y="1554480"/>
            <a:ext cx="1975104" cy="1371600"/>
          </a:xfrm>
          <a:prstGeom prst="rect">
            <a:avLst/>
          </a:prstGeom>
          <a:noFill/>
        </p:spPr>
        <p:txBody>
          <a:bodyPr wrap="square">
            <a:spAutoFit/>
          </a:bodyPr>
          <a:lstStyle/>
          <a:p>
            <a:pPr algn="l"/>
            <a:r>
              <a:rPr sz="1400" b="1">
                <a:solidFill>
                  <a:srgbClr val="C9A227"/>
                </a:solidFill>
                <a:latin typeface="Calibri"/>
              </a:rPr>
              <a:t>Corporeal disruption and bodily uncertainty</a:t>
            </a:r>
          </a:p>
        </p:txBody>
      </p:sp>
      <p:sp>
        <p:nvSpPr>
          <p:cNvPr id="15" name="TextBox 14"/>
          <p:cNvSpPr txBox="1"/>
          <p:nvPr/>
        </p:nvSpPr>
        <p:spPr>
          <a:xfrm>
            <a:off x="5138928" y="3017520"/>
            <a:ext cx="1975104" cy="2194560"/>
          </a:xfrm>
          <a:prstGeom prst="rect">
            <a:avLst/>
          </a:prstGeom>
          <a:noFill/>
        </p:spPr>
        <p:txBody>
          <a:bodyPr wrap="square">
            <a:spAutoFit/>
          </a:bodyPr>
          <a:lstStyle/>
          <a:p>
            <a:pPr algn="l"/>
            <a:r>
              <a:rPr sz="1200" b="0">
                <a:solidFill>
                  <a:srgbClr val="F4EFE4"/>
                </a:solidFill>
                <a:latin typeface="Calibri"/>
              </a:rPr>
              <a:t>How the condition is experienced in the body — symptoms, energy, and the sense that the body can no longer be taken for granted.</a:t>
            </a:r>
          </a:p>
        </p:txBody>
      </p:sp>
      <p:sp>
        <p:nvSpPr>
          <p:cNvPr id="16" name="TextBox 15"/>
          <p:cNvSpPr txBox="1"/>
          <p:nvPr/>
        </p:nvSpPr>
        <p:spPr>
          <a:xfrm>
            <a:off x="5138928" y="5394960"/>
            <a:ext cx="1975104" cy="457200"/>
          </a:xfrm>
          <a:prstGeom prst="rect">
            <a:avLst/>
          </a:prstGeom>
          <a:noFill/>
        </p:spPr>
        <p:txBody>
          <a:bodyPr wrap="square">
            <a:spAutoFit/>
          </a:bodyPr>
          <a:lstStyle/>
          <a:p>
            <a:pPr algn="l"/>
            <a:r>
              <a:rPr sz="1100" b="0">
                <a:solidFill>
                  <a:srgbClr val="C9A227"/>
                </a:solidFill>
                <a:latin typeface="Calibri"/>
              </a:rPr>
              <a:t>n=2  [130,157]</a:t>
            </a:r>
          </a:p>
        </p:txBody>
      </p:sp>
      <p:sp>
        <p:nvSpPr>
          <p:cNvPr id="17" name="Rounded Rectangle 16"/>
          <p:cNvSpPr/>
          <p:nvPr/>
        </p:nvSpPr>
        <p:spPr>
          <a:xfrm>
            <a:off x="7360919" y="1371600"/>
            <a:ext cx="2194560" cy="4754880"/>
          </a:xfrm>
          <a:prstGeom prst="roundRect">
            <a:avLst/>
          </a:prstGeom>
          <a:solidFill>
            <a:srgbClr val="0B3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70647" y="1554480"/>
            <a:ext cx="1975104" cy="1371600"/>
          </a:xfrm>
          <a:prstGeom prst="rect">
            <a:avLst/>
          </a:prstGeom>
          <a:noFill/>
        </p:spPr>
        <p:txBody>
          <a:bodyPr wrap="square">
            <a:spAutoFit/>
          </a:bodyPr>
          <a:lstStyle/>
          <a:p>
            <a:pPr algn="l"/>
            <a:r>
              <a:rPr sz="1400" b="1">
                <a:solidFill>
                  <a:srgbClr val="C9A227"/>
                </a:solidFill>
                <a:latin typeface="Calibri"/>
              </a:rPr>
              <a:t>Constrained agency: cost, access, and self-management</a:t>
            </a:r>
          </a:p>
        </p:txBody>
      </p:sp>
      <p:sp>
        <p:nvSpPr>
          <p:cNvPr id="19" name="TextBox 18"/>
          <p:cNvSpPr txBox="1"/>
          <p:nvPr/>
        </p:nvSpPr>
        <p:spPr>
          <a:xfrm>
            <a:off x="7470647" y="3017520"/>
            <a:ext cx="1975104" cy="2194560"/>
          </a:xfrm>
          <a:prstGeom prst="rect">
            <a:avLst/>
          </a:prstGeom>
          <a:noFill/>
        </p:spPr>
        <p:txBody>
          <a:bodyPr wrap="square">
            <a:spAutoFit/>
          </a:bodyPr>
          <a:lstStyle/>
          <a:p>
            <a:pPr algn="l"/>
            <a:r>
              <a:rPr sz="1200" b="0">
                <a:solidFill>
                  <a:srgbClr val="F4EFE4"/>
                </a:solidFill>
                <a:latin typeface="Calibri"/>
              </a:rPr>
              <a:t>How structural constraints (money, medicines, systems) shape what patients and clinicians feel able to do.</a:t>
            </a:r>
          </a:p>
        </p:txBody>
      </p:sp>
      <p:sp>
        <p:nvSpPr>
          <p:cNvPr id="20" name="TextBox 19"/>
          <p:cNvSpPr txBox="1"/>
          <p:nvPr/>
        </p:nvSpPr>
        <p:spPr>
          <a:xfrm>
            <a:off x="7470647" y="5394960"/>
            <a:ext cx="1975104" cy="457200"/>
          </a:xfrm>
          <a:prstGeom prst="rect">
            <a:avLst/>
          </a:prstGeom>
          <a:noFill/>
        </p:spPr>
        <p:txBody>
          <a:bodyPr wrap="square">
            <a:spAutoFit/>
          </a:bodyPr>
          <a:lstStyle/>
          <a:p>
            <a:pPr algn="l"/>
            <a:r>
              <a:rPr sz="1100" b="0">
                <a:solidFill>
                  <a:srgbClr val="C9A227"/>
                </a:solidFill>
                <a:latin typeface="Calibri"/>
              </a:rPr>
              <a:t>n=2  [160,196]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972800" cy="320040"/>
          </a:xfrm>
          <a:prstGeom prst="rect">
            <a:avLst/>
          </a:prstGeom>
          <a:noFill/>
        </p:spPr>
        <p:txBody>
          <a:bodyPr wrap="square">
            <a:spAutoFit/>
          </a:bodyPr>
          <a:lstStyle/>
          <a:p>
            <a:pPr algn="l"/>
            <a:r>
              <a:rPr sz="1200" b="1">
                <a:solidFill>
                  <a:srgbClr val="B85C38"/>
                </a:solidFill>
                <a:latin typeface="Calibri"/>
              </a:rPr>
              <a:t>08  INSIGHTS FOR HFREF (HEART FAILURE WITH REDUCED EJECTION FRACTION), NYHA CLASS II-IV</a:t>
            </a:r>
          </a:p>
        </p:txBody>
      </p:sp>
      <p:sp>
        <p:nvSpPr>
          <p:cNvPr id="4" name="TextBox 3"/>
          <p:cNvSpPr txBox="1"/>
          <p:nvPr/>
        </p:nvSpPr>
        <p:spPr>
          <a:xfrm>
            <a:off x="457200" y="685800"/>
            <a:ext cx="5486400" cy="365760"/>
          </a:xfrm>
          <a:prstGeom prst="rect">
            <a:avLst/>
          </a:prstGeom>
          <a:noFill/>
        </p:spPr>
        <p:txBody>
          <a:bodyPr wrap="square">
            <a:spAutoFit/>
          </a:bodyPr>
          <a:lstStyle/>
          <a:p>
            <a:pPr algn="l"/>
            <a:r>
              <a:rPr sz="1800" b="1">
                <a:solidFill>
                  <a:srgbClr val="0B3D4A"/>
                </a:solidFill>
                <a:latin typeface="Calibri"/>
              </a:rPr>
              <a:t>Prevalent supporting facts / benefits</a:t>
            </a:r>
          </a:p>
        </p:txBody>
      </p:sp>
      <p:sp>
        <p:nvSpPr>
          <p:cNvPr id="5" name="TextBox 4"/>
          <p:cNvSpPr txBox="1"/>
          <p:nvPr/>
        </p:nvSpPr>
        <p:spPr>
          <a:xfrm>
            <a:off x="6400800" y="685800"/>
            <a:ext cx="5303520" cy="365760"/>
          </a:xfrm>
          <a:prstGeom prst="rect">
            <a:avLst/>
          </a:prstGeom>
          <a:noFill/>
        </p:spPr>
        <p:txBody>
          <a:bodyPr wrap="square">
            <a:spAutoFit/>
          </a:bodyPr>
          <a:lstStyle/>
          <a:p>
            <a:pPr algn="l"/>
            <a:r>
              <a:rPr sz="1800" b="1">
                <a:solidFill>
                  <a:srgbClr val="B85C38"/>
                </a:solidFill>
                <a:latin typeface="Calibri"/>
              </a:rPr>
              <a:t>Prevalent barriers</a:t>
            </a:r>
          </a:p>
        </p:txBody>
      </p:sp>
      <p:sp>
        <p:nvSpPr>
          <p:cNvPr id="6" name="TextBox 5"/>
          <p:cNvSpPr txBox="1"/>
          <p:nvPr/>
        </p:nvSpPr>
        <p:spPr>
          <a:xfrm>
            <a:off x="457200" y="1188720"/>
            <a:ext cx="5669280" cy="640080"/>
          </a:xfrm>
          <a:prstGeom prst="rect">
            <a:avLst/>
          </a:prstGeom>
          <a:noFill/>
        </p:spPr>
        <p:txBody>
          <a:bodyPr wrap="square">
            <a:spAutoFit/>
          </a:bodyPr>
          <a:lstStyle/>
          <a:p>
            <a:pPr algn="l"/>
            <a:r>
              <a:rPr sz="1400" b="0">
                <a:solidFill>
                  <a:srgbClr val="102A32"/>
                </a:solidFill>
                <a:latin typeface="Calibri"/>
              </a:rPr>
              <a:t>Symptoms / quality of life (22.0%)  [1,5,6,12,29,41,60,61]</a:t>
            </a:r>
          </a:p>
        </p:txBody>
      </p:sp>
      <p:sp>
        <p:nvSpPr>
          <p:cNvPr id="7" name="TextBox 6"/>
          <p:cNvSpPr txBox="1"/>
          <p:nvPr/>
        </p:nvSpPr>
        <p:spPr>
          <a:xfrm>
            <a:off x="457200" y="1874520"/>
            <a:ext cx="5669280" cy="640080"/>
          </a:xfrm>
          <a:prstGeom prst="rect">
            <a:avLst/>
          </a:prstGeom>
          <a:noFill/>
        </p:spPr>
        <p:txBody>
          <a:bodyPr wrap="square">
            <a:spAutoFit/>
          </a:bodyPr>
          <a:lstStyle/>
          <a:p>
            <a:pPr algn="l"/>
            <a:r>
              <a:rPr sz="1400" b="0">
                <a:solidFill>
                  <a:srgbClr val="102A32"/>
                </a:solidFill>
                <a:latin typeface="Calibri"/>
              </a:rPr>
              <a:t>Mortality or HF hospitalisation benefit (10.7%)  [10,45,82,87,94,106,110,112]</a:t>
            </a:r>
          </a:p>
        </p:txBody>
      </p:sp>
      <p:sp>
        <p:nvSpPr>
          <p:cNvPr id="8" name="TextBox 7"/>
          <p:cNvSpPr txBox="1"/>
          <p:nvPr/>
        </p:nvSpPr>
        <p:spPr>
          <a:xfrm>
            <a:off x="457200" y="2560320"/>
            <a:ext cx="5669280" cy="640080"/>
          </a:xfrm>
          <a:prstGeom prst="rect">
            <a:avLst/>
          </a:prstGeom>
          <a:noFill/>
        </p:spPr>
        <p:txBody>
          <a:bodyPr wrap="square">
            <a:spAutoFit/>
          </a:bodyPr>
          <a:lstStyle/>
          <a:p>
            <a:pPr algn="l"/>
            <a:r>
              <a:rPr sz="1400" b="0">
                <a:solidFill>
                  <a:srgbClr val="102A32"/>
                </a:solidFill>
                <a:latin typeface="Calibri"/>
              </a:rPr>
              <a:t>Guideline-directed foundational therapy (2.8%)  [2,41,61,71,104,105]</a:t>
            </a:r>
          </a:p>
        </p:txBody>
      </p:sp>
      <p:sp>
        <p:nvSpPr>
          <p:cNvPr id="9" name="TextBox 8"/>
          <p:cNvSpPr txBox="1"/>
          <p:nvPr/>
        </p:nvSpPr>
        <p:spPr>
          <a:xfrm>
            <a:off x="457200" y="3246120"/>
            <a:ext cx="5669280" cy="640080"/>
          </a:xfrm>
          <a:prstGeom prst="rect">
            <a:avLst/>
          </a:prstGeom>
          <a:noFill/>
        </p:spPr>
        <p:txBody>
          <a:bodyPr wrap="square">
            <a:spAutoFit/>
          </a:bodyPr>
          <a:lstStyle/>
          <a:p>
            <a:pPr algn="l"/>
            <a:r>
              <a:rPr sz="1400" b="0">
                <a:solidFill>
                  <a:srgbClr val="102A32"/>
                </a:solidFill>
                <a:latin typeface="Calibri"/>
              </a:rPr>
              <a:t>Early / in-hospital initiation (2.3%)  [82,132,157,172,177]</a:t>
            </a:r>
          </a:p>
        </p:txBody>
      </p:sp>
      <p:sp>
        <p:nvSpPr>
          <p:cNvPr id="10" name="TextBox 9"/>
          <p:cNvSpPr txBox="1"/>
          <p:nvPr/>
        </p:nvSpPr>
        <p:spPr>
          <a:xfrm>
            <a:off x="6400800" y="1188720"/>
            <a:ext cx="5303520" cy="640080"/>
          </a:xfrm>
          <a:prstGeom prst="rect">
            <a:avLst/>
          </a:prstGeom>
          <a:noFill/>
        </p:spPr>
        <p:txBody>
          <a:bodyPr wrap="square">
            <a:spAutoFit/>
          </a:bodyPr>
          <a:lstStyle/>
          <a:p>
            <a:pPr algn="l"/>
            <a:r>
              <a:rPr sz="1400" b="0">
                <a:solidFill>
                  <a:srgbClr val="102A32"/>
                </a:solidFill>
                <a:latin typeface="Calibri"/>
              </a:rPr>
              <a:t>Safety: hypotension, renal, electrolytes (7.0%)  [4,13,45,83,104,115,124,125]</a:t>
            </a:r>
          </a:p>
        </p:txBody>
      </p:sp>
      <p:sp>
        <p:nvSpPr>
          <p:cNvPr id="11" name="TextBox 10"/>
          <p:cNvSpPr txBox="1"/>
          <p:nvPr/>
        </p:nvSpPr>
        <p:spPr>
          <a:xfrm>
            <a:off x="6400800" y="1874520"/>
            <a:ext cx="5303520" cy="640080"/>
          </a:xfrm>
          <a:prstGeom prst="rect">
            <a:avLst/>
          </a:prstGeom>
          <a:noFill/>
        </p:spPr>
        <p:txBody>
          <a:bodyPr wrap="square">
            <a:spAutoFit/>
          </a:bodyPr>
          <a:lstStyle/>
          <a:p>
            <a:pPr algn="l"/>
            <a:r>
              <a:rPr sz="1400" b="0">
                <a:solidFill>
                  <a:srgbClr val="102A32"/>
                </a:solidFill>
                <a:latin typeface="Calibri"/>
              </a:rPr>
              <a:t>Cost and access barriers (6.5%)  [21,39,46,53,119,147,162,171]</a:t>
            </a:r>
          </a:p>
        </p:txBody>
      </p:sp>
      <p:sp>
        <p:nvSpPr>
          <p:cNvPr id="12" name="TextBox 11"/>
          <p:cNvSpPr txBox="1"/>
          <p:nvPr/>
        </p:nvSpPr>
        <p:spPr>
          <a:xfrm>
            <a:off x="6400800" y="2560320"/>
            <a:ext cx="5303520" cy="640080"/>
          </a:xfrm>
          <a:prstGeom prst="rect">
            <a:avLst/>
          </a:prstGeom>
          <a:noFill/>
        </p:spPr>
        <p:txBody>
          <a:bodyPr wrap="square">
            <a:spAutoFit/>
          </a:bodyPr>
          <a:lstStyle/>
          <a:p>
            <a:pPr algn="l"/>
            <a:r>
              <a:rPr sz="1400" b="0">
                <a:solidFill>
                  <a:srgbClr val="102A32"/>
                </a:solidFill>
                <a:latin typeface="Calibri"/>
              </a:rPr>
              <a:t>Lived experience and care relationships (5.6%)  [29,37,81,113,130,141,148,155]</a:t>
            </a:r>
          </a:p>
        </p:txBody>
      </p:sp>
      <p:sp>
        <p:nvSpPr>
          <p:cNvPr id="13" name="TextBox 12"/>
          <p:cNvSpPr txBox="1"/>
          <p:nvPr/>
        </p:nvSpPr>
        <p:spPr>
          <a:xfrm>
            <a:off x="6400800" y="3246120"/>
            <a:ext cx="5303520" cy="640080"/>
          </a:xfrm>
          <a:prstGeom prst="rect">
            <a:avLst/>
          </a:prstGeom>
          <a:noFill/>
        </p:spPr>
        <p:txBody>
          <a:bodyPr wrap="square">
            <a:spAutoFit/>
          </a:bodyPr>
          <a:lstStyle/>
          <a:p>
            <a:pPr algn="l"/>
            <a:r>
              <a:rPr sz="1400" b="0">
                <a:solidFill>
                  <a:srgbClr val="102A32"/>
                </a:solidFill>
                <a:latin typeface="Calibri"/>
              </a:rPr>
              <a:t>Implementation gap / clinical inertia (1.9%)  [2,61,177,178]</a:t>
            </a:r>
          </a:p>
        </p:txBody>
      </p:sp>
      <p:sp>
        <p:nvSpPr>
          <p:cNvPr id="14" name="TextBox 13"/>
          <p:cNvSpPr txBox="1"/>
          <p:nvPr/>
        </p:nvSpPr>
        <p:spPr>
          <a:xfrm>
            <a:off x="457200" y="5120640"/>
            <a:ext cx="11155680" cy="1280160"/>
          </a:xfrm>
          <a:prstGeom prst="rect">
            <a:avLst/>
          </a:prstGeom>
          <a:noFill/>
        </p:spPr>
        <p:txBody>
          <a:bodyPr wrap="square">
            <a:spAutoFit/>
          </a:bodyPr>
          <a:lstStyle/>
          <a:p>
            <a:pPr algn="l"/>
            <a:r>
              <a:rPr sz="1300" b="0">
                <a:solidFill>
                  <a:srgbClr val="B85C38"/>
                </a:solidFill>
                <a:latin typeface="Calibri"/>
              </a:rPr>
              <a:t>Gaps: None flagged.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3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972800" cy="320040"/>
          </a:xfrm>
          <a:prstGeom prst="rect">
            <a:avLst/>
          </a:prstGeom>
          <a:noFill/>
        </p:spPr>
        <p:txBody>
          <a:bodyPr wrap="square">
            <a:spAutoFit/>
          </a:bodyPr>
          <a:lstStyle/>
          <a:p>
            <a:pPr algn="l"/>
            <a:r>
              <a:rPr sz="1200" b="1">
                <a:solidFill>
                  <a:srgbClr val="C9A227"/>
                </a:solidFill>
                <a:latin typeface="Calibri"/>
              </a:rPr>
              <a:t>09  DROP-IN SEQUENCE FOR A CAMPAIGN EVIDENCE SECTION</a:t>
            </a:r>
          </a:p>
        </p:txBody>
      </p:sp>
      <p:sp>
        <p:nvSpPr>
          <p:cNvPr id="4" name="TextBox 3"/>
          <p:cNvSpPr txBox="1"/>
          <p:nvPr/>
        </p:nvSpPr>
        <p:spPr>
          <a:xfrm>
            <a:off x="548640" y="1097280"/>
            <a:ext cx="10972800" cy="640080"/>
          </a:xfrm>
          <a:prstGeom prst="rect">
            <a:avLst/>
          </a:prstGeom>
          <a:noFill/>
        </p:spPr>
        <p:txBody>
          <a:bodyPr wrap="square">
            <a:spAutoFit/>
          </a:bodyPr>
          <a:lstStyle/>
          <a:p>
            <a:pPr algn="l"/>
            <a:r>
              <a:rPr sz="2000" b="0">
                <a:solidFill>
                  <a:srgbClr val="F4EFE4"/>
                </a:solidFill>
                <a:latin typeface="Calibri"/>
              </a:rPr>
              <a:t>1.  Open with PRISMA counts and the anti-hallucination contract.</a:t>
            </a:r>
          </a:p>
        </p:txBody>
      </p:sp>
      <p:sp>
        <p:nvSpPr>
          <p:cNvPr id="5" name="TextBox 4"/>
          <p:cNvSpPr txBox="1"/>
          <p:nvPr/>
        </p:nvSpPr>
        <p:spPr>
          <a:xfrm>
            <a:off x="548640" y="1874520"/>
            <a:ext cx="10972800" cy="640080"/>
          </a:xfrm>
          <a:prstGeom prst="rect">
            <a:avLst/>
          </a:prstGeom>
          <a:noFill/>
        </p:spPr>
        <p:txBody>
          <a:bodyPr wrap="square">
            <a:spAutoFit/>
          </a:bodyPr>
          <a:lstStyle/>
          <a:p>
            <a:pPr algn="l"/>
            <a:r>
              <a:rPr sz="2000" b="0">
                <a:solidFill>
                  <a:srgbClr val="F4EFE4"/>
                </a:solidFill>
                <a:latin typeface="Calibri"/>
              </a:rPr>
              <a:t>2.  Show frequency bars as what the literature repeatedly supports.</a:t>
            </a:r>
          </a:p>
        </p:txBody>
      </p:sp>
      <p:sp>
        <p:nvSpPr>
          <p:cNvPr id="6" name="TextBox 5"/>
          <p:cNvSpPr txBox="1"/>
          <p:nvPr/>
        </p:nvSpPr>
        <p:spPr>
          <a:xfrm>
            <a:off x="548640" y="2651760"/>
            <a:ext cx="10972800" cy="640080"/>
          </a:xfrm>
          <a:prstGeom prst="rect">
            <a:avLst/>
          </a:prstGeom>
          <a:noFill/>
        </p:spPr>
        <p:txBody>
          <a:bodyPr wrap="square">
            <a:spAutoFit/>
          </a:bodyPr>
          <a:lstStyle/>
          <a:p>
            <a:pPr algn="l"/>
            <a:r>
              <a:rPr sz="2000" b="0">
                <a:solidFill>
                  <a:srgbClr val="F4EFE4"/>
                </a:solidFill>
                <a:latin typeface="Calibri"/>
              </a:rPr>
              <a:t>3.  Place the forest plot beside guideline Class/level language.</a:t>
            </a:r>
          </a:p>
        </p:txBody>
      </p:sp>
      <p:sp>
        <p:nvSpPr>
          <p:cNvPr id="7" name="TextBox 6"/>
          <p:cNvSpPr txBox="1"/>
          <p:nvPr/>
        </p:nvSpPr>
        <p:spPr>
          <a:xfrm>
            <a:off x="548640" y="3429000"/>
            <a:ext cx="10972800" cy="640080"/>
          </a:xfrm>
          <a:prstGeom prst="rect">
            <a:avLst/>
          </a:prstGeom>
          <a:noFill/>
        </p:spPr>
        <p:txBody>
          <a:bodyPr wrap="square">
            <a:spAutoFit/>
          </a:bodyPr>
          <a:lstStyle/>
          <a:p>
            <a:pPr algn="l"/>
            <a:r>
              <a:rPr sz="2000" b="0">
                <a:solidFill>
                  <a:srgbClr val="F4EFE4"/>
                </a:solidFill>
                <a:latin typeface="Calibri"/>
              </a:rPr>
              <a:t>4.  Brief creative and medical with IPA themes — not slogans.</a:t>
            </a:r>
          </a:p>
        </p:txBody>
      </p:sp>
      <p:sp>
        <p:nvSpPr>
          <p:cNvPr id="8" name="TextBox 7"/>
          <p:cNvSpPr txBox="1"/>
          <p:nvPr/>
        </p:nvSpPr>
        <p:spPr>
          <a:xfrm>
            <a:off x="548640" y="4206240"/>
            <a:ext cx="10972800" cy="640080"/>
          </a:xfrm>
          <a:prstGeom prst="rect">
            <a:avLst/>
          </a:prstGeom>
          <a:noFill/>
        </p:spPr>
        <p:txBody>
          <a:bodyPr wrap="square">
            <a:spAutoFit/>
          </a:bodyPr>
          <a:lstStyle/>
          <a:p>
            <a:pPr algn="l"/>
            <a:r>
              <a:rPr sz="2000" b="0">
                <a:solidFill>
                  <a:srgbClr val="F4EFE4"/>
                </a:solidFill>
                <a:latin typeface="Calibri"/>
              </a:rPr>
              <a:t>5.  Keep the numbered reference list attached; every chip has a URL/DOI.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972800" cy="320040"/>
          </a:xfrm>
          <a:prstGeom prst="rect">
            <a:avLst/>
          </a:prstGeom>
          <a:noFill/>
        </p:spPr>
        <p:txBody>
          <a:bodyPr wrap="square">
            <a:spAutoFit/>
          </a:bodyPr>
          <a:lstStyle/>
          <a:p>
            <a:pPr algn="l"/>
            <a:r>
              <a:rPr sz="1200" b="1">
                <a:solidFill>
                  <a:srgbClr val="B85C38"/>
                </a:solidFill>
                <a:latin typeface="Calibri"/>
              </a:rPr>
              <a:t>10.1  NUMBERED, REGISTRY-VALIDATED REFERENCES</a:t>
            </a:r>
          </a:p>
        </p:txBody>
      </p:sp>
      <p:sp>
        <p:nvSpPr>
          <p:cNvPr id="4" name="TextBox 3"/>
          <p:cNvSpPr txBox="1"/>
          <p:nvPr/>
        </p:nvSpPr>
        <p:spPr>
          <a:xfrm>
            <a:off x="411480" y="685800"/>
            <a:ext cx="11338560" cy="685800"/>
          </a:xfrm>
          <a:prstGeom prst="rect">
            <a:avLst/>
          </a:prstGeom>
          <a:noFill/>
        </p:spPr>
        <p:txBody>
          <a:bodyPr wrap="square">
            <a:spAutoFit/>
          </a:bodyPr>
          <a:lstStyle/>
          <a:p>
            <a:pPr algn="l"/>
            <a:r>
              <a:rPr sz="1200" b="0">
                <a:solidFill>
                  <a:srgbClr val="102A32"/>
                </a:solidFill>
                <a:latin typeface="Calibri"/>
              </a:rPr>
              <a:t>[1] Laurence Sperling, Vilma Irazola, Jackie Partarrieu et al. (2026). WHF Roadmap for Integrated Care in People Living with – or at Risk of – Cardiovascular Disease and Multiple Long-Term Conditions. Global Heart. https://doi.org/10.5334/gh.1541</a:t>
            </a:r>
          </a:p>
        </p:txBody>
      </p:sp>
      <p:sp>
        <p:nvSpPr>
          <p:cNvPr id="5" name="TextBox 4"/>
          <p:cNvSpPr txBox="1"/>
          <p:nvPr/>
        </p:nvSpPr>
        <p:spPr>
          <a:xfrm>
            <a:off x="411480" y="1399032"/>
            <a:ext cx="11338560" cy="685800"/>
          </a:xfrm>
          <a:prstGeom prst="rect">
            <a:avLst/>
          </a:prstGeom>
          <a:noFill/>
        </p:spPr>
        <p:txBody>
          <a:bodyPr wrap="square">
            <a:spAutoFit/>
          </a:bodyPr>
          <a:lstStyle/>
          <a:p>
            <a:pPr algn="l"/>
            <a:r>
              <a:rPr sz="1200" b="0">
                <a:solidFill>
                  <a:srgbClr val="102A32"/>
                </a:solidFill>
                <a:latin typeface="Calibri"/>
              </a:rPr>
              <a:t>[2] Sameera Senanayake, Audry Shan Yin Lee, Nicholas Graves et al. (2026). Treatment gaps in guideline-directed medical therapy for HFrEF in Singapore: findings from a multicentre retrospective cohort study. BMJ Open. https://doi.org/10.1136/bmjopen-2025-107127</a:t>
            </a:r>
          </a:p>
        </p:txBody>
      </p:sp>
      <p:sp>
        <p:nvSpPr>
          <p:cNvPr id="6" name="TextBox 5"/>
          <p:cNvSpPr txBox="1"/>
          <p:nvPr/>
        </p:nvSpPr>
        <p:spPr>
          <a:xfrm>
            <a:off x="411480" y="2112264"/>
            <a:ext cx="11338560" cy="685800"/>
          </a:xfrm>
          <a:prstGeom prst="rect">
            <a:avLst/>
          </a:prstGeom>
          <a:noFill/>
        </p:spPr>
        <p:txBody>
          <a:bodyPr wrap="square">
            <a:spAutoFit/>
          </a:bodyPr>
          <a:lstStyle/>
          <a:p>
            <a:pPr algn="l"/>
            <a:r>
              <a:rPr sz="1200" b="0">
                <a:solidFill>
                  <a:srgbClr val="102A32"/>
                </a:solidFill>
                <a:latin typeface="Calibri"/>
              </a:rPr>
              <a:t>[3] Prateeti Khazanie, Savitri E. Fedson (2026). Rapid Uptitration of Guideline-Directed Medical Therapy for Heart Failure. JACC: Heart Failure. https://doi.org/10.1016/j.jchf.2025.102730</a:t>
            </a:r>
          </a:p>
        </p:txBody>
      </p:sp>
      <p:sp>
        <p:nvSpPr>
          <p:cNvPr id="7" name="TextBox 6"/>
          <p:cNvSpPr txBox="1"/>
          <p:nvPr/>
        </p:nvSpPr>
        <p:spPr>
          <a:xfrm>
            <a:off x="411480" y="2825496"/>
            <a:ext cx="11338560" cy="685800"/>
          </a:xfrm>
          <a:prstGeom prst="rect">
            <a:avLst/>
          </a:prstGeom>
          <a:noFill/>
        </p:spPr>
        <p:txBody>
          <a:bodyPr wrap="square">
            <a:spAutoFit/>
          </a:bodyPr>
          <a:lstStyle/>
          <a:p>
            <a:pPr algn="l"/>
            <a:r>
              <a:rPr sz="1200" b="0">
                <a:solidFill>
                  <a:srgbClr val="102A32"/>
                </a:solidFill>
                <a:latin typeface="Calibri"/>
              </a:rPr>
              <a:t>[4] Prashant Kumthekar, Mihir Upadhyay, Sunil Mirajkar et al. (2026). A Phase III, Randomized, Open Label, Active Controlled, Prospective, Parallel Group, Comparative, Multicentric Clinical Study to Evaluate the Efficacy, Safety and Tolerability of Fixed Dose Combination of Dapagliflozin and Sacubitril/Valsartan Tablet</a:t>
            </a:r>
          </a:p>
        </p:txBody>
      </p:sp>
      <p:sp>
        <p:nvSpPr>
          <p:cNvPr id="8" name="TextBox 7"/>
          <p:cNvSpPr txBox="1"/>
          <p:nvPr/>
        </p:nvSpPr>
        <p:spPr>
          <a:xfrm>
            <a:off x="411480" y="3538728"/>
            <a:ext cx="11338560" cy="685800"/>
          </a:xfrm>
          <a:prstGeom prst="rect">
            <a:avLst/>
          </a:prstGeom>
          <a:noFill/>
        </p:spPr>
        <p:txBody>
          <a:bodyPr wrap="square">
            <a:spAutoFit/>
          </a:bodyPr>
          <a:lstStyle/>
          <a:p>
            <a:pPr algn="l"/>
            <a:r>
              <a:rPr sz="1200" b="0">
                <a:solidFill>
                  <a:srgbClr val="102A32"/>
                </a:solidFill>
                <a:latin typeface="Calibri"/>
              </a:rPr>
              <a:t>[5] Milton Packer, Michael R. Zile, Christopher M. Kramer et al. (2025). Tirzepatide for Heart Failure with Preserved Ejection Fraction and Obesity. New England Journal of Medicine. https://doi.org/10.1056/nejmoa2410027</a:t>
            </a:r>
          </a:p>
        </p:txBody>
      </p:sp>
      <p:sp>
        <p:nvSpPr>
          <p:cNvPr id="9" name="TextBox 8"/>
          <p:cNvSpPr txBox="1"/>
          <p:nvPr/>
        </p:nvSpPr>
        <p:spPr>
          <a:xfrm>
            <a:off x="411480" y="4251960"/>
            <a:ext cx="11338560" cy="685800"/>
          </a:xfrm>
          <a:prstGeom prst="rect">
            <a:avLst/>
          </a:prstGeom>
          <a:noFill/>
        </p:spPr>
        <p:txBody>
          <a:bodyPr wrap="square">
            <a:spAutoFit/>
          </a:bodyPr>
          <a:lstStyle/>
          <a:p>
            <a:pPr algn="l"/>
            <a:r>
              <a:rPr sz="1200" b="0">
                <a:solidFill>
                  <a:srgbClr val="102A32"/>
                </a:solidFill>
                <a:latin typeface="Calibri"/>
              </a:rPr>
              <a:t>[6] Philippe Meyer, Angela Rocca, Jaume Banus et al. (2025). The HeartMagic prospective observational study protocol – characterizing subtypes of heart failure with preserved ejection fraction. Indexed journal. https://doi.org/10.1101/2025.04.10.25325567</a:t>
            </a:r>
          </a:p>
        </p:txBody>
      </p:sp>
      <p:sp>
        <p:nvSpPr>
          <p:cNvPr id="10" name="TextBox 9"/>
          <p:cNvSpPr txBox="1"/>
          <p:nvPr/>
        </p:nvSpPr>
        <p:spPr>
          <a:xfrm>
            <a:off x="411480" y="4965192"/>
            <a:ext cx="11338560" cy="685800"/>
          </a:xfrm>
          <a:prstGeom prst="rect">
            <a:avLst/>
          </a:prstGeom>
          <a:noFill/>
        </p:spPr>
        <p:txBody>
          <a:bodyPr wrap="square">
            <a:spAutoFit/>
          </a:bodyPr>
          <a:lstStyle/>
          <a:p>
            <a:pPr algn="l"/>
            <a:r>
              <a:rPr sz="1200" b="0">
                <a:solidFill>
                  <a:srgbClr val="102A32"/>
                </a:solidFill>
                <a:latin typeface="Calibri"/>
              </a:rPr>
              <a:t>[7] Masab Mansoor (2025). The Cardiovascular Physiology of Glucagon-like Peptide-1 Receptor Agonists: From Macro-level Outcomes to Micro-level Mechanisms. Indexed journal. https://doi.org/10.20944/preprints202507.1487.v1</a:t>
            </a:r>
          </a:p>
        </p:txBody>
      </p:sp>
      <p:sp>
        <p:nvSpPr>
          <p:cNvPr id="11" name="TextBox 10"/>
          <p:cNvSpPr txBox="1"/>
          <p:nvPr/>
        </p:nvSpPr>
        <p:spPr>
          <a:xfrm>
            <a:off x="411480" y="5678424"/>
            <a:ext cx="11338560" cy="685800"/>
          </a:xfrm>
          <a:prstGeom prst="rect">
            <a:avLst/>
          </a:prstGeom>
          <a:noFill/>
        </p:spPr>
        <p:txBody>
          <a:bodyPr wrap="square">
            <a:spAutoFit/>
          </a:bodyPr>
          <a:lstStyle/>
          <a:p>
            <a:pPr algn="l"/>
            <a:r>
              <a:rPr sz="1200" b="0">
                <a:solidFill>
                  <a:srgbClr val="102A32"/>
                </a:solidFill>
                <a:latin typeface="Calibri"/>
              </a:rPr>
              <a:t>[8] Diana Gabriela Ilaș, Sebastian Ciurescu (2025). Systematic Review and Meta‑Analysis of Circulating Biomarkers in Chronic Heart Failure v1. Indexed journal. https://doi.org/10.17504/protocols.io.dm6gpmwnpgzp/v1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972800" cy="320040"/>
          </a:xfrm>
          <a:prstGeom prst="rect">
            <a:avLst/>
          </a:prstGeom>
          <a:noFill/>
        </p:spPr>
        <p:txBody>
          <a:bodyPr wrap="square">
            <a:spAutoFit/>
          </a:bodyPr>
          <a:lstStyle/>
          <a:p>
            <a:pPr algn="l"/>
            <a:r>
              <a:rPr sz="1200" b="1">
                <a:solidFill>
                  <a:srgbClr val="B85C38"/>
                </a:solidFill>
                <a:latin typeface="Calibri"/>
              </a:rPr>
              <a:t>10.2  NUMBERED, REGISTRY-VALIDATED REFERENCES</a:t>
            </a:r>
          </a:p>
        </p:txBody>
      </p:sp>
      <p:sp>
        <p:nvSpPr>
          <p:cNvPr id="4" name="TextBox 3"/>
          <p:cNvSpPr txBox="1"/>
          <p:nvPr/>
        </p:nvSpPr>
        <p:spPr>
          <a:xfrm>
            <a:off x="411480" y="685800"/>
            <a:ext cx="11338560" cy="685800"/>
          </a:xfrm>
          <a:prstGeom prst="rect">
            <a:avLst/>
          </a:prstGeom>
          <a:noFill/>
        </p:spPr>
        <p:txBody>
          <a:bodyPr wrap="square">
            <a:spAutoFit/>
          </a:bodyPr>
          <a:lstStyle/>
          <a:p>
            <a:pPr algn="l"/>
            <a:r>
              <a:rPr sz="1200" b="0">
                <a:solidFill>
                  <a:srgbClr val="102A32"/>
                </a:solidFill>
                <a:latin typeface="Calibri"/>
              </a:rPr>
              <a:t>[9] Elnaz Ghajar-Rahimi, Pierre Sicard, Laura Castel et al. (2025). Simplified and refined murine model of reversible aortic constriction for characterizing cardiac functional recovery. Indexed journal. https://doi.org/10.1101/2025.04.05.646758</a:t>
            </a:r>
          </a:p>
        </p:txBody>
      </p:sp>
      <p:sp>
        <p:nvSpPr>
          <p:cNvPr id="5" name="TextBox 4"/>
          <p:cNvSpPr txBox="1"/>
          <p:nvPr/>
        </p:nvSpPr>
        <p:spPr>
          <a:xfrm>
            <a:off x="411480" y="1399032"/>
            <a:ext cx="11338560" cy="685800"/>
          </a:xfrm>
          <a:prstGeom prst="rect">
            <a:avLst/>
          </a:prstGeom>
          <a:noFill/>
        </p:spPr>
        <p:txBody>
          <a:bodyPr wrap="square">
            <a:spAutoFit/>
          </a:bodyPr>
          <a:lstStyle/>
          <a:p>
            <a:pPr algn="l"/>
            <a:r>
              <a:rPr sz="1200" b="0">
                <a:solidFill>
                  <a:srgbClr val="102A32"/>
                </a:solidFill>
                <a:latin typeface="Calibri"/>
              </a:rPr>
              <a:t>[10] Christian Basile, Stefan D. Anker, Gianluigi Savarese (2025). Sex-based differences in characteristics, management, and outcomes in heart failure with reduced ejection fraction. Global Cardiology. https://doi.org/10.4081/cardio.2025.73</a:t>
            </a:r>
          </a:p>
        </p:txBody>
      </p:sp>
      <p:sp>
        <p:nvSpPr>
          <p:cNvPr id="6" name="TextBox 5"/>
          <p:cNvSpPr txBox="1"/>
          <p:nvPr/>
        </p:nvSpPr>
        <p:spPr>
          <a:xfrm>
            <a:off x="411480" y="2112264"/>
            <a:ext cx="11338560" cy="685800"/>
          </a:xfrm>
          <a:prstGeom prst="rect">
            <a:avLst/>
          </a:prstGeom>
          <a:noFill/>
        </p:spPr>
        <p:txBody>
          <a:bodyPr wrap="square">
            <a:spAutoFit/>
          </a:bodyPr>
          <a:lstStyle/>
          <a:p>
            <a:pPr algn="l"/>
            <a:r>
              <a:rPr sz="1200" b="0">
                <a:solidFill>
                  <a:srgbClr val="102A32"/>
                </a:solidFill>
                <a:latin typeface="Calibri"/>
              </a:rPr>
              <a:t>[11]  (2025). Review for "Comparative Effectiveness of Pharmacotherapy for Heart Failure with Preserved Ejection Fraction: A Systematic Review and Network Meta-Analysis". Indexed journal. https://doi.org/10.1111/dom.70503/v1/review1</a:t>
            </a:r>
          </a:p>
        </p:txBody>
      </p:sp>
      <p:sp>
        <p:nvSpPr>
          <p:cNvPr id="7" name="TextBox 6"/>
          <p:cNvSpPr txBox="1"/>
          <p:nvPr/>
        </p:nvSpPr>
        <p:spPr>
          <a:xfrm>
            <a:off x="411480" y="2825496"/>
            <a:ext cx="11338560" cy="685800"/>
          </a:xfrm>
          <a:prstGeom prst="rect">
            <a:avLst/>
          </a:prstGeom>
          <a:noFill/>
        </p:spPr>
        <p:txBody>
          <a:bodyPr wrap="square">
            <a:spAutoFit/>
          </a:bodyPr>
          <a:lstStyle/>
          <a:p>
            <a:pPr algn="l"/>
            <a:r>
              <a:rPr sz="1200" b="0">
                <a:solidFill>
                  <a:srgbClr val="102A32"/>
                </a:solidFill>
                <a:latin typeface="Calibri"/>
              </a:rPr>
              <a:t>[12] Yingjie Li, Xiaoyun Xiong, Huiwen Wang et al. (2025). Positive Psychological Experiences in Chronic Heart Failure: A Qualitative Meta‐Synthesis. Journal of Advanced Nursing. https://doi.org/10.1111/jan.16824</a:t>
            </a:r>
          </a:p>
        </p:txBody>
      </p:sp>
      <p:sp>
        <p:nvSpPr>
          <p:cNvPr id="8" name="TextBox 7"/>
          <p:cNvSpPr txBox="1"/>
          <p:nvPr/>
        </p:nvSpPr>
        <p:spPr>
          <a:xfrm>
            <a:off x="411480" y="3538728"/>
            <a:ext cx="11338560" cy="685800"/>
          </a:xfrm>
          <a:prstGeom prst="rect">
            <a:avLst/>
          </a:prstGeom>
          <a:noFill/>
        </p:spPr>
        <p:txBody>
          <a:bodyPr wrap="square">
            <a:spAutoFit/>
          </a:bodyPr>
          <a:lstStyle/>
          <a:p>
            <a:pPr algn="l"/>
            <a:r>
              <a:rPr sz="1200" b="0">
                <a:solidFill>
                  <a:srgbClr val="102A32"/>
                </a:solidFill>
                <a:latin typeface="Calibri"/>
              </a:rPr>
              <a:t>[13] Antonio Cannatà, Gianluca Anastasia, Vincenzo De Marzo et al. (2025). Diuretic strategies in acute heart failure: a systematic review and network meta-analysis of randomized clinical trials. European Heart Journal - Cardiovascular Pharmacotherapy. https://doi.org/10.1093/ehjcvp/pvaf067</a:t>
            </a:r>
          </a:p>
        </p:txBody>
      </p:sp>
      <p:sp>
        <p:nvSpPr>
          <p:cNvPr id="9" name="TextBox 8"/>
          <p:cNvSpPr txBox="1"/>
          <p:nvPr/>
        </p:nvSpPr>
        <p:spPr>
          <a:xfrm>
            <a:off x="411480" y="4251960"/>
            <a:ext cx="11338560" cy="685800"/>
          </a:xfrm>
          <a:prstGeom prst="rect">
            <a:avLst/>
          </a:prstGeom>
          <a:noFill/>
        </p:spPr>
        <p:txBody>
          <a:bodyPr wrap="square">
            <a:spAutoFit/>
          </a:bodyPr>
          <a:lstStyle/>
          <a:p>
            <a:pPr algn="l"/>
            <a:r>
              <a:rPr sz="1200" b="0">
                <a:solidFill>
                  <a:srgbClr val="102A32"/>
                </a:solidFill>
                <a:latin typeface="Calibri"/>
              </a:rPr>
              <a:t>[14] Maya Guglin (2025). Cardiac Resynchronization and Guideline-Directed Heart Failure Therapy. JACC: Heart Failure. https://doi.org/10.1016/j.jchf.2025.102682</a:t>
            </a:r>
          </a:p>
        </p:txBody>
      </p:sp>
      <p:sp>
        <p:nvSpPr>
          <p:cNvPr id="10" name="TextBox 9"/>
          <p:cNvSpPr txBox="1"/>
          <p:nvPr/>
        </p:nvSpPr>
        <p:spPr>
          <a:xfrm>
            <a:off x="411480" y="4965192"/>
            <a:ext cx="11338560" cy="685800"/>
          </a:xfrm>
          <a:prstGeom prst="rect">
            <a:avLst/>
          </a:prstGeom>
          <a:noFill/>
        </p:spPr>
        <p:txBody>
          <a:bodyPr wrap="square">
            <a:spAutoFit/>
          </a:bodyPr>
          <a:lstStyle/>
          <a:p>
            <a:pPr algn="l"/>
            <a:r>
              <a:rPr sz="1200" b="0">
                <a:solidFill>
                  <a:srgbClr val="102A32"/>
                </a:solidFill>
                <a:latin typeface="Calibri"/>
              </a:rPr>
              <a:t>[15] Seth S. Martin, Aaron W. Aday, Norrina B. Allen et al. (2025). 2025 Heart Disease and Stroke Statistics: A Report of US and Global Data From the American Heart Association. Circulation. https://doi.org/10.1161/cir.0000000000001303</a:t>
            </a:r>
          </a:p>
        </p:txBody>
      </p:sp>
      <p:sp>
        <p:nvSpPr>
          <p:cNvPr id="11" name="TextBox 10"/>
          <p:cNvSpPr txBox="1"/>
          <p:nvPr/>
        </p:nvSpPr>
        <p:spPr>
          <a:xfrm>
            <a:off x="411480" y="5678424"/>
            <a:ext cx="11338560" cy="685800"/>
          </a:xfrm>
          <a:prstGeom prst="rect">
            <a:avLst/>
          </a:prstGeom>
          <a:noFill/>
        </p:spPr>
        <p:txBody>
          <a:bodyPr wrap="square">
            <a:spAutoFit/>
          </a:bodyPr>
          <a:lstStyle/>
          <a:p>
            <a:pPr algn="l"/>
            <a:r>
              <a:rPr sz="1200" b="0">
                <a:solidFill>
                  <a:srgbClr val="102A32"/>
                </a:solidFill>
                <a:latin typeface="Calibri"/>
              </a:rPr>
              <a:t>[16] Writing Committee Members*, Daniel W. Jones, Keith C. Ferdinand et al. (2025). 2025 AHA/ACC/AANP/AAPA/ABC/ACCP/ACPM/AGS/AMA/ASPC/NMA/PCNA/SGIM Guideline for the Prevention, Detection, Evaluation and Management of High Blood Pressure in Adults: A Report of the American College of Cardiology/American Heart Associati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972800" cy="320040"/>
          </a:xfrm>
          <a:prstGeom prst="rect">
            <a:avLst/>
          </a:prstGeom>
          <a:noFill/>
        </p:spPr>
        <p:txBody>
          <a:bodyPr wrap="square">
            <a:spAutoFit/>
          </a:bodyPr>
          <a:lstStyle/>
          <a:p>
            <a:pPr algn="l"/>
            <a:r>
              <a:rPr sz="1200" b="1">
                <a:solidFill>
                  <a:srgbClr val="B85C38"/>
                </a:solidFill>
                <a:latin typeface="Calibri"/>
              </a:rPr>
              <a:t>10.3  NUMBERED, REGISTRY-VALIDATED REFERENCES</a:t>
            </a:r>
          </a:p>
        </p:txBody>
      </p:sp>
      <p:sp>
        <p:nvSpPr>
          <p:cNvPr id="4" name="TextBox 3"/>
          <p:cNvSpPr txBox="1"/>
          <p:nvPr/>
        </p:nvSpPr>
        <p:spPr>
          <a:xfrm>
            <a:off x="411480" y="685800"/>
            <a:ext cx="11338560" cy="685800"/>
          </a:xfrm>
          <a:prstGeom prst="rect">
            <a:avLst/>
          </a:prstGeom>
          <a:noFill/>
        </p:spPr>
        <p:txBody>
          <a:bodyPr wrap="square">
            <a:spAutoFit/>
          </a:bodyPr>
          <a:lstStyle/>
          <a:p>
            <a:pPr algn="l"/>
            <a:r>
              <a:rPr sz="1200" b="0">
                <a:solidFill>
                  <a:srgbClr val="102A32"/>
                </a:solidFill>
                <a:latin typeface="Calibri"/>
              </a:rPr>
              <a:t>[17]  (2024). WHO NCD department — Surveillance, monitoring and reporting. World Health Organization.</a:t>
            </a:r>
          </a:p>
        </p:txBody>
      </p:sp>
      <p:sp>
        <p:nvSpPr>
          <p:cNvPr id="5" name="TextBox 4"/>
          <p:cNvSpPr txBox="1"/>
          <p:nvPr/>
        </p:nvSpPr>
        <p:spPr>
          <a:xfrm>
            <a:off x="411480" y="1399032"/>
            <a:ext cx="11338560" cy="685800"/>
          </a:xfrm>
          <a:prstGeom prst="rect">
            <a:avLst/>
          </a:prstGeom>
          <a:noFill/>
        </p:spPr>
        <p:txBody>
          <a:bodyPr wrap="square">
            <a:spAutoFit/>
          </a:bodyPr>
          <a:lstStyle/>
          <a:p>
            <a:pPr algn="l"/>
            <a:r>
              <a:rPr sz="1200" b="0">
                <a:solidFill>
                  <a:srgbClr val="102A32"/>
                </a:solidFill>
                <a:latin typeface="Calibri"/>
              </a:rPr>
              <a:t>[18]  (2024). WHO Department of Noncommunicable Diseases. World Health Organization.</a:t>
            </a:r>
          </a:p>
        </p:txBody>
      </p:sp>
      <p:sp>
        <p:nvSpPr>
          <p:cNvPr id="6" name="TextBox 5"/>
          <p:cNvSpPr txBox="1"/>
          <p:nvPr/>
        </p:nvSpPr>
        <p:spPr>
          <a:xfrm>
            <a:off x="411480" y="2112264"/>
            <a:ext cx="11338560" cy="685800"/>
          </a:xfrm>
          <a:prstGeom prst="rect">
            <a:avLst/>
          </a:prstGeom>
          <a:noFill/>
        </p:spPr>
        <p:txBody>
          <a:bodyPr wrap="square">
            <a:spAutoFit/>
          </a:bodyPr>
          <a:lstStyle/>
          <a:p>
            <a:pPr algn="l"/>
            <a:r>
              <a:rPr sz="1200" b="0">
                <a:solidFill>
                  <a:srgbClr val="102A32"/>
                </a:solidFill>
                <a:latin typeface="Calibri"/>
              </a:rPr>
              <a:t>[19]  (2024). WFP — Ending malnutrition. World Food Programme.</a:t>
            </a:r>
          </a:p>
        </p:txBody>
      </p:sp>
      <p:sp>
        <p:nvSpPr>
          <p:cNvPr id="7" name="TextBox 6"/>
          <p:cNvSpPr txBox="1"/>
          <p:nvPr/>
        </p:nvSpPr>
        <p:spPr>
          <a:xfrm>
            <a:off x="411480" y="2825496"/>
            <a:ext cx="11338560" cy="685800"/>
          </a:xfrm>
          <a:prstGeom prst="rect">
            <a:avLst/>
          </a:prstGeom>
          <a:noFill/>
        </p:spPr>
        <p:txBody>
          <a:bodyPr wrap="square">
            <a:spAutoFit/>
          </a:bodyPr>
          <a:lstStyle/>
          <a:p>
            <a:pPr algn="l"/>
            <a:r>
              <a:rPr sz="1200" b="0">
                <a:solidFill>
                  <a:srgbClr val="102A32"/>
                </a:solidFill>
                <a:latin typeface="Calibri"/>
              </a:rPr>
              <a:t>[20]  (2024). UNODC — United Nations Office on Drugs and Crime. UNODC.</a:t>
            </a:r>
          </a:p>
        </p:txBody>
      </p:sp>
      <p:sp>
        <p:nvSpPr>
          <p:cNvPr id="8" name="TextBox 7"/>
          <p:cNvSpPr txBox="1"/>
          <p:nvPr/>
        </p:nvSpPr>
        <p:spPr>
          <a:xfrm>
            <a:off x="411480" y="3538728"/>
            <a:ext cx="11338560" cy="685800"/>
          </a:xfrm>
          <a:prstGeom prst="rect">
            <a:avLst/>
          </a:prstGeom>
          <a:noFill/>
        </p:spPr>
        <p:txBody>
          <a:bodyPr wrap="square">
            <a:spAutoFit/>
          </a:bodyPr>
          <a:lstStyle/>
          <a:p>
            <a:pPr algn="l"/>
            <a:r>
              <a:rPr sz="1200" b="0">
                <a:solidFill>
                  <a:srgbClr val="102A32"/>
                </a:solidFill>
                <a:latin typeface="Calibri"/>
              </a:rPr>
              <a:t>[21]  (2024). Universal health coverage — WHO health topic. World Health Organization.</a:t>
            </a:r>
          </a:p>
        </p:txBody>
      </p:sp>
      <p:sp>
        <p:nvSpPr>
          <p:cNvPr id="9" name="TextBox 8"/>
          <p:cNvSpPr txBox="1"/>
          <p:nvPr/>
        </p:nvSpPr>
        <p:spPr>
          <a:xfrm>
            <a:off x="411480" y="4251960"/>
            <a:ext cx="11338560" cy="685800"/>
          </a:xfrm>
          <a:prstGeom prst="rect">
            <a:avLst/>
          </a:prstGeom>
          <a:noFill/>
        </p:spPr>
        <p:txBody>
          <a:bodyPr wrap="square">
            <a:spAutoFit/>
          </a:bodyPr>
          <a:lstStyle/>
          <a:p>
            <a:pPr algn="l"/>
            <a:r>
              <a:rPr sz="1200" b="0">
                <a:solidFill>
                  <a:srgbClr val="102A32"/>
                </a:solidFill>
                <a:latin typeface="Calibri"/>
              </a:rPr>
              <a:t>[22]  (2024). United Nations — Global issues: health. United Nations.</a:t>
            </a:r>
          </a:p>
        </p:txBody>
      </p:sp>
      <p:sp>
        <p:nvSpPr>
          <p:cNvPr id="10" name="TextBox 9"/>
          <p:cNvSpPr txBox="1"/>
          <p:nvPr/>
        </p:nvSpPr>
        <p:spPr>
          <a:xfrm>
            <a:off x="411480" y="4965192"/>
            <a:ext cx="11338560" cy="685800"/>
          </a:xfrm>
          <a:prstGeom prst="rect">
            <a:avLst/>
          </a:prstGeom>
          <a:noFill/>
        </p:spPr>
        <p:txBody>
          <a:bodyPr wrap="square">
            <a:spAutoFit/>
          </a:bodyPr>
          <a:lstStyle/>
          <a:p>
            <a:pPr algn="l"/>
            <a:r>
              <a:rPr sz="1200" b="0">
                <a:solidFill>
                  <a:srgbClr val="102A32"/>
                </a:solidFill>
                <a:latin typeface="Calibri"/>
              </a:rPr>
              <a:t>[23]  (2024). UNICEF — Non-communicable diseases. UNICEF.</a:t>
            </a:r>
          </a:p>
        </p:txBody>
      </p:sp>
      <p:sp>
        <p:nvSpPr>
          <p:cNvPr id="11" name="TextBox 10"/>
          <p:cNvSpPr txBox="1"/>
          <p:nvPr/>
        </p:nvSpPr>
        <p:spPr>
          <a:xfrm>
            <a:off x="411480" y="5678424"/>
            <a:ext cx="11338560" cy="685800"/>
          </a:xfrm>
          <a:prstGeom prst="rect">
            <a:avLst/>
          </a:prstGeom>
          <a:noFill/>
        </p:spPr>
        <p:txBody>
          <a:bodyPr wrap="square">
            <a:spAutoFit/>
          </a:bodyPr>
          <a:lstStyle/>
          <a:p>
            <a:pPr algn="l"/>
            <a:r>
              <a:rPr sz="1200" b="0">
                <a:solidFill>
                  <a:srgbClr val="102A32"/>
                </a:solidFill>
                <a:latin typeface="Calibri"/>
              </a:rPr>
              <a:t>[24]  (2024). UNFPA — United Nations Population Fund. UNFPA.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972800" cy="320040"/>
          </a:xfrm>
          <a:prstGeom prst="rect">
            <a:avLst/>
          </a:prstGeom>
          <a:noFill/>
        </p:spPr>
        <p:txBody>
          <a:bodyPr wrap="square">
            <a:spAutoFit/>
          </a:bodyPr>
          <a:lstStyle/>
          <a:p>
            <a:pPr algn="l"/>
            <a:r>
              <a:rPr sz="1200" b="1">
                <a:solidFill>
                  <a:srgbClr val="B85C38"/>
                </a:solidFill>
                <a:latin typeface="Calibri"/>
              </a:rPr>
              <a:t>10.4  NUMBERED, REGISTRY-VALIDATED REFERENCES</a:t>
            </a:r>
          </a:p>
        </p:txBody>
      </p:sp>
      <p:sp>
        <p:nvSpPr>
          <p:cNvPr id="4" name="TextBox 3"/>
          <p:cNvSpPr txBox="1"/>
          <p:nvPr/>
        </p:nvSpPr>
        <p:spPr>
          <a:xfrm>
            <a:off x="411480" y="685800"/>
            <a:ext cx="11338560" cy="685800"/>
          </a:xfrm>
          <a:prstGeom prst="rect">
            <a:avLst/>
          </a:prstGeom>
          <a:noFill/>
        </p:spPr>
        <p:txBody>
          <a:bodyPr wrap="square">
            <a:spAutoFit/>
          </a:bodyPr>
          <a:lstStyle/>
          <a:p>
            <a:pPr algn="l"/>
            <a:r>
              <a:rPr sz="1200" b="0">
                <a:solidFill>
                  <a:srgbClr val="102A32"/>
                </a:solidFill>
                <a:latin typeface="Calibri"/>
              </a:rPr>
              <a:t>[25]  (2024). UNESCO — Health education. UNESCO.</a:t>
            </a:r>
          </a:p>
        </p:txBody>
      </p:sp>
      <p:sp>
        <p:nvSpPr>
          <p:cNvPr id="5" name="TextBox 4"/>
          <p:cNvSpPr txBox="1"/>
          <p:nvPr/>
        </p:nvSpPr>
        <p:spPr>
          <a:xfrm>
            <a:off x="411480" y="1399032"/>
            <a:ext cx="11338560" cy="685800"/>
          </a:xfrm>
          <a:prstGeom prst="rect">
            <a:avLst/>
          </a:prstGeom>
          <a:noFill/>
        </p:spPr>
        <p:txBody>
          <a:bodyPr wrap="square">
            <a:spAutoFit/>
          </a:bodyPr>
          <a:lstStyle/>
          <a:p>
            <a:pPr algn="l"/>
            <a:r>
              <a:rPr sz="1200" b="0">
                <a:solidFill>
                  <a:srgbClr val="102A32"/>
                </a:solidFill>
                <a:latin typeface="Calibri"/>
              </a:rPr>
              <a:t>[26]  (2024). UNDRR — United Nations Office for Disaster Risk Reduction. UNDRR.</a:t>
            </a:r>
          </a:p>
        </p:txBody>
      </p:sp>
      <p:sp>
        <p:nvSpPr>
          <p:cNvPr id="6" name="TextBox 5"/>
          <p:cNvSpPr txBox="1"/>
          <p:nvPr/>
        </p:nvSpPr>
        <p:spPr>
          <a:xfrm>
            <a:off x="411480" y="2112264"/>
            <a:ext cx="11338560" cy="685800"/>
          </a:xfrm>
          <a:prstGeom prst="rect">
            <a:avLst/>
          </a:prstGeom>
          <a:noFill/>
        </p:spPr>
        <p:txBody>
          <a:bodyPr wrap="square">
            <a:spAutoFit/>
          </a:bodyPr>
          <a:lstStyle/>
          <a:p>
            <a:pPr algn="l"/>
            <a:r>
              <a:rPr sz="1200" b="0">
                <a:solidFill>
                  <a:srgbClr val="102A32"/>
                </a:solidFill>
                <a:latin typeface="Calibri"/>
              </a:rPr>
              <a:t>[27]  (2024). UNAIDS — Joint United Nations Programme on HIV/AIDS. UNAIDS.</a:t>
            </a:r>
          </a:p>
        </p:txBody>
      </p:sp>
      <p:sp>
        <p:nvSpPr>
          <p:cNvPr id="7" name="TextBox 6"/>
          <p:cNvSpPr txBox="1"/>
          <p:nvPr/>
        </p:nvSpPr>
        <p:spPr>
          <a:xfrm>
            <a:off x="411480" y="2825496"/>
            <a:ext cx="11338560" cy="685800"/>
          </a:xfrm>
          <a:prstGeom prst="rect">
            <a:avLst/>
          </a:prstGeom>
          <a:noFill/>
        </p:spPr>
        <p:txBody>
          <a:bodyPr wrap="square">
            <a:spAutoFit/>
          </a:bodyPr>
          <a:lstStyle/>
          <a:p>
            <a:pPr algn="l"/>
            <a:r>
              <a:rPr sz="1200" b="0">
                <a:solidFill>
                  <a:srgbClr val="102A32"/>
                </a:solidFill>
                <a:latin typeface="Calibri"/>
              </a:rPr>
              <a:t>[28]  (2024). UN Department of Economic and Social Affairs. United Nations DESA.</a:t>
            </a:r>
          </a:p>
        </p:txBody>
      </p:sp>
      <p:sp>
        <p:nvSpPr>
          <p:cNvPr id="8" name="TextBox 7"/>
          <p:cNvSpPr txBox="1"/>
          <p:nvPr/>
        </p:nvSpPr>
        <p:spPr>
          <a:xfrm>
            <a:off x="411480" y="3538728"/>
            <a:ext cx="11338560" cy="685800"/>
          </a:xfrm>
          <a:prstGeom prst="rect">
            <a:avLst/>
          </a:prstGeom>
          <a:noFill/>
        </p:spPr>
        <p:txBody>
          <a:bodyPr wrap="square">
            <a:spAutoFit/>
          </a:bodyPr>
          <a:lstStyle/>
          <a:p>
            <a:pPr algn="l"/>
            <a:r>
              <a:rPr sz="1200" b="0">
                <a:solidFill>
                  <a:srgbClr val="102A32"/>
                </a:solidFill>
                <a:latin typeface="Calibri"/>
              </a:rPr>
              <a:t>[29] Henok Mulugeta, Peter M. Sinclair, Amanda Wilson (2024). The experience of people living with heart failure in Ethiopia: A qualitative descriptive study. PLOS ONE. https://doi.org/10.1371/journal.pone.0310600</a:t>
            </a:r>
          </a:p>
        </p:txBody>
      </p:sp>
      <p:sp>
        <p:nvSpPr>
          <p:cNvPr id="9" name="TextBox 8"/>
          <p:cNvSpPr txBox="1"/>
          <p:nvPr/>
        </p:nvSpPr>
        <p:spPr>
          <a:xfrm>
            <a:off x="411480" y="4251960"/>
            <a:ext cx="11338560" cy="685800"/>
          </a:xfrm>
          <a:prstGeom prst="rect">
            <a:avLst/>
          </a:prstGeom>
          <a:noFill/>
        </p:spPr>
        <p:txBody>
          <a:bodyPr wrap="square">
            <a:spAutoFit/>
          </a:bodyPr>
          <a:lstStyle/>
          <a:p>
            <a:pPr algn="l"/>
            <a:r>
              <a:rPr sz="1200" b="0">
                <a:solidFill>
                  <a:srgbClr val="102A32"/>
                </a:solidFill>
                <a:latin typeface="Calibri"/>
              </a:rPr>
              <a:t>[30] Jing Wang (2024). The efficacy and safety of Panax quinquefolius saponin for Heart Failure: A systematic review and meta-analysis. Indexed journal. https://doi.org/10.37766/inplasy2024.4.0050</a:t>
            </a:r>
          </a:p>
        </p:txBody>
      </p:sp>
      <p:sp>
        <p:nvSpPr>
          <p:cNvPr id="10" name="TextBox 9"/>
          <p:cNvSpPr txBox="1"/>
          <p:nvPr/>
        </p:nvSpPr>
        <p:spPr>
          <a:xfrm>
            <a:off x="411480" y="4965192"/>
            <a:ext cx="11338560" cy="685800"/>
          </a:xfrm>
          <a:prstGeom prst="rect">
            <a:avLst/>
          </a:prstGeom>
          <a:noFill/>
        </p:spPr>
        <p:txBody>
          <a:bodyPr wrap="square">
            <a:spAutoFit/>
          </a:bodyPr>
          <a:lstStyle/>
          <a:p>
            <a:pPr algn="l"/>
            <a:r>
              <a:rPr sz="1200" b="0">
                <a:solidFill>
                  <a:srgbClr val="102A32"/>
                </a:solidFill>
                <a:latin typeface="Calibri"/>
              </a:rPr>
              <a:t>[31] Martha Abshire Saylor, Colleen K. McIlvennan (2024). SUSTAINing the Care of Patients With Advanced Heart Failure by Supporting Family Caregivers. Circulation: Heart Failure. https://doi.org/10.1161/circheartfailure.124.011874</a:t>
            </a:r>
          </a:p>
        </p:txBody>
      </p:sp>
      <p:sp>
        <p:nvSpPr>
          <p:cNvPr id="11" name="TextBox 10"/>
          <p:cNvSpPr txBox="1"/>
          <p:nvPr/>
        </p:nvSpPr>
        <p:spPr>
          <a:xfrm>
            <a:off x="411480" y="5678424"/>
            <a:ext cx="11338560" cy="685800"/>
          </a:xfrm>
          <a:prstGeom prst="rect">
            <a:avLst/>
          </a:prstGeom>
          <a:noFill/>
        </p:spPr>
        <p:txBody>
          <a:bodyPr wrap="square">
            <a:spAutoFit/>
          </a:bodyPr>
          <a:lstStyle/>
          <a:p>
            <a:pPr algn="l"/>
            <a:r>
              <a:rPr sz="1200" b="0">
                <a:solidFill>
                  <a:srgbClr val="102A32"/>
                </a:solidFill>
                <a:latin typeface="Calibri"/>
              </a:rPr>
              <a:t>[32]  (2024). Primary health care — WHO health topic. World Health Organization.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972800" cy="320040"/>
          </a:xfrm>
          <a:prstGeom prst="rect">
            <a:avLst/>
          </a:prstGeom>
          <a:noFill/>
        </p:spPr>
        <p:txBody>
          <a:bodyPr wrap="square">
            <a:spAutoFit/>
          </a:bodyPr>
          <a:lstStyle/>
          <a:p>
            <a:pPr algn="l"/>
            <a:r>
              <a:rPr sz="1200" b="1">
                <a:solidFill>
                  <a:srgbClr val="B85C38"/>
                </a:solidFill>
                <a:latin typeface="Calibri"/>
              </a:rPr>
              <a:t>10.5  NUMBERED, REGISTRY-VALIDATED REFERENCES</a:t>
            </a:r>
          </a:p>
        </p:txBody>
      </p:sp>
      <p:sp>
        <p:nvSpPr>
          <p:cNvPr id="4" name="TextBox 3"/>
          <p:cNvSpPr txBox="1"/>
          <p:nvPr/>
        </p:nvSpPr>
        <p:spPr>
          <a:xfrm>
            <a:off x="411480" y="685800"/>
            <a:ext cx="11338560" cy="685800"/>
          </a:xfrm>
          <a:prstGeom prst="rect">
            <a:avLst/>
          </a:prstGeom>
          <a:noFill/>
        </p:spPr>
        <p:txBody>
          <a:bodyPr wrap="square">
            <a:spAutoFit/>
          </a:bodyPr>
          <a:lstStyle/>
          <a:p>
            <a:pPr algn="l"/>
            <a:r>
              <a:rPr sz="1200" b="0">
                <a:solidFill>
                  <a:srgbClr val="102A32"/>
                </a:solidFill>
                <a:latin typeface="Calibri"/>
              </a:rPr>
              <a:t>[33]  (2024). OHCHR — Right to health. OHCHR.</a:t>
            </a:r>
          </a:p>
        </p:txBody>
      </p:sp>
      <p:sp>
        <p:nvSpPr>
          <p:cNvPr id="5" name="TextBox 4"/>
          <p:cNvSpPr txBox="1"/>
          <p:nvPr/>
        </p:nvSpPr>
        <p:spPr>
          <a:xfrm>
            <a:off x="411480" y="1399032"/>
            <a:ext cx="11338560" cy="685800"/>
          </a:xfrm>
          <a:prstGeom prst="rect">
            <a:avLst/>
          </a:prstGeom>
          <a:noFill/>
        </p:spPr>
        <p:txBody>
          <a:bodyPr wrap="square">
            <a:spAutoFit/>
          </a:bodyPr>
          <a:lstStyle/>
          <a:p>
            <a:pPr algn="l"/>
            <a:r>
              <a:rPr sz="1200" b="0">
                <a:solidFill>
                  <a:srgbClr val="102A32"/>
                </a:solidFill>
                <a:latin typeface="Calibri"/>
              </a:rPr>
              <a:t>[34]  (2024). Noncommunicable diseases — World Bank brief. World Bank.</a:t>
            </a:r>
          </a:p>
        </p:txBody>
      </p:sp>
      <p:sp>
        <p:nvSpPr>
          <p:cNvPr id="6" name="TextBox 5"/>
          <p:cNvSpPr txBox="1"/>
          <p:nvPr/>
        </p:nvSpPr>
        <p:spPr>
          <a:xfrm>
            <a:off x="411480" y="2112264"/>
            <a:ext cx="11338560" cy="685800"/>
          </a:xfrm>
          <a:prstGeom prst="rect">
            <a:avLst/>
          </a:prstGeom>
          <a:noFill/>
        </p:spPr>
        <p:txBody>
          <a:bodyPr wrap="square">
            <a:spAutoFit/>
          </a:bodyPr>
          <a:lstStyle/>
          <a:p>
            <a:pPr algn="l"/>
            <a:r>
              <a:rPr sz="1200" b="0">
                <a:solidFill>
                  <a:srgbClr val="102A32"/>
                </a:solidFill>
                <a:latin typeface="Calibri"/>
              </a:rPr>
              <a:t>[35]  (2024). National Programme for Prevention and Control of NCDs (NPCDCS) — NHM. National Health Mission (India).</a:t>
            </a:r>
          </a:p>
        </p:txBody>
      </p:sp>
      <p:sp>
        <p:nvSpPr>
          <p:cNvPr id="7" name="TextBox 6"/>
          <p:cNvSpPr txBox="1"/>
          <p:nvPr/>
        </p:nvSpPr>
        <p:spPr>
          <a:xfrm>
            <a:off x="411480" y="2825496"/>
            <a:ext cx="11338560" cy="685800"/>
          </a:xfrm>
          <a:prstGeom prst="rect">
            <a:avLst/>
          </a:prstGeom>
          <a:noFill/>
        </p:spPr>
        <p:txBody>
          <a:bodyPr wrap="square">
            <a:spAutoFit/>
          </a:bodyPr>
          <a:lstStyle/>
          <a:p>
            <a:pPr algn="l"/>
            <a:r>
              <a:rPr sz="1200" b="0">
                <a:solidFill>
                  <a:srgbClr val="102A32"/>
                </a:solidFill>
                <a:latin typeface="Calibri"/>
              </a:rPr>
              <a:t>[36]  (2024). National Health Mission, Government of India. National Health Mission (India).</a:t>
            </a:r>
          </a:p>
        </p:txBody>
      </p:sp>
      <p:sp>
        <p:nvSpPr>
          <p:cNvPr id="8" name="TextBox 7"/>
          <p:cNvSpPr txBox="1"/>
          <p:nvPr/>
        </p:nvSpPr>
        <p:spPr>
          <a:xfrm>
            <a:off x="411480" y="3538728"/>
            <a:ext cx="11338560" cy="685800"/>
          </a:xfrm>
          <a:prstGeom prst="rect">
            <a:avLst/>
          </a:prstGeom>
          <a:noFill/>
        </p:spPr>
        <p:txBody>
          <a:bodyPr wrap="square">
            <a:spAutoFit/>
          </a:bodyPr>
          <a:lstStyle/>
          <a:p>
            <a:pPr algn="l"/>
            <a:r>
              <a:rPr sz="1200" b="0">
                <a:solidFill>
                  <a:srgbClr val="102A32"/>
                </a:solidFill>
                <a:latin typeface="Calibri"/>
              </a:rPr>
              <a:t>[37] Geta Mengistu, Habtamu Wondiye, Eyob Bogale et al. (2024). Lived Experience of Adult With Heart Failure at Tibebe Ghion Specialized Teaching Hospital Northwest Ethiopia, Qualitative Phenomenological Study. Risk Management and Healthcare Policy. https://doi.org/10.2147/rmhp.s443475</a:t>
            </a:r>
          </a:p>
        </p:txBody>
      </p:sp>
      <p:sp>
        <p:nvSpPr>
          <p:cNvPr id="9" name="TextBox 8"/>
          <p:cNvSpPr txBox="1"/>
          <p:nvPr/>
        </p:nvSpPr>
        <p:spPr>
          <a:xfrm>
            <a:off x="411480" y="4251960"/>
            <a:ext cx="11338560" cy="685800"/>
          </a:xfrm>
          <a:prstGeom prst="rect">
            <a:avLst/>
          </a:prstGeom>
          <a:noFill/>
        </p:spPr>
        <p:txBody>
          <a:bodyPr wrap="square">
            <a:spAutoFit/>
          </a:bodyPr>
          <a:lstStyle/>
          <a:p>
            <a:pPr algn="l"/>
            <a:r>
              <a:rPr sz="1200" b="0">
                <a:solidFill>
                  <a:srgbClr val="102A32"/>
                </a:solidFill>
                <a:latin typeface="Calibri"/>
              </a:rPr>
              <a:t>[38]  (2024). KDIGO Clinical Practice Guidelines. KDIGO.</a:t>
            </a:r>
          </a:p>
        </p:txBody>
      </p:sp>
      <p:sp>
        <p:nvSpPr>
          <p:cNvPr id="10" name="TextBox 9"/>
          <p:cNvSpPr txBox="1"/>
          <p:nvPr/>
        </p:nvSpPr>
        <p:spPr>
          <a:xfrm>
            <a:off x="411480" y="4965192"/>
            <a:ext cx="11338560" cy="685800"/>
          </a:xfrm>
          <a:prstGeom prst="rect">
            <a:avLst/>
          </a:prstGeom>
          <a:noFill/>
        </p:spPr>
        <p:txBody>
          <a:bodyPr wrap="square">
            <a:spAutoFit/>
          </a:bodyPr>
          <a:lstStyle/>
          <a:p>
            <a:pPr algn="l"/>
            <a:r>
              <a:rPr sz="1200" b="0">
                <a:solidFill>
                  <a:srgbClr val="102A32"/>
                </a:solidFill>
                <a:latin typeface="Calibri"/>
              </a:rPr>
              <a:t>[39]  (2024). IOM — Migration health. International Organization for Migration.</a:t>
            </a:r>
          </a:p>
        </p:txBody>
      </p:sp>
      <p:sp>
        <p:nvSpPr>
          <p:cNvPr id="11" name="TextBox 10"/>
          <p:cNvSpPr txBox="1"/>
          <p:nvPr/>
        </p:nvSpPr>
        <p:spPr>
          <a:xfrm>
            <a:off x="411480" y="5678424"/>
            <a:ext cx="11338560" cy="685800"/>
          </a:xfrm>
          <a:prstGeom prst="rect">
            <a:avLst/>
          </a:prstGeom>
          <a:noFill/>
        </p:spPr>
        <p:txBody>
          <a:bodyPr wrap="square">
            <a:spAutoFit/>
          </a:bodyPr>
          <a:lstStyle/>
          <a:p>
            <a:pPr algn="l"/>
            <a:r>
              <a:rPr sz="1200" b="0">
                <a:solidFill>
                  <a:srgbClr val="102A32"/>
                </a:solidFill>
                <a:latin typeface="Calibri"/>
              </a:rPr>
              <a:t>[40]  (2024). International Telecommunication Union. ITU.</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972800" cy="320040"/>
          </a:xfrm>
          <a:prstGeom prst="rect">
            <a:avLst/>
          </a:prstGeom>
          <a:noFill/>
        </p:spPr>
        <p:txBody>
          <a:bodyPr wrap="square">
            <a:spAutoFit/>
          </a:bodyPr>
          <a:lstStyle/>
          <a:p>
            <a:pPr algn="l"/>
            <a:r>
              <a:rPr sz="1200" b="1">
                <a:solidFill>
                  <a:srgbClr val="B85C38"/>
                </a:solidFill>
                <a:latin typeface="Calibri"/>
              </a:rPr>
              <a:t>10.6  NUMBERED, REGISTRY-VALIDATED REFERENCES</a:t>
            </a:r>
          </a:p>
        </p:txBody>
      </p:sp>
      <p:sp>
        <p:nvSpPr>
          <p:cNvPr id="4" name="TextBox 3"/>
          <p:cNvSpPr txBox="1"/>
          <p:nvPr/>
        </p:nvSpPr>
        <p:spPr>
          <a:xfrm>
            <a:off x="411480" y="685800"/>
            <a:ext cx="11338560" cy="685800"/>
          </a:xfrm>
          <a:prstGeom prst="rect">
            <a:avLst/>
          </a:prstGeom>
          <a:noFill/>
        </p:spPr>
        <p:txBody>
          <a:bodyPr wrap="square">
            <a:spAutoFit/>
          </a:bodyPr>
          <a:lstStyle/>
          <a:p>
            <a:pPr algn="l"/>
            <a:r>
              <a:rPr sz="1200" b="0">
                <a:solidFill>
                  <a:srgbClr val="102A32"/>
                </a:solidFill>
                <a:latin typeface="Calibri"/>
              </a:rPr>
              <a:t>[41] Josep Rodés-Cabau, JoAnn Lindenfeld, William T. Abraham et al. (2024). Interatrial Shunt Therapy in Advanced Heart Failure: Outcomes from the Open-Label Cohort of the RELIEVE-HF Trial. European Journal of Heart Failure. https://doi.org/10.1002/ejhf.3215</a:t>
            </a:r>
          </a:p>
        </p:txBody>
      </p:sp>
      <p:sp>
        <p:nvSpPr>
          <p:cNvPr id="5" name="TextBox 4"/>
          <p:cNvSpPr txBox="1"/>
          <p:nvPr/>
        </p:nvSpPr>
        <p:spPr>
          <a:xfrm>
            <a:off x="411480" y="1399032"/>
            <a:ext cx="11338560" cy="685800"/>
          </a:xfrm>
          <a:prstGeom prst="rect">
            <a:avLst/>
          </a:prstGeom>
          <a:noFill/>
        </p:spPr>
        <p:txBody>
          <a:bodyPr wrap="square">
            <a:spAutoFit/>
          </a:bodyPr>
          <a:lstStyle/>
          <a:p>
            <a:pPr algn="l"/>
            <a:r>
              <a:rPr sz="1200" b="0">
                <a:solidFill>
                  <a:srgbClr val="102A32"/>
                </a:solidFill>
                <a:latin typeface="Calibri"/>
              </a:rPr>
              <a:t>[42]  (2024). Indian Council of Medical Research. Indian Council of Medical Research.</a:t>
            </a:r>
          </a:p>
        </p:txBody>
      </p:sp>
      <p:sp>
        <p:nvSpPr>
          <p:cNvPr id="6" name="TextBox 5"/>
          <p:cNvSpPr txBox="1"/>
          <p:nvPr/>
        </p:nvSpPr>
        <p:spPr>
          <a:xfrm>
            <a:off x="411480" y="2112264"/>
            <a:ext cx="11338560" cy="685800"/>
          </a:xfrm>
          <a:prstGeom prst="rect">
            <a:avLst/>
          </a:prstGeom>
          <a:noFill/>
        </p:spPr>
        <p:txBody>
          <a:bodyPr wrap="square">
            <a:spAutoFit/>
          </a:bodyPr>
          <a:lstStyle/>
          <a:p>
            <a:pPr algn="l"/>
            <a:r>
              <a:rPr sz="1200" b="0">
                <a:solidFill>
                  <a:srgbClr val="102A32"/>
                </a:solidFill>
                <a:latin typeface="Calibri"/>
              </a:rPr>
              <a:t>[43]  (2024). ILO — Safety and health at work. International Labour Organization.</a:t>
            </a:r>
          </a:p>
        </p:txBody>
      </p:sp>
      <p:sp>
        <p:nvSpPr>
          <p:cNvPr id="7" name="TextBox 6"/>
          <p:cNvSpPr txBox="1"/>
          <p:nvPr/>
        </p:nvSpPr>
        <p:spPr>
          <a:xfrm>
            <a:off x="411480" y="2825496"/>
            <a:ext cx="11338560" cy="685800"/>
          </a:xfrm>
          <a:prstGeom prst="rect">
            <a:avLst/>
          </a:prstGeom>
          <a:noFill/>
        </p:spPr>
        <p:txBody>
          <a:bodyPr wrap="square">
            <a:spAutoFit/>
          </a:bodyPr>
          <a:lstStyle/>
          <a:p>
            <a:pPr algn="l"/>
            <a:r>
              <a:rPr sz="1200" b="0">
                <a:solidFill>
                  <a:srgbClr val="102A32"/>
                </a:solidFill>
                <a:latin typeface="Calibri"/>
              </a:rPr>
              <a:t>[44]  (2024). Heart Failure — NHLBI. National Heart, Lung, and Blood Institute.</a:t>
            </a:r>
          </a:p>
        </p:txBody>
      </p:sp>
      <p:sp>
        <p:nvSpPr>
          <p:cNvPr id="8" name="TextBox 7"/>
          <p:cNvSpPr txBox="1"/>
          <p:nvPr/>
        </p:nvSpPr>
        <p:spPr>
          <a:xfrm>
            <a:off x="411480" y="3538728"/>
            <a:ext cx="11338560" cy="685800"/>
          </a:xfrm>
          <a:prstGeom prst="rect">
            <a:avLst/>
          </a:prstGeom>
          <a:noFill/>
        </p:spPr>
        <p:txBody>
          <a:bodyPr wrap="square">
            <a:spAutoFit/>
          </a:bodyPr>
          <a:lstStyle/>
          <a:p>
            <a:pPr algn="l"/>
            <a:r>
              <a:rPr sz="1200" b="0">
                <a:solidFill>
                  <a:srgbClr val="102A32"/>
                </a:solidFill>
                <a:latin typeface="Calibri"/>
              </a:rPr>
              <a:t>[45] Scott D. Solomon, John J.V. McMurray, Muthiah Vaduganathan et al. (2024). Finerenone in Heart Failure with Mildly Reduced or Preserved Ejection Fraction. New England Journal of Medicine. https://doi.org/10.1056/nejmoa2407107</a:t>
            </a:r>
          </a:p>
        </p:txBody>
      </p:sp>
      <p:sp>
        <p:nvSpPr>
          <p:cNvPr id="9" name="TextBox 8"/>
          <p:cNvSpPr txBox="1"/>
          <p:nvPr/>
        </p:nvSpPr>
        <p:spPr>
          <a:xfrm>
            <a:off x="411480" y="4251960"/>
            <a:ext cx="11338560" cy="685800"/>
          </a:xfrm>
          <a:prstGeom prst="rect">
            <a:avLst/>
          </a:prstGeom>
          <a:noFill/>
        </p:spPr>
        <p:txBody>
          <a:bodyPr wrap="square">
            <a:spAutoFit/>
          </a:bodyPr>
          <a:lstStyle/>
          <a:p>
            <a:pPr algn="l"/>
            <a:r>
              <a:rPr sz="1200" b="0">
                <a:solidFill>
                  <a:srgbClr val="102A32"/>
                </a:solidFill>
                <a:latin typeface="Calibri"/>
              </a:rPr>
              <a:t>[46] Ahmed K. Kammoun, Mostafa A. Afify, Rasha M. Youssef et al. (2024). Ecological assessment and development of analytical methods for concurrent quantification of valsartan and sacubitril: whiteness comparative study based on relative scoring. RSC Advances. https://doi.org/10.1039/d4ra01997k</a:t>
            </a:r>
          </a:p>
        </p:txBody>
      </p:sp>
      <p:sp>
        <p:nvSpPr>
          <p:cNvPr id="10" name="TextBox 9"/>
          <p:cNvSpPr txBox="1"/>
          <p:nvPr/>
        </p:nvSpPr>
        <p:spPr>
          <a:xfrm>
            <a:off x="411480" y="4965192"/>
            <a:ext cx="11338560" cy="685800"/>
          </a:xfrm>
          <a:prstGeom prst="rect">
            <a:avLst/>
          </a:prstGeom>
          <a:noFill/>
        </p:spPr>
        <p:txBody>
          <a:bodyPr wrap="square">
            <a:spAutoFit/>
          </a:bodyPr>
          <a:lstStyle/>
          <a:p>
            <a:pPr algn="l"/>
            <a:r>
              <a:rPr sz="1200" b="0">
                <a:solidFill>
                  <a:srgbClr val="102A32"/>
                </a:solidFill>
                <a:latin typeface="Calibri"/>
              </a:rPr>
              <a:t>[48]  (2024). Central Drugs Standard Control Organisation (CDSCO). Central Drugs Standard Control Organisation (India).</a:t>
            </a:r>
          </a:p>
        </p:txBody>
      </p:sp>
      <p:sp>
        <p:nvSpPr>
          <p:cNvPr id="11" name="TextBox 10"/>
          <p:cNvSpPr txBox="1"/>
          <p:nvPr/>
        </p:nvSpPr>
        <p:spPr>
          <a:xfrm>
            <a:off x="411480" y="5678424"/>
            <a:ext cx="11338560" cy="685800"/>
          </a:xfrm>
          <a:prstGeom prst="rect">
            <a:avLst/>
          </a:prstGeom>
          <a:noFill/>
        </p:spPr>
        <p:txBody>
          <a:bodyPr wrap="square">
            <a:spAutoFit/>
          </a:bodyPr>
          <a:lstStyle/>
          <a:p>
            <a:pPr algn="l"/>
            <a:r>
              <a:rPr sz="1200" b="0">
                <a:solidFill>
                  <a:srgbClr val="102A32"/>
                </a:solidFill>
                <a:latin typeface="Calibri"/>
              </a:rPr>
              <a:t>[49]  (2024). Cardiovascular diseases — WHO health topic. World Health Organization.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972800" cy="320040"/>
          </a:xfrm>
          <a:prstGeom prst="rect">
            <a:avLst/>
          </a:prstGeom>
          <a:noFill/>
        </p:spPr>
        <p:txBody>
          <a:bodyPr wrap="square">
            <a:spAutoFit/>
          </a:bodyPr>
          <a:lstStyle/>
          <a:p>
            <a:pPr algn="l"/>
            <a:r>
              <a:rPr sz="1200" b="1">
                <a:solidFill>
                  <a:srgbClr val="B85C38"/>
                </a:solidFill>
                <a:latin typeface="Calibri"/>
              </a:rPr>
              <a:t>10.7  NUMBERED, REGISTRY-VALIDATED REFERENCES</a:t>
            </a:r>
          </a:p>
        </p:txBody>
      </p:sp>
      <p:sp>
        <p:nvSpPr>
          <p:cNvPr id="4" name="TextBox 3"/>
          <p:cNvSpPr txBox="1"/>
          <p:nvPr/>
        </p:nvSpPr>
        <p:spPr>
          <a:xfrm>
            <a:off x="411480" y="685800"/>
            <a:ext cx="11338560" cy="685800"/>
          </a:xfrm>
          <a:prstGeom prst="rect">
            <a:avLst/>
          </a:prstGeom>
          <a:noFill/>
        </p:spPr>
        <p:txBody>
          <a:bodyPr wrap="square">
            <a:spAutoFit/>
          </a:bodyPr>
          <a:lstStyle/>
          <a:p>
            <a:pPr algn="l"/>
            <a:r>
              <a:rPr sz="1200" b="0">
                <a:solidFill>
                  <a:srgbClr val="102A32"/>
                </a:solidFill>
                <a:latin typeface="Calibri"/>
              </a:rPr>
              <a:t>[50]  (2024). Cardiological Society of India. Cardiological Society of India.</a:t>
            </a:r>
          </a:p>
        </p:txBody>
      </p:sp>
      <p:sp>
        <p:nvSpPr>
          <p:cNvPr id="5" name="TextBox 4"/>
          <p:cNvSpPr txBox="1"/>
          <p:nvPr/>
        </p:nvSpPr>
        <p:spPr>
          <a:xfrm>
            <a:off x="411480" y="1399032"/>
            <a:ext cx="11338560" cy="685800"/>
          </a:xfrm>
          <a:prstGeom prst="rect">
            <a:avLst/>
          </a:prstGeom>
          <a:noFill/>
        </p:spPr>
        <p:txBody>
          <a:bodyPr wrap="square">
            <a:spAutoFit/>
          </a:bodyPr>
          <a:lstStyle/>
          <a:p>
            <a:pPr algn="l"/>
            <a:r>
              <a:rPr sz="1200" b="0">
                <a:solidFill>
                  <a:srgbClr val="102A32"/>
                </a:solidFill>
                <a:latin typeface="Calibri"/>
              </a:rPr>
              <a:t>[51]  (2024). ACC Guidelines and Clinical Documents. American College of Cardiology.</a:t>
            </a:r>
          </a:p>
        </p:txBody>
      </p:sp>
      <p:sp>
        <p:nvSpPr>
          <p:cNvPr id="6" name="TextBox 5"/>
          <p:cNvSpPr txBox="1"/>
          <p:nvPr/>
        </p:nvSpPr>
        <p:spPr>
          <a:xfrm>
            <a:off x="411480" y="2112264"/>
            <a:ext cx="11338560" cy="685800"/>
          </a:xfrm>
          <a:prstGeom prst="rect">
            <a:avLst/>
          </a:prstGeom>
          <a:noFill/>
        </p:spPr>
        <p:txBody>
          <a:bodyPr wrap="square">
            <a:spAutoFit/>
          </a:bodyPr>
          <a:lstStyle/>
          <a:p>
            <a:pPr algn="l"/>
            <a:r>
              <a:rPr sz="1200" b="0">
                <a:solidFill>
                  <a:srgbClr val="102A32"/>
                </a:solidFill>
                <a:latin typeface="Calibri"/>
              </a:rPr>
              <a:t>[52]  (2024). About Heart Failure — CDC. US Centers for Disease Control and Prevention.</a:t>
            </a:r>
          </a:p>
        </p:txBody>
      </p:sp>
      <p:sp>
        <p:nvSpPr>
          <p:cNvPr id="7" name="TextBox 6"/>
          <p:cNvSpPr txBox="1"/>
          <p:nvPr/>
        </p:nvSpPr>
        <p:spPr>
          <a:xfrm>
            <a:off x="411480" y="2825496"/>
            <a:ext cx="11338560" cy="685800"/>
          </a:xfrm>
          <a:prstGeom prst="rect">
            <a:avLst/>
          </a:prstGeom>
          <a:noFill/>
        </p:spPr>
        <p:txBody>
          <a:bodyPr wrap="square">
            <a:spAutoFit/>
          </a:bodyPr>
          <a:lstStyle/>
          <a:p>
            <a:pPr algn="l"/>
            <a:r>
              <a:rPr sz="1200" b="0">
                <a:solidFill>
                  <a:srgbClr val="102A32"/>
                </a:solidFill>
                <a:latin typeface="Calibri"/>
              </a:rPr>
              <a:t>[53] Seth S. Martin, Aaron W. Aday, Zaid I. Almarzooq et al. (2024). 2024 Heart Disease and Stroke Statistics: A Report of US and Global Data From the American Heart Association. Circulation. https://doi.org/10.1161/cir.0000000000001209</a:t>
            </a:r>
          </a:p>
        </p:txBody>
      </p:sp>
      <p:sp>
        <p:nvSpPr>
          <p:cNvPr id="8" name="TextBox 7"/>
          <p:cNvSpPr txBox="1"/>
          <p:nvPr/>
        </p:nvSpPr>
        <p:spPr>
          <a:xfrm>
            <a:off x="411480" y="3538728"/>
            <a:ext cx="11338560" cy="685800"/>
          </a:xfrm>
          <a:prstGeom prst="rect">
            <a:avLst/>
          </a:prstGeom>
          <a:noFill/>
        </p:spPr>
        <p:txBody>
          <a:bodyPr wrap="square">
            <a:spAutoFit/>
          </a:bodyPr>
          <a:lstStyle/>
          <a:p>
            <a:pPr algn="l"/>
            <a:r>
              <a:rPr sz="1200" b="0">
                <a:solidFill>
                  <a:srgbClr val="102A32"/>
                </a:solidFill>
                <a:latin typeface="Calibri"/>
              </a:rPr>
              <a:t>[54] Isabelle C Van Gelder, Michiel Rienstra, Karina V Bunting et al. (2024). 2024 ESC Guidelines for the management of atrial fibrillation developed in collaboration with the European Association for Cardio-Thoracic Surgery (EACTS). European Heart Journal. https://doi.org/10.1093/eurheartj/ehae176</a:t>
            </a:r>
          </a:p>
        </p:txBody>
      </p:sp>
      <p:sp>
        <p:nvSpPr>
          <p:cNvPr id="9" name="TextBox 8"/>
          <p:cNvSpPr txBox="1"/>
          <p:nvPr/>
        </p:nvSpPr>
        <p:spPr>
          <a:xfrm>
            <a:off x="411480" y="4251960"/>
            <a:ext cx="11338560" cy="685800"/>
          </a:xfrm>
          <a:prstGeom prst="rect">
            <a:avLst/>
          </a:prstGeom>
          <a:noFill/>
        </p:spPr>
        <p:txBody>
          <a:bodyPr wrap="square">
            <a:spAutoFit/>
          </a:bodyPr>
          <a:lstStyle/>
          <a:p>
            <a:pPr algn="l"/>
            <a:r>
              <a:rPr sz="1200" b="0">
                <a:solidFill>
                  <a:srgbClr val="102A32"/>
                </a:solidFill>
                <a:latin typeface="Calibri"/>
              </a:rPr>
              <a:t>[55] Thomas M. Maddox, James L. Januzzi, Larry A. Allen et al. (2024). 2024 ACC Expert Consensus Decision Pathway for Treatment of Heart Failure With Reduced Ejection Fraction. Journal of the American College of Cardiology. https://doi.org/10.1016/j.jacc.2023.12.024</a:t>
            </a:r>
          </a:p>
        </p:txBody>
      </p:sp>
      <p:sp>
        <p:nvSpPr>
          <p:cNvPr id="10" name="TextBox 9"/>
          <p:cNvSpPr txBox="1"/>
          <p:nvPr/>
        </p:nvSpPr>
        <p:spPr>
          <a:xfrm>
            <a:off x="411480" y="4965192"/>
            <a:ext cx="11338560" cy="685800"/>
          </a:xfrm>
          <a:prstGeom prst="rect">
            <a:avLst/>
          </a:prstGeom>
          <a:noFill/>
        </p:spPr>
        <p:txBody>
          <a:bodyPr wrap="square">
            <a:spAutoFit/>
          </a:bodyPr>
          <a:lstStyle/>
          <a:p>
            <a:pPr algn="l"/>
            <a:r>
              <a:rPr sz="1200" b="0">
                <a:solidFill>
                  <a:srgbClr val="102A32"/>
                </a:solidFill>
                <a:latin typeface="Calibri"/>
              </a:rPr>
              <a:t>[56] José A. Joglar, Mina K. Chung, Anastasia L. Armbruster et al. (2024). 2023 ACC/AHA/ACCP/HRS Guideline for the Diagnosis and Management of Atrial Fibrillation: A Report of the American College of Cardiology/American Heart Association Joint Committee on Clinical Practice Guidelines. Circulation. https://doi.org/10.1</a:t>
            </a:r>
          </a:p>
        </p:txBody>
      </p:sp>
      <p:sp>
        <p:nvSpPr>
          <p:cNvPr id="11" name="TextBox 10"/>
          <p:cNvSpPr txBox="1"/>
          <p:nvPr/>
        </p:nvSpPr>
        <p:spPr>
          <a:xfrm>
            <a:off x="411480" y="5678424"/>
            <a:ext cx="11338560" cy="685800"/>
          </a:xfrm>
          <a:prstGeom prst="rect">
            <a:avLst/>
          </a:prstGeom>
          <a:noFill/>
        </p:spPr>
        <p:txBody>
          <a:bodyPr wrap="square">
            <a:spAutoFit/>
          </a:bodyPr>
          <a:lstStyle/>
          <a:p>
            <a:pPr algn="l"/>
            <a:r>
              <a:rPr sz="1200" b="0">
                <a:solidFill>
                  <a:srgbClr val="102A32"/>
                </a:solidFill>
                <a:latin typeface="Calibri"/>
              </a:rPr>
              <a:t>[57]  (2023). WHO NCD department — Hypertension. World Health Organization.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972800" cy="320040"/>
          </a:xfrm>
          <a:prstGeom prst="rect">
            <a:avLst/>
          </a:prstGeom>
          <a:noFill/>
        </p:spPr>
        <p:txBody>
          <a:bodyPr wrap="square">
            <a:spAutoFit/>
          </a:bodyPr>
          <a:lstStyle/>
          <a:p>
            <a:pPr algn="l"/>
            <a:r>
              <a:rPr sz="1200" b="1">
                <a:solidFill>
                  <a:srgbClr val="B85C38"/>
                </a:solidFill>
                <a:latin typeface="Calibri"/>
              </a:rPr>
              <a:t>10.8  NUMBERED, REGISTRY-VALIDATED REFERENCES</a:t>
            </a:r>
          </a:p>
        </p:txBody>
      </p:sp>
      <p:sp>
        <p:nvSpPr>
          <p:cNvPr id="4" name="TextBox 3"/>
          <p:cNvSpPr txBox="1"/>
          <p:nvPr/>
        </p:nvSpPr>
        <p:spPr>
          <a:xfrm>
            <a:off x="411480" y="685800"/>
            <a:ext cx="11338560" cy="685800"/>
          </a:xfrm>
          <a:prstGeom prst="rect">
            <a:avLst/>
          </a:prstGeom>
          <a:noFill/>
        </p:spPr>
        <p:txBody>
          <a:bodyPr wrap="square">
            <a:spAutoFit/>
          </a:bodyPr>
          <a:lstStyle/>
          <a:p>
            <a:pPr algn="l"/>
            <a:r>
              <a:rPr sz="1200" b="0">
                <a:solidFill>
                  <a:srgbClr val="102A32"/>
                </a:solidFill>
                <a:latin typeface="Calibri"/>
              </a:rPr>
              <a:t>[58]  (2023). Universal health coverage (UHC) fact sheet. World Health Organization.</a:t>
            </a:r>
          </a:p>
        </p:txBody>
      </p:sp>
      <p:sp>
        <p:nvSpPr>
          <p:cNvPr id="5" name="TextBox 4"/>
          <p:cNvSpPr txBox="1"/>
          <p:nvPr/>
        </p:nvSpPr>
        <p:spPr>
          <a:xfrm>
            <a:off x="411480" y="1399032"/>
            <a:ext cx="11338560" cy="685800"/>
          </a:xfrm>
          <a:prstGeom prst="rect">
            <a:avLst/>
          </a:prstGeom>
          <a:noFill/>
        </p:spPr>
        <p:txBody>
          <a:bodyPr wrap="square">
            <a:spAutoFit/>
          </a:bodyPr>
          <a:lstStyle/>
          <a:p>
            <a:pPr algn="l"/>
            <a:r>
              <a:rPr sz="1200" b="0">
                <a:solidFill>
                  <a:srgbClr val="102A32"/>
                </a:solidFill>
                <a:latin typeface="Calibri"/>
              </a:rPr>
              <a:t>[59] Dhruv S. Kazi, Paul Heidenreich (2023). The Value of Comprehensive Guideline-Directed Therapy for Heart Failure With Reduced Ejection Fraction. JACC: Heart Failure. https://doi.org/10.1016/j.jchf.2023.02.014</a:t>
            </a:r>
          </a:p>
        </p:txBody>
      </p:sp>
      <p:sp>
        <p:nvSpPr>
          <p:cNvPr id="6" name="TextBox 5"/>
          <p:cNvSpPr txBox="1"/>
          <p:nvPr/>
        </p:nvSpPr>
        <p:spPr>
          <a:xfrm>
            <a:off x="411480" y="2112264"/>
            <a:ext cx="11338560" cy="685800"/>
          </a:xfrm>
          <a:prstGeom prst="rect">
            <a:avLst/>
          </a:prstGeom>
          <a:noFill/>
        </p:spPr>
        <p:txBody>
          <a:bodyPr wrap="square">
            <a:spAutoFit/>
          </a:bodyPr>
          <a:lstStyle/>
          <a:p>
            <a:pPr algn="l"/>
            <a:r>
              <a:rPr sz="1200" b="0">
                <a:solidFill>
                  <a:srgbClr val="102A32"/>
                </a:solidFill>
                <a:latin typeface="Calibri"/>
              </a:rPr>
              <a:t>[60] Mikhail N. Kosiborod, Steen Z. Abildstrøm, Barry A. Borlaug et al. (2023). Semaglutide in Patients with Heart Failure with Preserved Ejection Fraction and Obesity. New England Journal of Medicine. https://doi.org/10.1056/nejmoa2306963</a:t>
            </a:r>
          </a:p>
        </p:txBody>
      </p:sp>
      <p:sp>
        <p:nvSpPr>
          <p:cNvPr id="7" name="TextBox 6"/>
          <p:cNvSpPr txBox="1"/>
          <p:nvPr/>
        </p:nvSpPr>
        <p:spPr>
          <a:xfrm>
            <a:off x="411480" y="2825496"/>
            <a:ext cx="11338560" cy="685800"/>
          </a:xfrm>
          <a:prstGeom prst="rect">
            <a:avLst/>
          </a:prstGeom>
          <a:noFill/>
        </p:spPr>
        <p:txBody>
          <a:bodyPr wrap="square">
            <a:spAutoFit/>
          </a:bodyPr>
          <a:lstStyle/>
          <a:p>
            <a:pPr algn="l"/>
            <a:r>
              <a:rPr sz="1200" b="0">
                <a:solidFill>
                  <a:srgbClr val="102A32"/>
                </a:solidFill>
                <a:latin typeface="Calibri"/>
              </a:rPr>
              <a:t>[61] Marilyne Jarjour, Anique Ducharme (2023). Optimization of GDMT for patients with heart failure and reduced ejection fraction: can physiological and biological barriers explain the gaps in adherence to heart failure guidelines?. Drugs in Context. https://doi.org/10.7573/dic.2023-5-6</a:t>
            </a:r>
          </a:p>
        </p:txBody>
      </p:sp>
      <p:sp>
        <p:nvSpPr>
          <p:cNvPr id="8" name="TextBox 7"/>
          <p:cNvSpPr txBox="1"/>
          <p:nvPr/>
        </p:nvSpPr>
        <p:spPr>
          <a:xfrm>
            <a:off x="411480" y="3538728"/>
            <a:ext cx="11338560" cy="685800"/>
          </a:xfrm>
          <a:prstGeom prst="rect">
            <a:avLst/>
          </a:prstGeom>
          <a:noFill/>
        </p:spPr>
        <p:txBody>
          <a:bodyPr wrap="square">
            <a:spAutoFit/>
          </a:bodyPr>
          <a:lstStyle/>
          <a:p>
            <a:pPr algn="l"/>
            <a:r>
              <a:rPr sz="1200" b="0">
                <a:solidFill>
                  <a:srgbClr val="102A32"/>
                </a:solidFill>
                <a:latin typeface="Calibri"/>
              </a:rPr>
              <a:t>[62]  (2023). Noncommunicable diseases — WHO South-East Asia. WHO SEARO.</a:t>
            </a:r>
          </a:p>
        </p:txBody>
      </p:sp>
      <p:sp>
        <p:nvSpPr>
          <p:cNvPr id="9" name="TextBox 8"/>
          <p:cNvSpPr txBox="1"/>
          <p:nvPr/>
        </p:nvSpPr>
        <p:spPr>
          <a:xfrm>
            <a:off x="411480" y="4251960"/>
            <a:ext cx="11338560" cy="685800"/>
          </a:xfrm>
          <a:prstGeom prst="rect">
            <a:avLst/>
          </a:prstGeom>
          <a:noFill/>
        </p:spPr>
        <p:txBody>
          <a:bodyPr wrap="square">
            <a:spAutoFit/>
          </a:bodyPr>
          <a:lstStyle/>
          <a:p>
            <a:pPr algn="l"/>
            <a:r>
              <a:rPr sz="1200" b="0">
                <a:solidFill>
                  <a:srgbClr val="102A32"/>
                </a:solidFill>
                <a:latin typeface="Calibri"/>
              </a:rPr>
              <a:t>[63]  (2023). Noncommunicable diseases — WHO Europe. WHO Europe.</a:t>
            </a:r>
          </a:p>
        </p:txBody>
      </p:sp>
      <p:sp>
        <p:nvSpPr>
          <p:cNvPr id="10" name="TextBox 9"/>
          <p:cNvSpPr txBox="1"/>
          <p:nvPr/>
        </p:nvSpPr>
        <p:spPr>
          <a:xfrm>
            <a:off x="411480" y="4965192"/>
            <a:ext cx="11338560" cy="685800"/>
          </a:xfrm>
          <a:prstGeom prst="rect">
            <a:avLst/>
          </a:prstGeom>
          <a:noFill/>
        </p:spPr>
        <p:txBody>
          <a:bodyPr wrap="square">
            <a:spAutoFit/>
          </a:bodyPr>
          <a:lstStyle/>
          <a:p>
            <a:pPr algn="l"/>
            <a:r>
              <a:rPr sz="1200" b="0">
                <a:solidFill>
                  <a:srgbClr val="102A32"/>
                </a:solidFill>
                <a:latin typeface="Calibri"/>
              </a:rPr>
              <a:t>[64]  (2023). Noncommunicable diseases — WHO Eastern Mediterranean. WHO EMRO.</a:t>
            </a:r>
          </a:p>
        </p:txBody>
      </p:sp>
      <p:sp>
        <p:nvSpPr>
          <p:cNvPr id="11" name="TextBox 10"/>
          <p:cNvSpPr txBox="1"/>
          <p:nvPr/>
        </p:nvSpPr>
        <p:spPr>
          <a:xfrm>
            <a:off x="411480" y="5678424"/>
            <a:ext cx="11338560" cy="685800"/>
          </a:xfrm>
          <a:prstGeom prst="rect">
            <a:avLst/>
          </a:prstGeom>
          <a:noFill/>
        </p:spPr>
        <p:txBody>
          <a:bodyPr wrap="square">
            <a:spAutoFit/>
          </a:bodyPr>
          <a:lstStyle/>
          <a:p>
            <a:pPr algn="l"/>
            <a:r>
              <a:rPr sz="1200" b="0">
                <a:solidFill>
                  <a:srgbClr val="102A32"/>
                </a:solidFill>
                <a:latin typeface="Calibri"/>
              </a:rPr>
              <a:t>[65]  (2023). Noncommunicable diseases — PAHO. PAHO / WHO Americas.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972800" cy="320040"/>
          </a:xfrm>
          <a:prstGeom prst="rect">
            <a:avLst/>
          </a:prstGeom>
          <a:noFill/>
        </p:spPr>
        <p:txBody>
          <a:bodyPr wrap="square">
            <a:spAutoFit/>
          </a:bodyPr>
          <a:lstStyle/>
          <a:p>
            <a:pPr algn="l"/>
            <a:r>
              <a:rPr sz="1200" b="1">
                <a:solidFill>
                  <a:srgbClr val="B85C38"/>
                </a:solidFill>
                <a:latin typeface="Calibri"/>
              </a:rPr>
              <a:t>10.9  NUMBERED, REGISTRY-VALIDATED REFERENCES</a:t>
            </a:r>
          </a:p>
        </p:txBody>
      </p:sp>
      <p:sp>
        <p:nvSpPr>
          <p:cNvPr id="4" name="TextBox 3"/>
          <p:cNvSpPr txBox="1"/>
          <p:nvPr/>
        </p:nvSpPr>
        <p:spPr>
          <a:xfrm>
            <a:off x="411480" y="685800"/>
            <a:ext cx="11338560" cy="685800"/>
          </a:xfrm>
          <a:prstGeom prst="rect">
            <a:avLst/>
          </a:prstGeom>
          <a:noFill/>
        </p:spPr>
        <p:txBody>
          <a:bodyPr wrap="square">
            <a:spAutoFit/>
          </a:bodyPr>
          <a:lstStyle/>
          <a:p>
            <a:pPr algn="l"/>
            <a:r>
              <a:rPr sz="1200" b="0">
                <a:solidFill>
                  <a:srgbClr val="102A32"/>
                </a:solidFill>
                <a:latin typeface="Calibri"/>
              </a:rPr>
              <a:t>[66]  (2023). Noncommunicable diseases fact sheet. World Health Organization.</a:t>
            </a:r>
          </a:p>
        </p:txBody>
      </p:sp>
      <p:sp>
        <p:nvSpPr>
          <p:cNvPr id="5" name="TextBox 4"/>
          <p:cNvSpPr txBox="1"/>
          <p:nvPr/>
        </p:nvSpPr>
        <p:spPr>
          <a:xfrm>
            <a:off x="411480" y="1399032"/>
            <a:ext cx="11338560" cy="685800"/>
          </a:xfrm>
          <a:prstGeom prst="rect">
            <a:avLst/>
          </a:prstGeom>
          <a:noFill/>
        </p:spPr>
        <p:txBody>
          <a:bodyPr wrap="square">
            <a:spAutoFit/>
          </a:bodyPr>
          <a:lstStyle/>
          <a:p>
            <a:pPr algn="l"/>
            <a:r>
              <a:rPr sz="1200" b="0">
                <a:solidFill>
                  <a:srgbClr val="102A32"/>
                </a:solidFill>
                <a:latin typeface="Calibri"/>
              </a:rPr>
              <a:t>[67] Albert Henry, Xiaodong Mo, Chris Finan et al. (2023). Mapping the aetiological foundations of the heart failure spectrum using human genetics. Indexed journal. https://doi.org/10.1101/2023.10.01.23296379</a:t>
            </a:r>
          </a:p>
        </p:txBody>
      </p:sp>
      <p:sp>
        <p:nvSpPr>
          <p:cNvPr id="6" name="TextBox 5"/>
          <p:cNvSpPr txBox="1"/>
          <p:nvPr/>
        </p:nvSpPr>
        <p:spPr>
          <a:xfrm>
            <a:off x="411480" y="2112264"/>
            <a:ext cx="11338560" cy="685800"/>
          </a:xfrm>
          <a:prstGeom prst="rect">
            <a:avLst/>
          </a:prstGeom>
          <a:noFill/>
        </p:spPr>
        <p:txBody>
          <a:bodyPr wrap="square">
            <a:spAutoFit/>
          </a:bodyPr>
          <a:lstStyle/>
          <a:p>
            <a:pPr algn="l"/>
            <a:r>
              <a:rPr sz="1200" b="0">
                <a:solidFill>
                  <a:srgbClr val="102A32"/>
                </a:solidFill>
                <a:latin typeface="Calibri"/>
              </a:rPr>
              <a:t>[68]  (2023). Hypertension — WHO Europe. WHO Europe.</a:t>
            </a:r>
          </a:p>
        </p:txBody>
      </p:sp>
      <p:sp>
        <p:nvSpPr>
          <p:cNvPr id="7" name="TextBox 6"/>
          <p:cNvSpPr txBox="1"/>
          <p:nvPr/>
        </p:nvSpPr>
        <p:spPr>
          <a:xfrm>
            <a:off x="411480" y="2825496"/>
            <a:ext cx="11338560" cy="685800"/>
          </a:xfrm>
          <a:prstGeom prst="rect">
            <a:avLst/>
          </a:prstGeom>
          <a:noFill/>
        </p:spPr>
        <p:txBody>
          <a:bodyPr wrap="square">
            <a:spAutoFit/>
          </a:bodyPr>
          <a:lstStyle/>
          <a:p>
            <a:pPr algn="l"/>
            <a:r>
              <a:rPr sz="1200" b="0">
                <a:solidFill>
                  <a:srgbClr val="102A32"/>
                </a:solidFill>
                <a:latin typeface="Calibri"/>
              </a:rPr>
              <a:t>[69]  (2023). Hypertension fact sheet. World Health Organization.</a:t>
            </a:r>
          </a:p>
        </p:txBody>
      </p:sp>
      <p:sp>
        <p:nvSpPr>
          <p:cNvPr id="8" name="TextBox 7"/>
          <p:cNvSpPr txBox="1"/>
          <p:nvPr/>
        </p:nvSpPr>
        <p:spPr>
          <a:xfrm>
            <a:off x="411480" y="3538728"/>
            <a:ext cx="11338560" cy="685800"/>
          </a:xfrm>
          <a:prstGeom prst="rect">
            <a:avLst/>
          </a:prstGeom>
          <a:noFill/>
        </p:spPr>
        <p:txBody>
          <a:bodyPr wrap="square">
            <a:spAutoFit/>
          </a:bodyPr>
          <a:lstStyle/>
          <a:p>
            <a:pPr algn="l"/>
            <a:r>
              <a:rPr sz="1200" b="0">
                <a:solidFill>
                  <a:srgbClr val="102A32"/>
                </a:solidFill>
                <a:latin typeface="Calibri"/>
              </a:rPr>
              <a:t>[70] Okechukwu S Ogah, Oyewole A Kushimo, Adewole Adebiyi et al. (2023). Heart failure in Nigeria: protocol for a systematic review and meta-analysis. African Health Sciences. https://doi.org/10.4314/ahs.v23i2.61</a:t>
            </a:r>
          </a:p>
        </p:txBody>
      </p:sp>
      <p:sp>
        <p:nvSpPr>
          <p:cNvPr id="9" name="TextBox 8"/>
          <p:cNvSpPr txBox="1"/>
          <p:nvPr/>
        </p:nvSpPr>
        <p:spPr>
          <a:xfrm>
            <a:off x="411480" y="4251960"/>
            <a:ext cx="11338560" cy="685800"/>
          </a:xfrm>
          <a:prstGeom prst="rect">
            <a:avLst/>
          </a:prstGeom>
          <a:noFill/>
        </p:spPr>
        <p:txBody>
          <a:bodyPr wrap="square">
            <a:spAutoFit/>
          </a:bodyPr>
          <a:lstStyle/>
          <a:p>
            <a:pPr algn="l"/>
            <a:r>
              <a:rPr sz="1200" b="0">
                <a:solidFill>
                  <a:srgbClr val="102A32"/>
                </a:solidFill>
                <a:latin typeface="Calibri"/>
              </a:rPr>
              <a:t>[71] Tauben Averbuch, Stephen J. Greene, Harriette G.C. Van Spall (2023). Guideline-Recommended Therapy Following Hospitalization for Heart Failure. JACC: Heart Failure. https://doi.org/10.1016/j.jchf.2023.07.022</a:t>
            </a:r>
          </a:p>
        </p:txBody>
      </p:sp>
      <p:sp>
        <p:nvSpPr>
          <p:cNvPr id="10" name="TextBox 9"/>
          <p:cNvSpPr txBox="1"/>
          <p:nvPr/>
        </p:nvSpPr>
        <p:spPr>
          <a:xfrm>
            <a:off x="411480" y="4965192"/>
            <a:ext cx="11338560" cy="685800"/>
          </a:xfrm>
          <a:prstGeom prst="rect">
            <a:avLst/>
          </a:prstGeom>
          <a:noFill/>
        </p:spPr>
        <p:txBody>
          <a:bodyPr wrap="square">
            <a:spAutoFit/>
          </a:bodyPr>
          <a:lstStyle/>
          <a:p>
            <a:pPr algn="l"/>
            <a:r>
              <a:rPr sz="1200" b="0">
                <a:solidFill>
                  <a:srgbClr val="102A32"/>
                </a:solidFill>
                <a:latin typeface="Calibri"/>
              </a:rPr>
              <a:t>[72] Amrut V. Ambardekar, Abdelghani El Rafei (2023). Guideline-Directed Medical Therapy in Heart Failure. JACC: Heart Failure. https://doi.org/10.1016/j.jchf.2023.01.005</a:t>
            </a:r>
          </a:p>
        </p:txBody>
      </p:sp>
      <p:sp>
        <p:nvSpPr>
          <p:cNvPr id="11" name="TextBox 10"/>
          <p:cNvSpPr txBox="1"/>
          <p:nvPr/>
        </p:nvSpPr>
        <p:spPr>
          <a:xfrm>
            <a:off x="411480" y="5678424"/>
            <a:ext cx="11338560" cy="685800"/>
          </a:xfrm>
          <a:prstGeom prst="rect">
            <a:avLst/>
          </a:prstGeom>
          <a:noFill/>
        </p:spPr>
        <p:txBody>
          <a:bodyPr wrap="square">
            <a:spAutoFit/>
          </a:bodyPr>
          <a:lstStyle/>
          <a:p>
            <a:pPr algn="l"/>
            <a:r>
              <a:rPr sz="1200" b="0">
                <a:solidFill>
                  <a:srgbClr val="102A32"/>
                </a:solidFill>
                <a:latin typeface="Calibri"/>
              </a:rPr>
              <a:t>[73] Robert J. Mentz, Jyotsna Garg, Frank W. Rockhold et al. (2023). Ferric Carboxymaltose in Heart Failure with Iron Deficiency. New England Journal of Medicine. https://doi.org/10.1056/nejmoa2304968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972800" cy="320040"/>
          </a:xfrm>
          <a:prstGeom prst="rect">
            <a:avLst/>
          </a:prstGeom>
          <a:noFill/>
        </p:spPr>
        <p:txBody>
          <a:bodyPr wrap="square">
            <a:spAutoFit/>
          </a:bodyPr>
          <a:lstStyle/>
          <a:p>
            <a:pPr algn="l"/>
            <a:r>
              <a:rPr sz="1200" b="1">
                <a:solidFill>
                  <a:srgbClr val="B85C38"/>
                </a:solidFill>
                <a:latin typeface="Calibri"/>
              </a:rPr>
              <a:t>10.10  NUMBERED, REGISTRY-VALIDATED REFERENCES</a:t>
            </a:r>
          </a:p>
        </p:txBody>
      </p:sp>
      <p:sp>
        <p:nvSpPr>
          <p:cNvPr id="4" name="TextBox 3"/>
          <p:cNvSpPr txBox="1"/>
          <p:nvPr/>
        </p:nvSpPr>
        <p:spPr>
          <a:xfrm>
            <a:off x="411480" y="685800"/>
            <a:ext cx="11338560" cy="685800"/>
          </a:xfrm>
          <a:prstGeom prst="rect">
            <a:avLst/>
          </a:prstGeom>
          <a:noFill/>
        </p:spPr>
        <p:txBody>
          <a:bodyPr wrap="square">
            <a:spAutoFit/>
          </a:bodyPr>
          <a:lstStyle/>
          <a:p>
            <a:pPr algn="l"/>
            <a:r>
              <a:rPr sz="1200" b="0">
                <a:solidFill>
                  <a:srgbClr val="102A32"/>
                </a:solidFill>
                <a:latin typeface="Calibri"/>
              </a:rPr>
              <a:t>[75]  (2023). Cardiovascular diseases — WHO Western Pacific. WHO Western Pacific.</a:t>
            </a:r>
          </a:p>
        </p:txBody>
      </p:sp>
      <p:sp>
        <p:nvSpPr>
          <p:cNvPr id="5" name="TextBox 4"/>
          <p:cNvSpPr txBox="1"/>
          <p:nvPr/>
        </p:nvSpPr>
        <p:spPr>
          <a:xfrm>
            <a:off x="411480" y="1399032"/>
            <a:ext cx="11338560" cy="685800"/>
          </a:xfrm>
          <a:prstGeom prst="rect">
            <a:avLst/>
          </a:prstGeom>
          <a:noFill/>
        </p:spPr>
        <p:txBody>
          <a:bodyPr wrap="square">
            <a:spAutoFit/>
          </a:bodyPr>
          <a:lstStyle/>
          <a:p>
            <a:pPr algn="l"/>
            <a:r>
              <a:rPr sz="1200" b="0">
                <a:solidFill>
                  <a:srgbClr val="102A32"/>
                </a:solidFill>
                <a:latin typeface="Calibri"/>
              </a:rPr>
              <a:t>[76]  (2023). Cardiovascular diseases — WHO South-East Asia. WHO SEARO.</a:t>
            </a:r>
          </a:p>
        </p:txBody>
      </p:sp>
      <p:sp>
        <p:nvSpPr>
          <p:cNvPr id="6" name="TextBox 5"/>
          <p:cNvSpPr txBox="1"/>
          <p:nvPr/>
        </p:nvSpPr>
        <p:spPr>
          <a:xfrm>
            <a:off x="411480" y="2112264"/>
            <a:ext cx="11338560" cy="685800"/>
          </a:xfrm>
          <a:prstGeom prst="rect">
            <a:avLst/>
          </a:prstGeom>
          <a:noFill/>
        </p:spPr>
        <p:txBody>
          <a:bodyPr wrap="square">
            <a:spAutoFit/>
          </a:bodyPr>
          <a:lstStyle/>
          <a:p>
            <a:pPr algn="l"/>
            <a:r>
              <a:rPr sz="1200" b="0">
                <a:solidFill>
                  <a:srgbClr val="102A32"/>
                </a:solidFill>
                <a:latin typeface="Calibri"/>
              </a:rPr>
              <a:t>[77]  (2023). Cardiovascular diseases — WHO Regional Office for Africa. WHO AFRO.</a:t>
            </a:r>
          </a:p>
        </p:txBody>
      </p:sp>
      <p:sp>
        <p:nvSpPr>
          <p:cNvPr id="7" name="TextBox 6"/>
          <p:cNvSpPr txBox="1"/>
          <p:nvPr/>
        </p:nvSpPr>
        <p:spPr>
          <a:xfrm>
            <a:off x="411480" y="2825496"/>
            <a:ext cx="11338560" cy="685800"/>
          </a:xfrm>
          <a:prstGeom prst="rect">
            <a:avLst/>
          </a:prstGeom>
          <a:noFill/>
        </p:spPr>
        <p:txBody>
          <a:bodyPr wrap="square">
            <a:spAutoFit/>
          </a:bodyPr>
          <a:lstStyle/>
          <a:p>
            <a:pPr algn="l"/>
            <a:r>
              <a:rPr sz="1200" b="0">
                <a:solidFill>
                  <a:srgbClr val="102A32"/>
                </a:solidFill>
                <a:latin typeface="Calibri"/>
              </a:rPr>
              <a:t>[78]  (2023). Cardiovascular diseases — WHO Europe. WHO Europe.</a:t>
            </a:r>
          </a:p>
        </p:txBody>
      </p:sp>
      <p:sp>
        <p:nvSpPr>
          <p:cNvPr id="8" name="TextBox 7"/>
          <p:cNvSpPr txBox="1"/>
          <p:nvPr/>
        </p:nvSpPr>
        <p:spPr>
          <a:xfrm>
            <a:off x="411480" y="3538728"/>
            <a:ext cx="11338560" cy="685800"/>
          </a:xfrm>
          <a:prstGeom prst="rect">
            <a:avLst/>
          </a:prstGeom>
          <a:noFill/>
        </p:spPr>
        <p:txBody>
          <a:bodyPr wrap="square">
            <a:spAutoFit/>
          </a:bodyPr>
          <a:lstStyle/>
          <a:p>
            <a:pPr algn="l"/>
            <a:r>
              <a:rPr sz="1200" b="0">
                <a:solidFill>
                  <a:srgbClr val="102A32"/>
                </a:solidFill>
                <a:latin typeface="Calibri"/>
              </a:rPr>
              <a:t>[79] Theresa A McDonagh, Marco Metra, Marianna Adamo et al. (2023). 2023 Focused Update of the 2021 ESC Guidelines for the diagnosis and treatment of acute and chronic heart failure. European Heart Journal. https://doi.org/10.1093/eurheartj/ehad195</a:t>
            </a:r>
          </a:p>
        </p:txBody>
      </p:sp>
      <p:sp>
        <p:nvSpPr>
          <p:cNvPr id="9" name="TextBox 8"/>
          <p:cNvSpPr txBox="1"/>
          <p:nvPr/>
        </p:nvSpPr>
        <p:spPr>
          <a:xfrm>
            <a:off x="411480" y="4251960"/>
            <a:ext cx="11338560" cy="685800"/>
          </a:xfrm>
          <a:prstGeom prst="rect">
            <a:avLst/>
          </a:prstGeom>
          <a:noFill/>
        </p:spPr>
        <p:txBody>
          <a:bodyPr wrap="square">
            <a:spAutoFit/>
          </a:bodyPr>
          <a:lstStyle/>
          <a:p>
            <a:pPr algn="l"/>
            <a:r>
              <a:rPr sz="1200" b="0">
                <a:solidFill>
                  <a:srgbClr val="102A32"/>
                </a:solidFill>
                <a:latin typeface="Calibri"/>
              </a:rPr>
              <a:t>[80] Giuseppe Mancia, Reinhold Kreutz, Mattias Brunström et al. (2023). 2023 ESH Guidelines for the management of arterial hypertension The Task Force for the management of arterial hypertension of the European Society of Hypertension. Journal of Hypertension. https://doi.org/10.1097/hjh.0000000000003480</a:t>
            </a:r>
          </a:p>
        </p:txBody>
      </p:sp>
      <p:sp>
        <p:nvSpPr>
          <p:cNvPr id="10" name="TextBox 9"/>
          <p:cNvSpPr txBox="1"/>
          <p:nvPr/>
        </p:nvSpPr>
        <p:spPr>
          <a:xfrm>
            <a:off x="411480" y="4965192"/>
            <a:ext cx="11338560" cy="685800"/>
          </a:xfrm>
          <a:prstGeom prst="rect">
            <a:avLst/>
          </a:prstGeom>
          <a:noFill/>
        </p:spPr>
        <p:txBody>
          <a:bodyPr wrap="square">
            <a:spAutoFit/>
          </a:bodyPr>
          <a:lstStyle/>
          <a:p>
            <a:pPr algn="l"/>
            <a:r>
              <a:rPr sz="1200" b="0">
                <a:solidFill>
                  <a:srgbClr val="102A32"/>
                </a:solidFill>
                <a:latin typeface="Calibri"/>
              </a:rPr>
              <a:t>[81] Nikolaus Marx, Massimo Federici, Katharina Schütt et al. (2023). 2023 ESC Guidelines for the management of cardiovascular disease in patients with diabetes. European Heart Journal. https://doi.org/10.1093/eurheartj/ehad192</a:t>
            </a:r>
          </a:p>
        </p:txBody>
      </p:sp>
      <p:sp>
        <p:nvSpPr>
          <p:cNvPr id="11" name="TextBox 10"/>
          <p:cNvSpPr txBox="1"/>
          <p:nvPr/>
        </p:nvSpPr>
        <p:spPr>
          <a:xfrm>
            <a:off x="411480" y="5678424"/>
            <a:ext cx="11338560" cy="685800"/>
          </a:xfrm>
          <a:prstGeom prst="rect">
            <a:avLst/>
          </a:prstGeom>
          <a:noFill/>
        </p:spPr>
        <p:txBody>
          <a:bodyPr wrap="square">
            <a:spAutoFit/>
          </a:bodyPr>
          <a:lstStyle/>
          <a:p>
            <a:pPr algn="l"/>
            <a:r>
              <a:rPr sz="1200" b="0">
                <a:solidFill>
                  <a:srgbClr val="102A32"/>
                </a:solidFill>
                <a:latin typeface="Calibri"/>
              </a:rPr>
              <a:t>[82] Adriaan A. Voors, Christiane E. Angermann, John R. Teerlink et al. (2022). The SGLT2 inhibitor empagliflozin in patients hospitalized for acute heart failure: a multinational randomized trial. Nature Medicine. https://doi.org/10.1038/s41591-021-01659-1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972800" cy="320040"/>
          </a:xfrm>
          <a:prstGeom prst="rect">
            <a:avLst/>
          </a:prstGeom>
          <a:noFill/>
        </p:spPr>
        <p:txBody>
          <a:bodyPr wrap="square">
            <a:spAutoFit/>
          </a:bodyPr>
          <a:lstStyle/>
          <a:p>
            <a:pPr algn="l"/>
            <a:r>
              <a:rPr sz="1200" b="1">
                <a:solidFill>
                  <a:srgbClr val="B85C38"/>
                </a:solidFill>
                <a:latin typeface="Calibri"/>
              </a:rPr>
              <a:t>10.11  NUMBERED, REGISTRY-VALIDATED REFERENCES</a:t>
            </a:r>
          </a:p>
        </p:txBody>
      </p:sp>
      <p:sp>
        <p:nvSpPr>
          <p:cNvPr id="4" name="TextBox 3"/>
          <p:cNvSpPr txBox="1"/>
          <p:nvPr/>
        </p:nvSpPr>
        <p:spPr>
          <a:xfrm>
            <a:off x="411480" y="685800"/>
            <a:ext cx="11338560" cy="685800"/>
          </a:xfrm>
          <a:prstGeom prst="rect">
            <a:avLst/>
          </a:prstGeom>
          <a:noFill/>
        </p:spPr>
        <p:txBody>
          <a:bodyPr wrap="square">
            <a:spAutoFit/>
          </a:bodyPr>
          <a:lstStyle/>
          <a:p>
            <a:pPr algn="l"/>
            <a:r>
              <a:rPr sz="1200" b="0">
                <a:solidFill>
                  <a:srgbClr val="102A32"/>
                </a:solidFill>
                <a:latin typeface="Calibri"/>
              </a:rPr>
              <a:t>[83] Alexandre Mebazaa, Beth Davison, Ovidiu Chioncel et al. (2022). Safety, tolerability and efficacy of up-titration of guideline-directed medical therapies for acute heart failure (STRONG-HF): a multinational, open-label, randomised, trial. The Lancet. https://doi.org/10.1016/s0140-6736(22)02076-1</a:t>
            </a:r>
          </a:p>
        </p:txBody>
      </p:sp>
      <p:sp>
        <p:nvSpPr>
          <p:cNvPr id="5" name="TextBox 4"/>
          <p:cNvSpPr txBox="1"/>
          <p:nvPr/>
        </p:nvSpPr>
        <p:spPr>
          <a:xfrm>
            <a:off x="411480" y="1399032"/>
            <a:ext cx="11338560" cy="685800"/>
          </a:xfrm>
          <a:prstGeom prst="rect">
            <a:avLst/>
          </a:prstGeom>
          <a:noFill/>
        </p:spPr>
        <p:txBody>
          <a:bodyPr wrap="square">
            <a:spAutoFit/>
          </a:bodyPr>
          <a:lstStyle/>
          <a:p>
            <a:pPr algn="l"/>
            <a:r>
              <a:rPr sz="1200" b="0">
                <a:solidFill>
                  <a:srgbClr val="102A32"/>
                </a:solidFill>
                <a:latin typeface="Calibri"/>
              </a:rPr>
              <a:t>[84]  (2022). Review for "The prognostic impact of symptom clusters in patients with heart failure: A systematic review and meta-analysis". Indexed journal. https://doi.org/10.1111/jan.15302/v2/review1</a:t>
            </a:r>
          </a:p>
        </p:txBody>
      </p:sp>
      <p:sp>
        <p:nvSpPr>
          <p:cNvPr id="6" name="TextBox 5"/>
          <p:cNvSpPr txBox="1"/>
          <p:nvPr/>
        </p:nvSpPr>
        <p:spPr>
          <a:xfrm>
            <a:off x="411480" y="2112264"/>
            <a:ext cx="11338560" cy="685800"/>
          </a:xfrm>
          <a:prstGeom prst="rect">
            <a:avLst/>
          </a:prstGeom>
          <a:noFill/>
        </p:spPr>
        <p:txBody>
          <a:bodyPr wrap="square">
            <a:spAutoFit/>
          </a:bodyPr>
          <a:lstStyle/>
          <a:p>
            <a:pPr algn="l"/>
            <a:r>
              <a:rPr sz="1200" b="0">
                <a:solidFill>
                  <a:srgbClr val="102A32"/>
                </a:solidFill>
                <a:latin typeface="Calibri"/>
              </a:rPr>
              <a:t>[85] Melanie J. Davies, Vanita R. Aroda, Billy S. Collins et al. (2022). Management of Hyperglycemia in Type 2 Diabetes, 2022. A Consensus Report by the American Diabetes Association (ADA) and the European Association for the Study of Diabetes (EASD). Diabetes Care. https://doi.org/10.2337/dci22-0034</a:t>
            </a:r>
          </a:p>
        </p:txBody>
      </p:sp>
      <p:sp>
        <p:nvSpPr>
          <p:cNvPr id="7" name="TextBox 6"/>
          <p:cNvSpPr txBox="1"/>
          <p:nvPr/>
        </p:nvSpPr>
        <p:spPr>
          <a:xfrm>
            <a:off x="411480" y="2825496"/>
            <a:ext cx="11338560" cy="685800"/>
          </a:xfrm>
          <a:prstGeom prst="rect">
            <a:avLst/>
          </a:prstGeom>
          <a:noFill/>
        </p:spPr>
        <p:txBody>
          <a:bodyPr wrap="square">
            <a:spAutoFit/>
          </a:bodyPr>
          <a:lstStyle/>
          <a:p>
            <a:pPr algn="l"/>
            <a:r>
              <a:rPr sz="1200" b="0">
                <a:solidFill>
                  <a:srgbClr val="102A32"/>
                </a:solidFill>
                <a:latin typeface="Calibri"/>
              </a:rPr>
              <a:t>[86] Paul R Kalra, John G F Cleland, Mark C Petrie et al. (2022). Intravenous ferric derisomaltose in patients with heart failure and iron deficiency in the UK (IRONMAN): an investigator-initiated, prospective, randomised, open-label, blinded-endpoint trial. The Lancet. https://doi.org/10.1016/s0140-6736(22)02083-9</a:t>
            </a:r>
          </a:p>
        </p:txBody>
      </p:sp>
      <p:sp>
        <p:nvSpPr>
          <p:cNvPr id="8" name="TextBox 7"/>
          <p:cNvSpPr txBox="1"/>
          <p:nvPr/>
        </p:nvSpPr>
        <p:spPr>
          <a:xfrm>
            <a:off x="411480" y="3538728"/>
            <a:ext cx="11338560" cy="685800"/>
          </a:xfrm>
          <a:prstGeom prst="rect">
            <a:avLst/>
          </a:prstGeom>
          <a:noFill/>
        </p:spPr>
        <p:txBody>
          <a:bodyPr wrap="square">
            <a:spAutoFit/>
          </a:bodyPr>
          <a:lstStyle/>
          <a:p>
            <a:pPr algn="l"/>
            <a:r>
              <a:rPr sz="1200" b="0">
                <a:solidFill>
                  <a:srgbClr val="102A32"/>
                </a:solidFill>
                <a:latin typeface="Calibri"/>
              </a:rPr>
              <a:t>[87] Scott D. Solomon, John J.V. McMurray, Brian Claggett et al. (2022). Dapagliflozin in Heart Failure with Mildly Reduced or Preserved Ejection Fraction. New England Journal of Medicine. https://doi.org/10.1056/nejmoa2206286</a:t>
            </a:r>
          </a:p>
        </p:txBody>
      </p:sp>
      <p:sp>
        <p:nvSpPr>
          <p:cNvPr id="9" name="TextBox 8"/>
          <p:cNvSpPr txBox="1"/>
          <p:nvPr/>
        </p:nvSpPr>
        <p:spPr>
          <a:xfrm>
            <a:off x="411480" y="4251960"/>
            <a:ext cx="11338560" cy="685800"/>
          </a:xfrm>
          <a:prstGeom prst="rect">
            <a:avLst/>
          </a:prstGeom>
          <a:noFill/>
        </p:spPr>
        <p:txBody>
          <a:bodyPr wrap="square">
            <a:spAutoFit/>
          </a:bodyPr>
          <a:lstStyle/>
          <a:p>
            <a:pPr algn="l"/>
            <a:r>
              <a:rPr sz="1200" b="0">
                <a:solidFill>
                  <a:srgbClr val="102A32"/>
                </a:solidFill>
                <a:latin typeface="Calibri"/>
              </a:rPr>
              <a:t>[89] Wilfried Mullens, Jeroen Dauw, Pieter Martens et al. (2022). Acetazolamide in Acute Decompensated Heart Failure with Volume Overload. New England Journal of Medicine. https://doi.org/10.1056/nejmoa2203094</a:t>
            </a:r>
          </a:p>
        </p:txBody>
      </p:sp>
      <p:sp>
        <p:nvSpPr>
          <p:cNvPr id="10" name="TextBox 9"/>
          <p:cNvSpPr txBox="1"/>
          <p:nvPr/>
        </p:nvSpPr>
        <p:spPr>
          <a:xfrm>
            <a:off x="411480" y="4965192"/>
            <a:ext cx="11338560" cy="685800"/>
          </a:xfrm>
          <a:prstGeom prst="rect">
            <a:avLst/>
          </a:prstGeom>
          <a:noFill/>
        </p:spPr>
        <p:txBody>
          <a:bodyPr wrap="square">
            <a:spAutoFit/>
          </a:bodyPr>
          <a:lstStyle/>
          <a:p>
            <a:pPr algn="l"/>
            <a:r>
              <a:rPr sz="1200" b="0">
                <a:solidFill>
                  <a:srgbClr val="102A32"/>
                </a:solidFill>
                <a:latin typeface="Calibri"/>
              </a:rPr>
              <a:t>[90] Paul A. Heidenreich, Biykem Bozkurt, David Aguilar et al. (2022). 2022 AHA/ACC/HFSA Guideline for the Management of Heart Failure: A Report of the American College of Cardiology/American Heart Association Joint Committee on Clinical Practice Guidelines. Circulation. https://doi.org/10.1161/cir.0000000000001063</a:t>
            </a:r>
          </a:p>
        </p:txBody>
      </p:sp>
      <p:sp>
        <p:nvSpPr>
          <p:cNvPr id="11" name="TextBox 10"/>
          <p:cNvSpPr txBox="1"/>
          <p:nvPr/>
        </p:nvSpPr>
        <p:spPr>
          <a:xfrm>
            <a:off x="411480" y="5678424"/>
            <a:ext cx="11338560" cy="685800"/>
          </a:xfrm>
          <a:prstGeom prst="rect">
            <a:avLst/>
          </a:prstGeom>
          <a:noFill/>
        </p:spPr>
        <p:txBody>
          <a:bodyPr wrap="square">
            <a:spAutoFit/>
          </a:bodyPr>
          <a:lstStyle/>
          <a:p>
            <a:pPr algn="l"/>
            <a:r>
              <a:rPr sz="1200" b="0">
                <a:solidFill>
                  <a:srgbClr val="102A32"/>
                </a:solidFill>
                <a:latin typeface="Calibri"/>
              </a:rPr>
              <a:t>[91] Paul A. Heidenreich, Biykem Bozkurt, David Aguilar et al. (2022). 2022 AHA/ACC/HFSA Guideline for the Management of Heart Failure. Journal of the American College of Cardiology. https://doi.org/10.1016/j.jacc.2021.12.012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972800" cy="320040"/>
          </a:xfrm>
          <a:prstGeom prst="rect">
            <a:avLst/>
          </a:prstGeom>
          <a:noFill/>
        </p:spPr>
        <p:txBody>
          <a:bodyPr wrap="square">
            <a:spAutoFit/>
          </a:bodyPr>
          <a:lstStyle/>
          <a:p>
            <a:pPr algn="l"/>
            <a:r>
              <a:rPr sz="1200" b="1">
                <a:solidFill>
                  <a:srgbClr val="B85C38"/>
                </a:solidFill>
                <a:latin typeface="Calibri"/>
              </a:rPr>
              <a:t>10.12  NUMBERED, REGISTRY-VALIDATED REFERENCES</a:t>
            </a:r>
          </a:p>
        </p:txBody>
      </p:sp>
      <p:sp>
        <p:nvSpPr>
          <p:cNvPr id="4" name="TextBox 3"/>
          <p:cNvSpPr txBox="1"/>
          <p:nvPr/>
        </p:nvSpPr>
        <p:spPr>
          <a:xfrm>
            <a:off x="411480" y="685800"/>
            <a:ext cx="11338560" cy="685800"/>
          </a:xfrm>
          <a:prstGeom prst="rect">
            <a:avLst/>
          </a:prstGeom>
          <a:noFill/>
        </p:spPr>
        <p:txBody>
          <a:bodyPr wrap="square">
            <a:spAutoFit/>
          </a:bodyPr>
          <a:lstStyle/>
          <a:p>
            <a:pPr algn="l"/>
            <a:r>
              <a:rPr sz="1200" b="0">
                <a:solidFill>
                  <a:srgbClr val="102A32"/>
                </a:solidFill>
                <a:latin typeface="Calibri"/>
              </a:rPr>
              <a:t>[92] Authors/Task Force Members:, Theresa A. McDonagh, Marco Metra et al. (2022). 2021 ESC Guidelines for the Diagnosis and Treatment of Acute and Chronic Heart Failure. European Journal of Heart Failure. https://doi.org/10.1002/ejhf.2333</a:t>
            </a:r>
          </a:p>
        </p:txBody>
      </p:sp>
      <p:sp>
        <p:nvSpPr>
          <p:cNvPr id="5" name="TextBox 4"/>
          <p:cNvSpPr txBox="1"/>
          <p:nvPr/>
        </p:nvSpPr>
        <p:spPr>
          <a:xfrm>
            <a:off x="411480" y="1399032"/>
            <a:ext cx="11338560" cy="685800"/>
          </a:xfrm>
          <a:prstGeom prst="rect">
            <a:avLst/>
          </a:prstGeom>
          <a:noFill/>
        </p:spPr>
        <p:txBody>
          <a:bodyPr wrap="square">
            <a:spAutoFit/>
          </a:bodyPr>
          <a:lstStyle/>
          <a:p>
            <a:pPr algn="l"/>
            <a:r>
              <a:rPr sz="1200" b="0">
                <a:solidFill>
                  <a:srgbClr val="102A32"/>
                </a:solidFill>
                <a:latin typeface="Calibri"/>
              </a:rPr>
              <a:t>[93] Biykem Bozkurt, Andrew J.S. Coats, Hiroyuki Tsutsui et al. (2021). Universal definition and classification of heart failure: a report of the Heart Failure Society of America, Heart Failure Association of the European Society of Cardiology, Japanese Heart Failure Society and Writing Committee of the Universal Defin</a:t>
            </a:r>
          </a:p>
        </p:txBody>
      </p:sp>
      <p:sp>
        <p:nvSpPr>
          <p:cNvPr id="6" name="TextBox 5"/>
          <p:cNvSpPr txBox="1"/>
          <p:nvPr/>
        </p:nvSpPr>
        <p:spPr>
          <a:xfrm>
            <a:off x="411480" y="2112264"/>
            <a:ext cx="11338560" cy="685800"/>
          </a:xfrm>
          <a:prstGeom prst="rect">
            <a:avLst/>
          </a:prstGeom>
          <a:noFill/>
        </p:spPr>
        <p:txBody>
          <a:bodyPr wrap="square">
            <a:spAutoFit/>
          </a:bodyPr>
          <a:lstStyle/>
          <a:p>
            <a:pPr algn="l"/>
            <a:r>
              <a:rPr sz="1200" b="0">
                <a:solidFill>
                  <a:srgbClr val="102A32"/>
                </a:solidFill>
                <a:latin typeface="Calibri"/>
              </a:rPr>
              <a:t>[94] Deepak L. Bhatt, Michael Szarek, P. Gabriel Steg et al. (2021). Sotagliflozin in Patients with Diabetes and Recent Worsening Heart Failure. New England Journal of Medicine. https://doi.org/10.1056/nejmoa2030183</a:t>
            </a:r>
          </a:p>
        </p:txBody>
      </p:sp>
      <p:sp>
        <p:nvSpPr>
          <p:cNvPr id="7" name="TextBox 6"/>
          <p:cNvSpPr txBox="1"/>
          <p:nvPr/>
        </p:nvSpPr>
        <p:spPr>
          <a:xfrm>
            <a:off x="411480" y="2825496"/>
            <a:ext cx="11338560" cy="685800"/>
          </a:xfrm>
          <a:prstGeom prst="rect">
            <a:avLst/>
          </a:prstGeom>
          <a:noFill/>
        </p:spPr>
        <p:txBody>
          <a:bodyPr wrap="square">
            <a:spAutoFit/>
          </a:bodyPr>
          <a:lstStyle/>
          <a:p>
            <a:pPr algn="l"/>
            <a:r>
              <a:rPr sz="1200" b="0">
                <a:solidFill>
                  <a:srgbClr val="102A32"/>
                </a:solidFill>
                <a:latin typeface="Calibri"/>
              </a:rPr>
              <a:t>[95] Kuan-Han H. Wu, Nicholas J. Douville, Matthew C. Konerman et al. (2021). Polygenic risk score from a multi-ancestry GWAS uncovers susceptibility of heart failure. Indexed journal. https://doi.org/10.1101/2021.12.06.21267389</a:t>
            </a:r>
          </a:p>
        </p:txBody>
      </p:sp>
      <p:sp>
        <p:nvSpPr>
          <p:cNvPr id="8" name="TextBox 7"/>
          <p:cNvSpPr txBox="1"/>
          <p:nvPr/>
        </p:nvSpPr>
        <p:spPr>
          <a:xfrm>
            <a:off x="411480" y="3538728"/>
            <a:ext cx="11338560" cy="685800"/>
          </a:xfrm>
          <a:prstGeom prst="rect">
            <a:avLst/>
          </a:prstGeom>
          <a:noFill/>
        </p:spPr>
        <p:txBody>
          <a:bodyPr wrap="square">
            <a:spAutoFit/>
          </a:bodyPr>
          <a:lstStyle/>
          <a:p>
            <a:pPr algn="l"/>
            <a:r>
              <a:rPr sz="1200" b="0">
                <a:solidFill>
                  <a:srgbClr val="102A32"/>
                </a:solidFill>
                <a:latin typeface="Calibri"/>
              </a:rPr>
              <a:t>[96] Tiffany M. Powell-Wiley, Paul Poirier, Lora E. Burke et al. (2021). Obesity and Cardiovascular Disease: A Scientific Statement From the American Heart Association. Circulation. https://doi.org/10.1161/cir.0000000000000973</a:t>
            </a:r>
          </a:p>
        </p:txBody>
      </p:sp>
      <p:sp>
        <p:nvSpPr>
          <p:cNvPr id="9" name="TextBox 8"/>
          <p:cNvSpPr txBox="1"/>
          <p:nvPr/>
        </p:nvSpPr>
        <p:spPr>
          <a:xfrm>
            <a:off x="411480" y="4251960"/>
            <a:ext cx="11338560" cy="685800"/>
          </a:xfrm>
          <a:prstGeom prst="rect">
            <a:avLst/>
          </a:prstGeom>
          <a:noFill/>
        </p:spPr>
        <p:txBody>
          <a:bodyPr wrap="square">
            <a:spAutoFit/>
          </a:bodyPr>
          <a:lstStyle/>
          <a:p>
            <a:pPr algn="l"/>
            <a:r>
              <a:rPr sz="1200" b="0">
                <a:solidFill>
                  <a:srgbClr val="102A32"/>
                </a:solidFill>
                <a:latin typeface="Calibri"/>
              </a:rPr>
              <a:t>[97] Soyoung Choi, Lisa Kitko, Judith Hupcey et al. (2021). Longitudinal family caregiving experiences in heart failure: Secondary qualitative analysis of interviews. Heart &amp;amp; Lung. https://doi.org/10.1016/j.hrtlng.2021.05.002</a:t>
            </a:r>
          </a:p>
        </p:txBody>
      </p:sp>
      <p:sp>
        <p:nvSpPr>
          <p:cNvPr id="10" name="TextBox 9"/>
          <p:cNvSpPr txBox="1"/>
          <p:nvPr/>
        </p:nvSpPr>
        <p:spPr>
          <a:xfrm>
            <a:off x="411480" y="4965192"/>
            <a:ext cx="11338560" cy="685800"/>
          </a:xfrm>
          <a:prstGeom prst="rect">
            <a:avLst/>
          </a:prstGeom>
          <a:noFill/>
        </p:spPr>
        <p:txBody>
          <a:bodyPr wrap="square">
            <a:spAutoFit/>
          </a:bodyPr>
          <a:lstStyle/>
          <a:p>
            <a:pPr algn="l"/>
            <a:r>
              <a:rPr sz="1200" b="0">
                <a:solidFill>
                  <a:srgbClr val="102A32"/>
                </a:solidFill>
                <a:latin typeface="Calibri"/>
              </a:rPr>
              <a:t>[98] Nicoleta Cojocaru, Dana Clapon, Loredana Jinga et al. (2021). Indicațiile actuale ale combinației terapeutice sacubitril/valsartan în insuficiența cardiacă | [Current indications for sacubitril/valsartan therapeutic combination in heart failure]. Jurnal Medical Brasovean. https://doi.org/10.31926/jmb.2020.2.10</a:t>
            </a:r>
          </a:p>
        </p:txBody>
      </p:sp>
      <p:sp>
        <p:nvSpPr>
          <p:cNvPr id="11" name="TextBox 10"/>
          <p:cNvSpPr txBox="1"/>
          <p:nvPr/>
        </p:nvSpPr>
        <p:spPr>
          <a:xfrm>
            <a:off x="411480" y="5678424"/>
            <a:ext cx="11338560" cy="685800"/>
          </a:xfrm>
          <a:prstGeom prst="rect">
            <a:avLst/>
          </a:prstGeom>
          <a:noFill/>
        </p:spPr>
        <p:txBody>
          <a:bodyPr wrap="square">
            <a:spAutoFit/>
          </a:bodyPr>
          <a:lstStyle/>
          <a:p>
            <a:pPr algn="l"/>
            <a:r>
              <a:rPr sz="1200" b="0">
                <a:solidFill>
                  <a:srgbClr val="102A32"/>
                </a:solidFill>
                <a:latin typeface="Calibri"/>
              </a:rPr>
              <a:t>[99] Dan Liu, Kai Hu, Kolja Lau et al. (2021). Impact of Diastolic Dysfunction on Outcome in Heart Failure Patients with Mid-Range or Reduced Ejection Fraction. ESC Heart Failure. https://doi.org/10.1002/ehf2.13352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972800" cy="320040"/>
          </a:xfrm>
          <a:prstGeom prst="rect">
            <a:avLst/>
          </a:prstGeom>
          <a:noFill/>
        </p:spPr>
        <p:txBody>
          <a:bodyPr wrap="square">
            <a:spAutoFit/>
          </a:bodyPr>
          <a:lstStyle/>
          <a:p>
            <a:pPr algn="l"/>
            <a:r>
              <a:rPr sz="1200" b="1">
                <a:solidFill>
                  <a:srgbClr val="B85C38"/>
                </a:solidFill>
                <a:latin typeface="Calibri"/>
              </a:rPr>
              <a:t>10.13  NUMBERED, REGISTRY-VALIDATED REFERENCES</a:t>
            </a:r>
          </a:p>
        </p:txBody>
      </p:sp>
      <p:sp>
        <p:nvSpPr>
          <p:cNvPr id="4" name="TextBox 3"/>
          <p:cNvSpPr txBox="1"/>
          <p:nvPr/>
        </p:nvSpPr>
        <p:spPr>
          <a:xfrm>
            <a:off x="411480" y="685800"/>
            <a:ext cx="11338560" cy="685800"/>
          </a:xfrm>
          <a:prstGeom prst="rect">
            <a:avLst/>
          </a:prstGeom>
          <a:noFill/>
        </p:spPr>
        <p:txBody>
          <a:bodyPr wrap="square">
            <a:spAutoFit/>
          </a:bodyPr>
          <a:lstStyle/>
          <a:p>
            <a:pPr algn="l"/>
            <a:r>
              <a:rPr sz="1200" b="0">
                <a:solidFill>
                  <a:srgbClr val="102A32"/>
                </a:solidFill>
                <a:latin typeface="Calibri"/>
              </a:rPr>
              <a:t>[100]  (2021). HEARTS in the Americas. PAHO / WHO Americas.</a:t>
            </a:r>
          </a:p>
        </p:txBody>
      </p:sp>
      <p:sp>
        <p:nvSpPr>
          <p:cNvPr id="5" name="TextBox 4"/>
          <p:cNvSpPr txBox="1"/>
          <p:nvPr/>
        </p:nvSpPr>
        <p:spPr>
          <a:xfrm>
            <a:off x="411480" y="1399032"/>
            <a:ext cx="11338560" cy="685800"/>
          </a:xfrm>
          <a:prstGeom prst="rect">
            <a:avLst/>
          </a:prstGeom>
          <a:noFill/>
        </p:spPr>
        <p:txBody>
          <a:bodyPr wrap="square">
            <a:spAutoFit/>
          </a:bodyPr>
          <a:lstStyle/>
          <a:p>
            <a:pPr algn="l"/>
            <a:r>
              <a:rPr sz="1200" b="0">
                <a:solidFill>
                  <a:srgbClr val="102A32"/>
                </a:solidFill>
                <a:latin typeface="Calibri"/>
              </a:rPr>
              <a:t>[101] Salim S. Virani, Alvaro Alonso, Hugo J. Aparicio et al. (2021). Heart Disease and Stroke Statistics—2021 Update. Circulation. https://doi.org/10.1161/cir.0000000000000950</a:t>
            </a:r>
          </a:p>
        </p:txBody>
      </p:sp>
      <p:sp>
        <p:nvSpPr>
          <p:cNvPr id="6" name="TextBox 5"/>
          <p:cNvSpPr txBox="1"/>
          <p:nvPr/>
        </p:nvSpPr>
        <p:spPr>
          <a:xfrm>
            <a:off x="411480" y="2112264"/>
            <a:ext cx="11338560" cy="685800"/>
          </a:xfrm>
          <a:prstGeom prst="rect">
            <a:avLst/>
          </a:prstGeom>
          <a:noFill/>
        </p:spPr>
        <p:txBody>
          <a:bodyPr wrap="square">
            <a:spAutoFit/>
          </a:bodyPr>
          <a:lstStyle/>
          <a:p>
            <a:pPr algn="l"/>
            <a:r>
              <a:rPr sz="1200" b="0">
                <a:solidFill>
                  <a:srgbClr val="102A32"/>
                </a:solidFill>
                <a:latin typeface="Calibri"/>
              </a:rPr>
              <a:t>[102] JoAnn Lindenfeld, Michael R Zile, Akshay S Desai et al. (2021). Haemodynamic-guided management of heart failure (GUIDE-HF): a randomised controlled trial. The Lancet. https://doi.org/10.1016/s0140-6736(21)01754-2</a:t>
            </a:r>
          </a:p>
        </p:txBody>
      </p:sp>
      <p:sp>
        <p:nvSpPr>
          <p:cNvPr id="7" name="TextBox 6"/>
          <p:cNvSpPr txBox="1"/>
          <p:nvPr/>
        </p:nvSpPr>
        <p:spPr>
          <a:xfrm>
            <a:off x="411480" y="2825496"/>
            <a:ext cx="11338560" cy="685800"/>
          </a:xfrm>
          <a:prstGeom prst="rect">
            <a:avLst/>
          </a:prstGeom>
          <a:noFill/>
        </p:spPr>
        <p:txBody>
          <a:bodyPr wrap="square">
            <a:spAutoFit/>
          </a:bodyPr>
          <a:lstStyle/>
          <a:p>
            <a:pPr algn="l"/>
            <a:r>
              <a:rPr sz="1200" b="0">
                <a:solidFill>
                  <a:srgbClr val="102A32"/>
                </a:solidFill>
                <a:latin typeface="Calibri"/>
              </a:rPr>
              <a:t>[103]  (2021). Guideline for the pharmacological treatment of hypertension in adults. World Health Organization.</a:t>
            </a:r>
          </a:p>
        </p:txBody>
      </p:sp>
      <p:sp>
        <p:nvSpPr>
          <p:cNvPr id="8" name="TextBox 7"/>
          <p:cNvSpPr txBox="1"/>
          <p:nvPr/>
        </p:nvSpPr>
        <p:spPr>
          <a:xfrm>
            <a:off x="411480" y="3538728"/>
            <a:ext cx="11338560" cy="685800"/>
          </a:xfrm>
          <a:prstGeom prst="rect">
            <a:avLst/>
          </a:prstGeom>
          <a:noFill/>
        </p:spPr>
        <p:txBody>
          <a:bodyPr wrap="square">
            <a:spAutoFit/>
          </a:bodyPr>
          <a:lstStyle/>
          <a:p>
            <a:pPr algn="l"/>
            <a:r>
              <a:rPr sz="1200" b="0">
                <a:solidFill>
                  <a:srgbClr val="102A32"/>
                </a:solidFill>
                <a:latin typeface="Calibri"/>
              </a:rPr>
              <a:t>[104] Sivadasanpillai Harikrishnan, Panniyammakal Jeemon, Sanjay Ganapathi et al. (2021). Five-year mortality and readmission rates in patients with heart failure in India: Results from the Trivandrum heart failure registry. International Journal of Cardiology. https://doi.org/10.1016/j.ijcard.2020.10.012</a:t>
            </a:r>
          </a:p>
        </p:txBody>
      </p:sp>
      <p:sp>
        <p:nvSpPr>
          <p:cNvPr id="9" name="TextBox 8"/>
          <p:cNvSpPr txBox="1"/>
          <p:nvPr/>
        </p:nvSpPr>
        <p:spPr>
          <a:xfrm>
            <a:off x="411480" y="4251960"/>
            <a:ext cx="11338560" cy="685800"/>
          </a:xfrm>
          <a:prstGeom prst="rect">
            <a:avLst/>
          </a:prstGeom>
          <a:noFill/>
        </p:spPr>
        <p:txBody>
          <a:bodyPr wrap="square">
            <a:spAutoFit/>
          </a:bodyPr>
          <a:lstStyle/>
          <a:p>
            <a:pPr algn="l"/>
            <a:r>
              <a:rPr sz="1200" b="0">
                <a:solidFill>
                  <a:srgbClr val="102A32"/>
                </a:solidFill>
                <a:latin typeface="Calibri"/>
              </a:rPr>
              <a:t>[105]  (2021). ESC Guidelines for the diagnosis and treatment of acute and chronic heart failure. European Society of Cardiology.</a:t>
            </a:r>
          </a:p>
        </p:txBody>
      </p:sp>
      <p:sp>
        <p:nvSpPr>
          <p:cNvPr id="10" name="TextBox 9"/>
          <p:cNvSpPr txBox="1"/>
          <p:nvPr/>
        </p:nvSpPr>
        <p:spPr>
          <a:xfrm>
            <a:off x="411480" y="4965192"/>
            <a:ext cx="11338560" cy="685800"/>
          </a:xfrm>
          <a:prstGeom prst="rect">
            <a:avLst/>
          </a:prstGeom>
          <a:noFill/>
        </p:spPr>
        <p:txBody>
          <a:bodyPr wrap="square">
            <a:spAutoFit/>
          </a:bodyPr>
          <a:lstStyle/>
          <a:p>
            <a:pPr algn="l"/>
            <a:r>
              <a:rPr sz="1200" b="0">
                <a:solidFill>
                  <a:srgbClr val="102A32"/>
                </a:solidFill>
                <a:latin typeface="Calibri"/>
              </a:rPr>
              <a:t>[106] Stefan D. Anker, Javed Butler, Gerasimos Filippatos et al. (2021). Empagliflozin in Heart Failure with a Preserved Ejection Fraction. New England Journal of Medicine. https://doi.org/10.1056/nejmoa2107038</a:t>
            </a:r>
          </a:p>
        </p:txBody>
      </p:sp>
      <p:sp>
        <p:nvSpPr>
          <p:cNvPr id="11" name="TextBox 10"/>
          <p:cNvSpPr txBox="1"/>
          <p:nvPr/>
        </p:nvSpPr>
        <p:spPr>
          <a:xfrm>
            <a:off x="411480" y="5678424"/>
            <a:ext cx="11338560" cy="685800"/>
          </a:xfrm>
          <a:prstGeom prst="rect">
            <a:avLst/>
          </a:prstGeom>
          <a:noFill/>
        </p:spPr>
        <p:txBody>
          <a:bodyPr wrap="square">
            <a:spAutoFit/>
          </a:bodyPr>
          <a:lstStyle/>
          <a:p>
            <a:pPr algn="l"/>
            <a:r>
              <a:rPr sz="1200" b="0">
                <a:solidFill>
                  <a:srgbClr val="102A32"/>
                </a:solidFill>
                <a:latin typeface="Calibri"/>
              </a:rPr>
              <a:t>[107] Weimar Kunz Sebba Barroso, Cibele Isaac Saad Rodrigues, Luiz Aparecido Bortolotto et al. (2021). Diretrizes Brasileiras de Hipertensão Arterial – 2020. Arquivos Brasileiros de Cardiologia. https://doi.org/10.36660/abc.20201238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972800" cy="320040"/>
          </a:xfrm>
          <a:prstGeom prst="rect">
            <a:avLst/>
          </a:prstGeom>
          <a:noFill/>
        </p:spPr>
        <p:txBody>
          <a:bodyPr wrap="square">
            <a:spAutoFit/>
          </a:bodyPr>
          <a:lstStyle/>
          <a:p>
            <a:pPr algn="l"/>
            <a:r>
              <a:rPr sz="1200" b="1">
                <a:solidFill>
                  <a:srgbClr val="B85C38"/>
                </a:solidFill>
                <a:latin typeface="Calibri"/>
              </a:rPr>
              <a:t>10.14  NUMBERED, REGISTRY-VALIDATED REFERENCES</a:t>
            </a:r>
          </a:p>
        </p:txBody>
      </p:sp>
      <p:sp>
        <p:nvSpPr>
          <p:cNvPr id="4" name="TextBox 3"/>
          <p:cNvSpPr txBox="1"/>
          <p:nvPr/>
        </p:nvSpPr>
        <p:spPr>
          <a:xfrm>
            <a:off x="411480" y="685800"/>
            <a:ext cx="11338560" cy="685800"/>
          </a:xfrm>
          <a:prstGeom prst="rect">
            <a:avLst/>
          </a:prstGeom>
          <a:noFill/>
        </p:spPr>
        <p:txBody>
          <a:bodyPr wrap="square">
            <a:spAutoFit/>
          </a:bodyPr>
          <a:lstStyle/>
          <a:p>
            <a:pPr algn="l"/>
            <a:r>
              <a:rPr sz="1200" b="0">
                <a:solidFill>
                  <a:srgbClr val="102A32"/>
                </a:solidFill>
                <a:latin typeface="Calibri"/>
              </a:rPr>
              <a:t>[108] Michael McDonald, Sean Virani, Michael Chan et al. (2021). CCS/CHFS Heart Failure Guidelines Update: Defining a New Pharmacologic Standard of Care for Heart Failure With Reduced Ejection Fraction. Canadian Journal of Cardiology. https://doi.org/10.1016/j.cjca.2021.01.017</a:t>
            </a:r>
          </a:p>
        </p:txBody>
      </p:sp>
      <p:sp>
        <p:nvSpPr>
          <p:cNvPr id="5" name="TextBox 4"/>
          <p:cNvSpPr txBox="1"/>
          <p:nvPr/>
        </p:nvSpPr>
        <p:spPr>
          <a:xfrm>
            <a:off x="411480" y="1399032"/>
            <a:ext cx="11338560" cy="685800"/>
          </a:xfrm>
          <a:prstGeom prst="rect">
            <a:avLst/>
          </a:prstGeom>
          <a:noFill/>
        </p:spPr>
        <p:txBody>
          <a:bodyPr wrap="square">
            <a:spAutoFit/>
          </a:bodyPr>
          <a:lstStyle/>
          <a:p>
            <a:pPr algn="l"/>
            <a:r>
              <a:rPr sz="1200" b="0">
                <a:solidFill>
                  <a:srgbClr val="102A32"/>
                </a:solidFill>
                <a:latin typeface="Calibri"/>
              </a:rPr>
              <a:t>[109]  (2021). Cardiovascular diseases (CVDs) fact sheet. World Health Organization.</a:t>
            </a:r>
          </a:p>
        </p:txBody>
      </p:sp>
      <p:sp>
        <p:nvSpPr>
          <p:cNvPr id="6" name="TextBox 5"/>
          <p:cNvSpPr txBox="1"/>
          <p:nvPr/>
        </p:nvSpPr>
        <p:spPr>
          <a:xfrm>
            <a:off x="411480" y="2112264"/>
            <a:ext cx="11338560" cy="685800"/>
          </a:xfrm>
          <a:prstGeom prst="rect">
            <a:avLst/>
          </a:prstGeom>
          <a:noFill/>
        </p:spPr>
        <p:txBody>
          <a:bodyPr wrap="square">
            <a:spAutoFit/>
          </a:bodyPr>
          <a:lstStyle/>
          <a:p>
            <a:pPr algn="l"/>
            <a:r>
              <a:rPr sz="1200" b="0">
                <a:solidFill>
                  <a:srgbClr val="102A32"/>
                </a:solidFill>
                <a:latin typeface="Calibri"/>
              </a:rPr>
              <a:t>[110] John R. Teerlink, Rafael Diaz, G. Michael Felker et al. (2021). Cardiac Myosin Activation with Omecamtiv Mecarbil in Systolic Heart Failure. New England Journal of Medicine. https://doi.org/10.1056/nejmoa2025797</a:t>
            </a:r>
          </a:p>
        </p:txBody>
      </p:sp>
      <p:sp>
        <p:nvSpPr>
          <p:cNvPr id="7" name="TextBox 6"/>
          <p:cNvSpPr txBox="1"/>
          <p:nvPr/>
        </p:nvSpPr>
        <p:spPr>
          <a:xfrm>
            <a:off x="411480" y="2825496"/>
            <a:ext cx="11338560" cy="685800"/>
          </a:xfrm>
          <a:prstGeom prst="rect">
            <a:avLst/>
          </a:prstGeom>
          <a:noFill/>
        </p:spPr>
        <p:txBody>
          <a:bodyPr wrap="square">
            <a:spAutoFit/>
          </a:bodyPr>
          <a:lstStyle/>
          <a:p>
            <a:pPr algn="l"/>
            <a:r>
              <a:rPr sz="1200" b="0">
                <a:solidFill>
                  <a:srgbClr val="102A32"/>
                </a:solidFill>
                <a:latin typeface="Calibri"/>
              </a:rPr>
              <a:t>[111] Min Seo Kim, Won Jun Kim, Amit V Khera et al. (2021). Association between adiposity and cardiovascular outcomes: an umbrella review and meta-analysis of observational and Mendelian randomization studies. European Heart Journal. https://doi.org/10.1093/eurheartj/ehab454</a:t>
            </a:r>
          </a:p>
        </p:txBody>
      </p:sp>
      <p:sp>
        <p:nvSpPr>
          <p:cNvPr id="8" name="TextBox 7"/>
          <p:cNvSpPr txBox="1"/>
          <p:nvPr/>
        </p:nvSpPr>
        <p:spPr>
          <a:xfrm>
            <a:off x="411480" y="3538728"/>
            <a:ext cx="11338560" cy="685800"/>
          </a:xfrm>
          <a:prstGeom prst="rect">
            <a:avLst/>
          </a:prstGeom>
          <a:noFill/>
        </p:spPr>
        <p:txBody>
          <a:bodyPr wrap="square">
            <a:spAutoFit/>
          </a:bodyPr>
          <a:lstStyle/>
          <a:p>
            <a:pPr algn="l"/>
            <a:r>
              <a:rPr sz="1200" b="0">
                <a:solidFill>
                  <a:srgbClr val="102A32"/>
                </a:solidFill>
                <a:latin typeface="Calibri"/>
              </a:rPr>
              <a:t>[112] Marc A. Pfeffer, Brian Claggett, Eldrin F. Lewis et al. (2021). Angiotensin Receptor–Neprilysin Inhibition in Acute Myocardial Infarction. New England Journal of Medicine. https://doi.org/10.1056/nejmoa2104508</a:t>
            </a:r>
          </a:p>
        </p:txBody>
      </p:sp>
      <p:sp>
        <p:nvSpPr>
          <p:cNvPr id="9" name="TextBox 8"/>
          <p:cNvSpPr txBox="1"/>
          <p:nvPr/>
        </p:nvSpPr>
        <p:spPr>
          <a:xfrm>
            <a:off x="411480" y="4251960"/>
            <a:ext cx="11338560" cy="685800"/>
          </a:xfrm>
          <a:prstGeom prst="rect">
            <a:avLst/>
          </a:prstGeom>
          <a:noFill/>
        </p:spPr>
        <p:txBody>
          <a:bodyPr wrap="square">
            <a:spAutoFit/>
          </a:bodyPr>
          <a:lstStyle/>
          <a:p>
            <a:pPr algn="l"/>
            <a:r>
              <a:rPr sz="1200" b="0">
                <a:solidFill>
                  <a:srgbClr val="102A32"/>
                </a:solidFill>
                <a:latin typeface="Calibri"/>
              </a:rPr>
              <a:t>[113] Frank L J Visseren, François Mach, Yvo M Smulders et al. (2021). 2021 ESC Guidelines on cardiovascular disease prevention in clinical practice. European Heart Journal. https://doi.org/10.1093/eurheartj/ehab484</a:t>
            </a:r>
          </a:p>
        </p:txBody>
      </p:sp>
      <p:sp>
        <p:nvSpPr>
          <p:cNvPr id="10" name="TextBox 9"/>
          <p:cNvSpPr txBox="1"/>
          <p:nvPr/>
        </p:nvSpPr>
        <p:spPr>
          <a:xfrm>
            <a:off x="411480" y="4965192"/>
            <a:ext cx="11338560" cy="685800"/>
          </a:xfrm>
          <a:prstGeom prst="rect">
            <a:avLst/>
          </a:prstGeom>
          <a:noFill/>
        </p:spPr>
        <p:txBody>
          <a:bodyPr wrap="square">
            <a:spAutoFit/>
          </a:bodyPr>
          <a:lstStyle/>
          <a:p>
            <a:pPr algn="l"/>
            <a:r>
              <a:rPr sz="1200" b="0">
                <a:solidFill>
                  <a:srgbClr val="102A32"/>
                </a:solidFill>
                <a:latin typeface="Calibri"/>
              </a:rPr>
              <a:t>[114]  (2020). WHO package of essential noncommunicable (PEN) disease interventions for primary health care. World Health Organization.</a:t>
            </a:r>
          </a:p>
        </p:txBody>
      </p:sp>
      <p:sp>
        <p:nvSpPr>
          <p:cNvPr id="11" name="TextBox 10"/>
          <p:cNvSpPr txBox="1"/>
          <p:nvPr/>
        </p:nvSpPr>
        <p:spPr>
          <a:xfrm>
            <a:off x="411480" y="5678424"/>
            <a:ext cx="11338560" cy="685800"/>
          </a:xfrm>
          <a:prstGeom prst="rect">
            <a:avLst/>
          </a:prstGeom>
          <a:noFill/>
        </p:spPr>
        <p:txBody>
          <a:bodyPr wrap="square">
            <a:spAutoFit/>
          </a:bodyPr>
          <a:lstStyle/>
          <a:p>
            <a:pPr algn="l"/>
            <a:r>
              <a:rPr sz="1200" b="0">
                <a:solidFill>
                  <a:srgbClr val="102A32"/>
                </a:solidFill>
                <a:latin typeface="Calibri"/>
              </a:rPr>
              <a:t>[115] Paul W. Armstrong, Burkert Pieske, Kevin J. Anstrom et al. (2020). Vericiguat in Patients with Heart Failure and Reduced Ejection Fraction. New England Journal of Medicine. https://doi.org/10.1056/nejmoa1915928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972800" cy="320040"/>
          </a:xfrm>
          <a:prstGeom prst="rect">
            <a:avLst/>
          </a:prstGeom>
          <a:noFill/>
        </p:spPr>
        <p:txBody>
          <a:bodyPr wrap="square">
            <a:spAutoFit/>
          </a:bodyPr>
          <a:lstStyle/>
          <a:p>
            <a:pPr algn="l"/>
            <a:r>
              <a:rPr sz="1200" b="1">
                <a:solidFill>
                  <a:srgbClr val="B85C38"/>
                </a:solidFill>
                <a:latin typeface="Calibri"/>
              </a:rPr>
              <a:t>10.15  NUMBERED, REGISTRY-VALIDATED REFERENCES</a:t>
            </a:r>
          </a:p>
        </p:txBody>
      </p:sp>
      <p:sp>
        <p:nvSpPr>
          <p:cNvPr id="4" name="TextBox 3"/>
          <p:cNvSpPr txBox="1"/>
          <p:nvPr/>
        </p:nvSpPr>
        <p:spPr>
          <a:xfrm>
            <a:off x="411480" y="685800"/>
            <a:ext cx="11338560" cy="685800"/>
          </a:xfrm>
          <a:prstGeom prst="rect">
            <a:avLst/>
          </a:prstGeom>
          <a:noFill/>
        </p:spPr>
        <p:txBody>
          <a:bodyPr wrap="square">
            <a:spAutoFit/>
          </a:bodyPr>
          <a:lstStyle/>
          <a:p>
            <a:pPr algn="l"/>
            <a:r>
              <a:rPr sz="1200" b="0">
                <a:solidFill>
                  <a:srgbClr val="102A32"/>
                </a:solidFill>
                <a:latin typeface="Calibri"/>
              </a:rPr>
              <a:t>[116] Kazuhiko Kido, Christopher Bianco, Marco Caccamo et al. (2020). Sacubitril/valsartan 24/26 Mg Dose Is A Predictor For Higher Mortality Rate In Patients With Heart Failure With Reduced Ejection Fraction Receiving Sacubitril/valsartan: Interim Results. Journal of Cardiac Failure. https://doi.org/10.1016/j.cardfail.</a:t>
            </a:r>
          </a:p>
        </p:txBody>
      </p:sp>
      <p:sp>
        <p:nvSpPr>
          <p:cNvPr id="5" name="TextBox 4"/>
          <p:cNvSpPr txBox="1"/>
          <p:nvPr/>
        </p:nvSpPr>
        <p:spPr>
          <a:xfrm>
            <a:off x="411480" y="1399032"/>
            <a:ext cx="11338560" cy="685800"/>
          </a:xfrm>
          <a:prstGeom prst="rect">
            <a:avLst/>
          </a:prstGeom>
          <a:noFill/>
        </p:spPr>
        <p:txBody>
          <a:bodyPr wrap="square">
            <a:spAutoFit/>
          </a:bodyPr>
          <a:lstStyle/>
          <a:p>
            <a:pPr algn="l"/>
            <a:r>
              <a:rPr sz="1200" b="0">
                <a:solidFill>
                  <a:srgbClr val="102A32"/>
                </a:solidFill>
                <a:latin typeface="Calibri"/>
              </a:rPr>
              <a:t>[117]  (2020). HEARTS technical package for cardiovascular disease management in primary health care. World Health Organization.</a:t>
            </a:r>
          </a:p>
        </p:txBody>
      </p:sp>
      <p:sp>
        <p:nvSpPr>
          <p:cNvPr id="6" name="TextBox 5"/>
          <p:cNvSpPr txBox="1"/>
          <p:nvPr/>
        </p:nvSpPr>
        <p:spPr>
          <a:xfrm>
            <a:off x="411480" y="2112264"/>
            <a:ext cx="11338560" cy="685800"/>
          </a:xfrm>
          <a:prstGeom prst="rect">
            <a:avLst/>
          </a:prstGeom>
          <a:noFill/>
        </p:spPr>
        <p:txBody>
          <a:bodyPr wrap="square">
            <a:spAutoFit/>
          </a:bodyPr>
          <a:lstStyle/>
          <a:p>
            <a:pPr algn="l"/>
            <a:r>
              <a:rPr sz="1200" b="0">
                <a:solidFill>
                  <a:srgbClr val="102A32"/>
                </a:solidFill>
                <a:latin typeface="Calibri"/>
              </a:rPr>
              <a:t>[118]  (2020). HEARTS technical package (WHO IRIS). World Health Organization.</a:t>
            </a:r>
          </a:p>
        </p:txBody>
      </p:sp>
      <p:sp>
        <p:nvSpPr>
          <p:cNvPr id="7" name="TextBox 6"/>
          <p:cNvSpPr txBox="1"/>
          <p:nvPr/>
        </p:nvSpPr>
        <p:spPr>
          <a:xfrm>
            <a:off x="411480" y="2825496"/>
            <a:ext cx="11338560" cy="685800"/>
          </a:xfrm>
          <a:prstGeom prst="rect">
            <a:avLst/>
          </a:prstGeom>
          <a:noFill/>
        </p:spPr>
        <p:txBody>
          <a:bodyPr wrap="square">
            <a:spAutoFit/>
          </a:bodyPr>
          <a:lstStyle/>
          <a:p>
            <a:pPr algn="l"/>
            <a:r>
              <a:rPr sz="1200" b="0">
                <a:solidFill>
                  <a:srgbClr val="102A32"/>
                </a:solidFill>
                <a:latin typeface="Calibri"/>
              </a:rPr>
              <a:t>[119] Gregory A. Roth, George A. Mensah, Catherine O. Johnson et al. (2020). Global Burden of Cardiovascular Diseases and Risk Factors, 1990–2019. Journal of the American College of Cardiology. https://doi.org/10.1016/j.jacc.2020.11.010</a:t>
            </a:r>
          </a:p>
        </p:txBody>
      </p:sp>
      <p:sp>
        <p:nvSpPr>
          <p:cNvPr id="8" name="TextBox 7"/>
          <p:cNvSpPr txBox="1"/>
          <p:nvPr/>
        </p:nvSpPr>
        <p:spPr>
          <a:xfrm>
            <a:off x="411480" y="3538728"/>
            <a:ext cx="11338560" cy="685800"/>
          </a:xfrm>
          <a:prstGeom prst="rect">
            <a:avLst/>
          </a:prstGeom>
          <a:noFill/>
        </p:spPr>
        <p:txBody>
          <a:bodyPr wrap="square">
            <a:spAutoFit/>
          </a:bodyPr>
          <a:lstStyle/>
          <a:p>
            <a:pPr algn="l"/>
            <a:r>
              <a:rPr sz="1200" b="0">
                <a:solidFill>
                  <a:srgbClr val="102A32"/>
                </a:solidFill>
                <a:latin typeface="Calibri"/>
              </a:rPr>
              <a:t>[120] Christopher J L Murray, Aleksandr Y Aravkin, Peng Zheng et al. (2020). Global burden of 87 risk factors in 204 countries and territories, 1990–2019: a systematic analysis for the Global Burden of Disease Study 2019. The Lancet. https://doi.org/10.1016/s0140-6736(20)30752-2</a:t>
            </a:r>
          </a:p>
        </p:txBody>
      </p:sp>
      <p:sp>
        <p:nvSpPr>
          <p:cNvPr id="9" name="TextBox 8"/>
          <p:cNvSpPr txBox="1"/>
          <p:nvPr/>
        </p:nvSpPr>
        <p:spPr>
          <a:xfrm>
            <a:off x="411480" y="4251960"/>
            <a:ext cx="11338560" cy="685800"/>
          </a:xfrm>
          <a:prstGeom prst="rect">
            <a:avLst/>
          </a:prstGeom>
          <a:noFill/>
        </p:spPr>
        <p:txBody>
          <a:bodyPr wrap="square">
            <a:spAutoFit/>
          </a:bodyPr>
          <a:lstStyle/>
          <a:p>
            <a:pPr algn="l"/>
            <a:r>
              <a:rPr sz="1200" b="0">
                <a:solidFill>
                  <a:srgbClr val="102A32"/>
                </a:solidFill>
                <a:latin typeface="Calibri"/>
              </a:rPr>
              <a:t>[121] Theo Vos, Stephen S Lim, Cristiana Abbafati et al. (2020). Global burden of 369 diseases and injuries in 204 countries and territories, 1990–2019: a systematic analysis for the Global Burden of Disease Study 2019. The Lancet. https://doi.org/10.1016/s0140-6736(20)30925-9</a:t>
            </a:r>
          </a:p>
        </p:txBody>
      </p:sp>
      <p:sp>
        <p:nvSpPr>
          <p:cNvPr id="10" name="TextBox 9"/>
          <p:cNvSpPr txBox="1"/>
          <p:nvPr/>
        </p:nvSpPr>
        <p:spPr>
          <a:xfrm>
            <a:off x="411480" y="4965192"/>
            <a:ext cx="11338560" cy="685800"/>
          </a:xfrm>
          <a:prstGeom prst="rect">
            <a:avLst/>
          </a:prstGeom>
          <a:noFill/>
        </p:spPr>
        <p:txBody>
          <a:bodyPr wrap="square">
            <a:spAutoFit/>
          </a:bodyPr>
          <a:lstStyle/>
          <a:p>
            <a:pPr algn="l"/>
            <a:r>
              <a:rPr sz="1200" b="0">
                <a:solidFill>
                  <a:srgbClr val="102A32"/>
                </a:solidFill>
                <a:latin typeface="Calibri"/>
              </a:rPr>
              <a:t>[123] Piotr Ponikowski, Bridget-Anne Kirwan, Stefan D Anker et al. (2020). Ferric carboxymaltose for iron deficiency at discharge after acute heart failure: a multicentre, double-blind, randomised, controlled trial. The Lancet. https://doi.org/10.1016/s0140-6736(20)32339-4</a:t>
            </a:r>
          </a:p>
        </p:txBody>
      </p:sp>
      <p:sp>
        <p:nvSpPr>
          <p:cNvPr id="11" name="TextBox 10"/>
          <p:cNvSpPr txBox="1"/>
          <p:nvPr/>
        </p:nvSpPr>
        <p:spPr>
          <a:xfrm>
            <a:off x="411480" y="5678424"/>
            <a:ext cx="11338560" cy="685800"/>
          </a:xfrm>
          <a:prstGeom prst="rect">
            <a:avLst/>
          </a:prstGeom>
          <a:noFill/>
        </p:spPr>
        <p:txBody>
          <a:bodyPr wrap="square">
            <a:spAutoFit/>
          </a:bodyPr>
          <a:lstStyle/>
          <a:p>
            <a:pPr algn="l"/>
            <a:r>
              <a:rPr sz="1200" b="0">
                <a:solidFill>
                  <a:srgbClr val="102A32"/>
                </a:solidFill>
                <a:latin typeface="Calibri"/>
              </a:rPr>
              <a:t>[124] Milton Packer, Stefan D. Anker, Javed Butler et al. (2020). Cardiovascular and Renal Outcomes with Empagliflozin in Heart Failure. New England Journal of Medicine. https://doi.org/10.1056/nejmoa2022190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972800" cy="320040"/>
          </a:xfrm>
          <a:prstGeom prst="rect">
            <a:avLst/>
          </a:prstGeom>
          <a:noFill/>
        </p:spPr>
        <p:txBody>
          <a:bodyPr wrap="square">
            <a:spAutoFit/>
          </a:bodyPr>
          <a:lstStyle/>
          <a:p>
            <a:pPr algn="l"/>
            <a:r>
              <a:rPr sz="1200" b="1">
                <a:solidFill>
                  <a:srgbClr val="B85C38"/>
                </a:solidFill>
                <a:latin typeface="Calibri"/>
              </a:rPr>
              <a:t>10.16  NUMBERED, REGISTRY-VALIDATED REFERENCES</a:t>
            </a:r>
          </a:p>
        </p:txBody>
      </p:sp>
      <p:sp>
        <p:nvSpPr>
          <p:cNvPr id="4" name="TextBox 3"/>
          <p:cNvSpPr txBox="1"/>
          <p:nvPr/>
        </p:nvSpPr>
        <p:spPr>
          <a:xfrm>
            <a:off x="411480" y="685800"/>
            <a:ext cx="11338560" cy="685800"/>
          </a:xfrm>
          <a:prstGeom prst="rect">
            <a:avLst/>
          </a:prstGeom>
          <a:noFill/>
        </p:spPr>
        <p:txBody>
          <a:bodyPr wrap="square">
            <a:spAutoFit/>
          </a:bodyPr>
          <a:lstStyle/>
          <a:p>
            <a:pPr algn="l"/>
            <a:r>
              <a:rPr sz="1200" b="0">
                <a:solidFill>
                  <a:srgbClr val="102A32"/>
                </a:solidFill>
                <a:latin typeface="Calibri"/>
              </a:rPr>
              <a:t>[125] Edmund YM Chung, Marinella Ruospo, Patrizia Natale et al. (2020). Aldosterone antagonists in addition to renin angiotensin system antagonists for preventing the progression of chronic kidney disease. Cochrane Database of Systematic Reviews. https://doi.org/10.1002/14651858.cd007004.pub4</a:t>
            </a:r>
          </a:p>
        </p:txBody>
      </p:sp>
      <p:sp>
        <p:nvSpPr>
          <p:cNvPr id="5" name="TextBox 4"/>
          <p:cNvSpPr txBox="1"/>
          <p:nvPr/>
        </p:nvSpPr>
        <p:spPr>
          <a:xfrm>
            <a:off x="411480" y="1399032"/>
            <a:ext cx="11338560" cy="685800"/>
          </a:xfrm>
          <a:prstGeom prst="rect">
            <a:avLst/>
          </a:prstGeom>
          <a:noFill/>
        </p:spPr>
        <p:txBody>
          <a:bodyPr wrap="square">
            <a:spAutoFit/>
          </a:bodyPr>
          <a:lstStyle/>
          <a:p>
            <a:pPr algn="l"/>
            <a:r>
              <a:rPr sz="1200" b="0">
                <a:solidFill>
                  <a:srgbClr val="102A32"/>
                </a:solidFill>
                <a:latin typeface="Calibri"/>
              </a:rPr>
              <a:t>[126] Thomas Unger, Claudio Borghi, Fadi Charchar et al. (2020). 2020 International Society of Hypertension Global Hypertension Practice Guidelines. Hypertension. https://doi.org/10.1161/hypertensionaha.120.15026</a:t>
            </a:r>
          </a:p>
        </p:txBody>
      </p:sp>
      <p:sp>
        <p:nvSpPr>
          <p:cNvPr id="6" name="TextBox 5"/>
          <p:cNvSpPr txBox="1"/>
          <p:nvPr/>
        </p:nvSpPr>
        <p:spPr>
          <a:xfrm>
            <a:off x="411480" y="2112264"/>
            <a:ext cx="11338560" cy="685800"/>
          </a:xfrm>
          <a:prstGeom prst="rect">
            <a:avLst/>
          </a:prstGeom>
          <a:noFill/>
        </p:spPr>
        <p:txBody>
          <a:bodyPr wrap="square">
            <a:spAutoFit/>
          </a:bodyPr>
          <a:lstStyle/>
          <a:p>
            <a:pPr algn="l"/>
            <a:r>
              <a:rPr sz="1200" b="0">
                <a:solidFill>
                  <a:srgbClr val="102A32"/>
                </a:solidFill>
                <a:latin typeface="Calibri"/>
              </a:rPr>
              <a:t>[127] João Pedro Ferreira, Sarah Kraus, Sharon Mitchell et al. (2019). World Heart Federation Roadmap for Heart Failure. Global Heart. https://doi.org/10.1016/j.gheart.2019.07.004</a:t>
            </a:r>
          </a:p>
        </p:txBody>
      </p:sp>
      <p:sp>
        <p:nvSpPr>
          <p:cNvPr id="7" name="TextBox 6"/>
          <p:cNvSpPr txBox="1"/>
          <p:nvPr/>
        </p:nvSpPr>
        <p:spPr>
          <a:xfrm>
            <a:off x="411480" y="2825496"/>
            <a:ext cx="11338560" cy="685800"/>
          </a:xfrm>
          <a:prstGeom prst="rect">
            <a:avLst/>
          </a:prstGeom>
          <a:noFill/>
        </p:spPr>
        <p:txBody>
          <a:bodyPr wrap="square">
            <a:spAutoFit/>
          </a:bodyPr>
          <a:lstStyle/>
          <a:p>
            <a:pPr algn="l"/>
            <a:r>
              <a:rPr sz="1200" b="0">
                <a:solidFill>
                  <a:srgbClr val="102A32"/>
                </a:solidFill>
                <a:latin typeface="Calibri"/>
              </a:rPr>
              <a:t>[128] Dalton Bertolim Précoma, Gláucia Maria Moraes de Oliveira, Antonio Felipe Simão et al. (2019). Updated Cardiovascular Prevention Guideline of the Brazilian Society of Cardiology - 2019. Arquivos Brasileiros de Cardiologia. https://doi.org/10.5935/abc.20190204</a:t>
            </a:r>
          </a:p>
        </p:txBody>
      </p:sp>
      <p:sp>
        <p:nvSpPr>
          <p:cNvPr id="8" name="TextBox 7"/>
          <p:cNvSpPr txBox="1"/>
          <p:nvPr/>
        </p:nvSpPr>
        <p:spPr>
          <a:xfrm>
            <a:off x="411480" y="3538728"/>
            <a:ext cx="11338560" cy="685800"/>
          </a:xfrm>
          <a:prstGeom prst="rect">
            <a:avLst/>
          </a:prstGeom>
          <a:noFill/>
        </p:spPr>
        <p:txBody>
          <a:bodyPr wrap="square">
            <a:spAutoFit/>
          </a:bodyPr>
          <a:lstStyle/>
          <a:p>
            <a:pPr algn="l"/>
            <a:r>
              <a:rPr sz="1200" b="0">
                <a:solidFill>
                  <a:srgbClr val="102A32"/>
                </a:solidFill>
                <a:latin typeface="Calibri"/>
              </a:rPr>
              <a:t>[129] Giuseppe Mulè, Alessandra Sorce, Emilio Nardi et al. (2019). The nephroprotective effect of sacubitril/valsartan in heart failure: insights from the real-life clinical setting. Internal and Emergency Medicine. https://doi.org/10.1007/s11739-019-02149-6</a:t>
            </a:r>
          </a:p>
        </p:txBody>
      </p:sp>
      <p:sp>
        <p:nvSpPr>
          <p:cNvPr id="9" name="TextBox 8"/>
          <p:cNvSpPr txBox="1"/>
          <p:nvPr/>
        </p:nvSpPr>
        <p:spPr>
          <a:xfrm>
            <a:off x="411480" y="4251960"/>
            <a:ext cx="11338560" cy="685800"/>
          </a:xfrm>
          <a:prstGeom prst="rect">
            <a:avLst/>
          </a:prstGeom>
          <a:noFill/>
        </p:spPr>
        <p:txBody>
          <a:bodyPr wrap="square">
            <a:spAutoFit/>
          </a:bodyPr>
          <a:lstStyle/>
          <a:p>
            <a:pPr algn="l"/>
            <a:r>
              <a:rPr sz="1200" b="0">
                <a:solidFill>
                  <a:srgbClr val="102A32"/>
                </a:solidFill>
                <a:latin typeface="Calibri"/>
              </a:rPr>
              <a:t>[130] Helen Walthall, Theresa Floegel (2019). The lived experience of breathlessness for people diagnosed with heart failure: a qualitative synthesis of the literature. Current Opinion in Supportive &amp;amp; Palliative Care. https://doi.org/10.1097/spc.0000000000000405</a:t>
            </a:r>
          </a:p>
        </p:txBody>
      </p:sp>
      <p:sp>
        <p:nvSpPr>
          <p:cNvPr id="10" name="TextBox 9"/>
          <p:cNvSpPr txBox="1"/>
          <p:nvPr/>
        </p:nvSpPr>
        <p:spPr>
          <a:xfrm>
            <a:off x="411480" y="4965192"/>
            <a:ext cx="11338560" cy="685800"/>
          </a:xfrm>
          <a:prstGeom prst="rect">
            <a:avLst/>
          </a:prstGeom>
          <a:noFill/>
        </p:spPr>
        <p:txBody>
          <a:bodyPr wrap="square">
            <a:spAutoFit/>
          </a:bodyPr>
          <a:lstStyle/>
          <a:p>
            <a:pPr algn="l"/>
            <a:r>
              <a:rPr sz="1200" b="0">
                <a:solidFill>
                  <a:srgbClr val="102A32"/>
                </a:solidFill>
                <a:latin typeface="Calibri"/>
              </a:rPr>
              <a:t>[131] Tanja Gangnus, Bjoern B. Burckhardt (2019). Potential and Limitations of Atrial Natriuretic Peptide as Biomarker in Pediatric Heart Failure—A Comparative Review. Frontiers in Pediatrics. https://doi.org/10.3389/fped.2018.00420</a:t>
            </a:r>
          </a:p>
        </p:txBody>
      </p:sp>
      <p:sp>
        <p:nvSpPr>
          <p:cNvPr id="11" name="TextBox 10"/>
          <p:cNvSpPr txBox="1"/>
          <p:nvPr/>
        </p:nvSpPr>
        <p:spPr>
          <a:xfrm>
            <a:off x="411480" y="5678424"/>
            <a:ext cx="11338560" cy="685800"/>
          </a:xfrm>
          <a:prstGeom prst="rect">
            <a:avLst/>
          </a:prstGeom>
          <a:noFill/>
        </p:spPr>
        <p:txBody>
          <a:bodyPr wrap="square">
            <a:spAutoFit/>
          </a:bodyPr>
          <a:lstStyle/>
          <a:p>
            <a:pPr algn="l"/>
            <a:r>
              <a:rPr sz="1200" b="0">
                <a:solidFill>
                  <a:srgbClr val="102A32"/>
                </a:solidFill>
                <a:latin typeface="Calibri"/>
              </a:rPr>
              <a:t>[132] Yoga Waranugraha, Mohammad Saifur Rohman, Setyasih Anjarwani (2019). Hemodynamic Congestion at Hospital Discharge Predicts Rehospitalization during Short Term Follow Up in Acute Heart Failure Patients. Indonesian Journal of Cardiology. https://doi.org/10.30701/ijc.v40i3.805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972800" cy="320040"/>
          </a:xfrm>
          <a:prstGeom prst="rect">
            <a:avLst/>
          </a:prstGeom>
          <a:noFill/>
        </p:spPr>
        <p:txBody>
          <a:bodyPr wrap="square">
            <a:spAutoFit/>
          </a:bodyPr>
          <a:lstStyle/>
          <a:p>
            <a:pPr algn="l"/>
            <a:r>
              <a:rPr sz="1200" b="1">
                <a:solidFill>
                  <a:srgbClr val="B85C38"/>
                </a:solidFill>
                <a:latin typeface="Calibri"/>
              </a:rPr>
              <a:t>10.17  NUMBERED, REGISTRY-VALIDATED REFERENCES</a:t>
            </a:r>
          </a:p>
        </p:txBody>
      </p:sp>
      <p:sp>
        <p:nvSpPr>
          <p:cNvPr id="4" name="TextBox 3"/>
          <p:cNvSpPr txBox="1"/>
          <p:nvPr/>
        </p:nvSpPr>
        <p:spPr>
          <a:xfrm>
            <a:off x="411480" y="685800"/>
            <a:ext cx="11338560" cy="685800"/>
          </a:xfrm>
          <a:prstGeom prst="rect">
            <a:avLst/>
          </a:prstGeom>
          <a:noFill/>
        </p:spPr>
        <p:txBody>
          <a:bodyPr wrap="square">
            <a:spAutoFit/>
          </a:bodyPr>
          <a:lstStyle/>
          <a:p>
            <a:pPr algn="l"/>
            <a:r>
              <a:rPr sz="1200" b="0">
                <a:solidFill>
                  <a:srgbClr val="102A32"/>
                </a:solidFill>
                <a:latin typeface="Calibri"/>
              </a:rPr>
              <a:t>[133] Linda Long, Ify R Mordi, Charlene Bridges et al. (2019). Exercise-based cardiac rehabilitation for adults with heart failure. Cochrane Database of Systematic Reviews. https://doi.org/10.1002/14651858.cd003331.pub5</a:t>
            </a:r>
          </a:p>
        </p:txBody>
      </p:sp>
      <p:sp>
        <p:nvSpPr>
          <p:cNvPr id="5" name="TextBox 4"/>
          <p:cNvSpPr txBox="1"/>
          <p:nvPr/>
        </p:nvSpPr>
        <p:spPr>
          <a:xfrm>
            <a:off x="411480" y="1399032"/>
            <a:ext cx="11338560" cy="685800"/>
          </a:xfrm>
          <a:prstGeom prst="rect">
            <a:avLst/>
          </a:prstGeom>
          <a:noFill/>
        </p:spPr>
        <p:txBody>
          <a:bodyPr wrap="square">
            <a:spAutoFit/>
          </a:bodyPr>
          <a:lstStyle/>
          <a:p>
            <a:pPr algn="l"/>
            <a:r>
              <a:rPr sz="1200" b="0">
                <a:solidFill>
                  <a:srgbClr val="102A32"/>
                </a:solidFill>
                <a:latin typeface="Calibri"/>
              </a:rPr>
              <a:t>[134] Yiwen Wang, Ran Zhou, Chi Lu et al. (2019). Effects of the Angiotensin‐Receptor Neprilysin Inhibitor on Cardiac Reverse Remodeling: Meta‐Analysis. Journal of the American Heart Association. https://doi.org/10.1161/jaha.119.012272</a:t>
            </a:r>
          </a:p>
        </p:txBody>
      </p:sp>
      <p:sp>
        <p:nvSpPr>
          <p:cNvPr id="6" name="TextBox 5"/>
          <p:cNvSpPr txBox="1"/>
          <p:nvPr/>
        </p:nvSpPr>
        <p:spPr>
          <a:xfrm>
            <a:off x="411480" y="2112264"/>
            <a:ext cx="11338560" cy="685800"/>
          </a:xfrm>
          <a:prstGeom prst="rect">
            <a:avLst/>
          </a:prstGeom>
          <a:noFill/>
        </p:spPr>
        <p:txBody>
          <a:bodyPr wrap="square">
            <a:spAutoFit/>
          </a:bodyPr>
          <a:lstStyle/>
          <a:p>
            <a:pPr algn="l"/>
            <a:r>
              <a:rPr sz="1200" b="0">
                <a:solidFill>
                  <a:srgbClr val="102A32"/>
                </a:solidFill>
                <a:latin typeface="Calibri"/>
              </a:rPr>
              <a:t>[136] Heinz-Peter Schultheiss, DeLisa Fairweather, Alida L. P. Caforio et al. (2019). Dilated cardiomyopathy. Nature Reviews Disease Primers. https://doi.org/10.1038/s41572-019-0084-1</a:t>
            </a:r>
          </a:p>
        </p:txBody>
      </p:sp>
      <p:sp>
        <p:nvSpPr>
          <p:cNvPr id="7" name="TextBox 6"/>
          <p:cNvSpPr txBox="1"/>
          <p:nvPr/>
        </p:nvSpPr>
        <p:spPr>
          <a:xfrm>
            <a:off x="411480" y="2825496"/>
            <a:ext cx="11338560" cy="685800"/>
          </a:xfrm>
          <a:prstGeom prst="rect">
            <a:avLst/>
          </a:prstGeom>
          <a:noFill/>
        </p:spPr>
        <p:txBody>
          <a:bodyPr wrap="square">
            <a:spAutoFit/>
          </a:bodyPr>
          <a:lstStyle/>
          <a:p>
            <a:pPr algn="l"/>
            <a:r>
              <a:rPr sz="1200" b="0">
                <a:solidFill>
                  <a:srgbClr val="102A32"/>
                </a:solidFill>
                <a:latin typeface="Calibri"/>
              </a:rPr>
              <a:t>[137] John J.V. McMurray, Scott D. Solomon, Silvio E. Inzucchi et al. (2019). Dapagliflozin in Patients with Heart Failure and Reduced Ejection Fraction. New England Journal of Medicine. https://doi.org/10.1056/nejmoa1911303</a:t>
            </a:r>
          </a:p>
        </p:txBody>
      </p:sp>
      <p:sp>
        <p:nvSpPr>
          <p:cNvPr id="8" name="TextBox 7"/>
          <p:cNvSpPr txBox="1"/>
          <p:nvPr/>
        </p:nvSpPr>
        <p:spPr>
          <a:xfrm>
            <a:off x="411480" y="3538728"/>
            <a:ext cx="11338560" cy="685800"/>
          </a:xfrm>
          <a:prstGeom prst="rect">
            <a:avLst/>
          </a:prstGeom>
          <a:noFill/>
        </p:spPr>
        <p:txBody>
          <a:bodyPr wrap="square">
            <a:spAutoFit/>
          </a:bodyPr>
          <a:lstStyle/>
          <a:p>
            <a:pPr algn="l"/>
            <a:r>
              <a:rPr sz="1200" b="0">
                <a:solidFill>
                  <a:srgbClr val="102A32"/>
                </a:solidFill>
                <a:latin typeface="Calibri"/>
              </a:rPr>
              <a:t>[138] James L. Januzzi, Margaret F. Prescott, Javed Butler et al. (2019). Association of Change in N-Terminal Pro–B-Type Natriuretic Peptide Following Initiation of Sacubitril-Valsartan Treatment With Cardiac Structure and Function in Patients With Heart Failure With Reduced Ejection Fraction. JAMA. https://doi.org/10.</a:t>
            </a:r>
          </a:p>
        </p:txBody>
      </p:sp>
      <p:sp>
        <p:nvSpPr>
          <p:cNvPr id="9" name="TextBox 8"/>
          <p:cNvSpPr txBox="1"/>
          <p:nvPr/>
        </p:nvSpPr>
        <p:spPr>
          <a:xfrm>
            <a:off x="411480" y="4251960"/>
            <a:ext cx="11338560" cy="685800"/>
          </a:xfrm>
          <a:prstGeom prst="rect">
            <a:avLst/>
          </a:prstGeom>
          <a:noFill/>
        </p:spPr>
        <p:txBody>
          <a:bodyPr wrap="square">
            <a:spAutoFit/>
          </a:bodyPr>
          <a:lstStyle/>
          <a:p>
            <a:pPr algn="l"/>
            <a:r>
              <a:rPr sz="1200" b="0">
                <a:solidFill>
                  <a:srgbClr val="102A32"/>
                </a:solidFill>
                <a:latin typeface="Calibri"/>
              </a:rPr>
              <a:t>[139] Scott D. Solomon, John J.V. McMurray, Inder S. Anand et al. (2019). Angiotensin–Neprilysin Inhibition in Heart Failure with Preserved Ejection Fraction. New England Journal of Medicine. https://doi.org/10.1056/nejmoa1908655</a:t>
            </a:r>
          </a:p>
        </p:txBody>
      </p:sp>
      <p:sp>
        <p:nvSpPr>
          <p:cNvPr id="10" name="TextBox 9"/>
          <p:cNvSpPr txBox="1"/>
          <p:nvPr/>
        </p:nvSpPr>
        <p:spPr>
          <a:xfrm>
            <a:off x="411480" y="4965192"/>
            <a:ext cx="11338560" cy="685800"/>
          </a:xfrm>
          <a:prstGeom prst="rect">
            <a:avLst/>
          </a:prstGeom>
          <a:noFill/>
        </p:spPr>
        <p:txBody>
          <a:bodyPr wrap="square">
            <a:spAutoFit/>
          </a:bodyPr>
          <a:lstStyle/>
          <a:p>
            <a:pPr algn="l"/>
            <a:r>
              <a:rPr sz="1200" b="0">
                <a:solidFill>
                  <a:srgbClr val="102A32"/>
                </a:solidFill>
                <a:latin typeface="Calibri"/>
              </a:rPr>
              <a:t>[140] Eric J. Velazquez, David A. Morrow, Adam D. DeVore et al. (2019). Angiotensin–Neprilysin Inhibition in Acute Decompensated Heart Failure. New England Journal of Medicine. https://doi.org/10.1056/nejmoa1812851</a:t>
            </a:r>
          </a:p>
        </p:txBody>
      </p:sp>
      <p:sp>
        <p:nvSpPr>
          <p:cNvPr id="11" name="TextBox 10"/>
          <p:cNvSpPr txBox="1"/>
          <p:nvPr/>
        </p:nvSpPr>
        <p:spPr>
          <a:xfrm>
            <a:off x="411480" y="5678424"/>
            <a:ext cx="11338560" cy="685800"/>
          </a:xfrm>
          <a:prstGeom prst="rect">
            <a:avLst/>
          </a:prstGeom>
          <a:noFill/>
        </p:spPr>
        <p:txBody>
          <a:bodyPr wrap="square">
            <a:spAutoFit/>
          </a:bodyPr>
          <a:lstStyle/>
          <a:p>
            <a:pPr algn="l"/>
            <a:r>
              <a:rPr sz="1200" b="0">
                <a:solidFill>
                  <a:srgbClr val="102A32"/>
                </a:solidFill>
                <a:latin typeface="Calibri"/>
              </a:rPr>
              <a:t>[141] François Mach, Colin Baigent, Alberico L Catapano et al. (2019). 2019 ESC/EAS Guidelines for the management of dyslipidaemias: lipid modification to reduce cardiovascular risk. European Heart Journal. https://doi.org/10.1093/eurheartj/ehz455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972800" cy="320040"/>
          </a:xfrm>
          <a:prstGeom prst="rect">
            <a:avLst/>
          </a:prstGeom>
          <a:noFill/>
        </p:spPr>
        <p:txBody>
          <a:bodyPr wrap="square">
            <a:spAutoFit/>
          </a:bodyPr>
          <a:lstStyle/>
          <a:p>
            <a:pPr algn="l"/>
            <a:r>
              <a:rPr sz="1200" b="1">
                <a:solidFill>
                  <a:srgbClr val="B85C38"/>
                </a:solidFill>
                <a:latin typeface="Calibri"/>
              </a:rPr>
              <a:t>10.18  NUMBERED, REGISTRY-VALIDATED REFERENCES</a:t>
            </a:r>
          </a:p>
        </p:txBody>
      </p:sp>
      <p:sp>
        <p:nvSpPr>
          <p:cNvPr id="4" name="TextBox 3"/>
          <p:cNvSpPr txBox="1"/>
          <p:nvPr/>
        </p:nvSpPr>
        <p:spPr>
          <a:xfrm>
            <a:off x="411480" y="685800"/>
            <a:ext cx="11338560" cy="685800"/>
          </a:xfrm>
          <a:prstGeom prst="rect">
            <a:avLst/>
          </a:prstGeom>
          <a:noFill/>
        </p:spPr>
        <p:txBody>
          <a:bodyPr wrap="square">
            <a:spAutoFit/>
          </a:bodyPr>
          <a:lstStyle/>
          <a:p>
            <a:pPr algn="l"/>
            <a:r>
              <a:rPr sz="1200" b="0">
                <a:solidFill>
                  <a:srgbClr val="102A32"/>
                </a:solidFill>
                <a:latin typeface="Calibri"/>
              </a:rPr>
              <a:t>[142] Francesco Cosentino, Peter J Grant, Victor Aboyans et al. (2019). 2019 ESC Guidelines on diabetes, pre-diabetes, and cardiovascular diseases developed in collaboration with the EASD. European Heart Journal. https://doi.org/10.1093/eurheartj/ehz486</a:t>
            </a:r>
          </a:p>
        </p:txBody>
      </p:sp>
      <p:sp>
        <p:nvSpPr>
          <p:cNvPr id="5" name="TextBox 4"/>
          <p:cNvSpPr txBox="1"/>
          <p:nvPr/>
        </p:nvSpPr>
        <p:spPr>
          <a:xfrm>
            <a:off x="411480" y="1399032"/>
            <a:ext cx="11338560" cy="685800"/>
          </a:xfrm>
          <a:prstGeom prst="rect">
            <a:avLst/>
          </a:prstGeom>
          <a:noFill/>
        </p:spPr>
        <p:txBody>
          <a:bodyPr wrap="square">
            <a:spAutoFit/>
          </a:bodyPr>
          <a:lstStyle/>
          <a:p>
            <a:pPr algn="l"/>
            <a:r>
              <a:rPr sz="1200" b="0">
                <a:solidFill>
                  <a:srgbClr val="102A32"/>
                </a:solidFill>
                <a:latin typeface="Calibri"/>
              </a:rPr>
              <a:t>[143] Donna K. Arnett, Roger S. Blumenthal, Michelle A. Albert et al. (2019). 2019 ACC/AHA Guideline on the Primary Prevention of Cardiovascular Disease: A Report of the American College of Cardiology/American Heart Association Task Force on Clinical Practice Guidelines. Circulation. https://doi.org/10.1161/cir.0000000</a:t>
            </a:r>
          </a:p>
        </p:txBody>
      </p:sp>
      <p:sp>
        <p:nvSpPr>
          <p:cNvPr id="6" name="TextBox 5"/>
          <p:cNvSpPr txBox="1"/>
          <p:nvPr/>
        </p:nvSpPr>
        <p:spPr>
          <a:xfrm>
            <a:off x="411480" y="2112264"/>
            <a:ext cx="11338560" cy="685800"/>
          </a:xfrm>
          <a:prstGeom prst="rect">
            <a:avLst/>
          </a:prstGeom>
          <a:noFill/>
        </p:spPr>
        <p:txBody>
          <a:bodyPr wrap="square">
            <a:spAutoFit/>
          </a:bodyPr>
          <a:lstStyle/>
          <a:p>
            <a:pPr algn="l"/>
            <a:r>
              <a:rPr sz="1200" b="0">
                <a:solidFill>
                  <a:srgbClr val="102A32"/>
                </a:solidFill>
                <a:latin typeface="Calibri"/>
              </a:rPr>
              <a:t>[144] Scott M. Grundy, Neil J. Stone, Alison L. Bailey et al. (2019). 2018 AHA/ACC/AACVPR/AAPA/ABC/ACPM/ADA/AGS/APhA/ASPC/NLA/PCNA Guideline on the Management of Blood Cholesterol: A Report of the American College of Cardiology/American Heart Association Task Force on Clinical Practice Guidelines. Circulation. https://</a:t>
            </a:r>
          </a:p>
        </p:txBody>
      </p:sp>
      <p:sp>
        <p:nvSpPr>
          <p:cNvPr id="7" name="TextBox 6"/>
          <p:cNvSpPr txBox="1"/>
          <p:nvPr/>
        </p:nvSpPr>
        <p:spPr>
          <a:xfrm>
            <a:off x="411480" y="2825496"/>
            <a:ext cx="11338560" cy="685800"/>
          </a:xfrm>
          <a:prstGeom prst="rect">
            <a:avLst/>
          </a:prstGeom>
          <a:noFill/>
        </p:spPr>
        <p:txBody>
          <a:bodyPr wrap="square">
            <a:spAutoFit/>
          </a:bodyPr>
          <a:lstStyle/>
          <a:p>
            <a:pPr algn="l"/>
            <a:r>
              <a:rPr sz="1200" b="0">
                <a:solidFill>
                  <a:srgbClr val="102A32"/>
                </a:solidFill>
                <a:latin typeface="Calibri"/>
              </a:rPr>
              <a:t>[145] Gregg W. Stone, JoAnn Lindenfeld, William T. Abraham et al. (2018). Transcatheter Mitral-Valve Repair in Patients with Heart Failure. New England Journal of Medicine. https://doi.org/10.1056/nejmoa1806640</a:t>
            </a:r>
          </a:p>
        </p:txBody>
      </p:sp>
      <p:sp>
        <p:nvSpPr>
          <p:cNvPr id="8" name="TextBox 7"/>
          <p:cNvSpPr txBox="1"/>
          <p:nvPr/>
        </p:nvSpPr>
        <p:spPr>
          <a:xfrm>
            <a:off x="411480" y="3538728"/>
            <a:ext cx="11338560" cy="685800"/>
          </a:xfrm>
          <a:prstGeom prst="rect">
            <a:avLst/>
          </a:prstGeom>
          <a:noFill/>
        </p:spPr>
        <p:txBody>
          <a:bodyPr wrap="square">
            <a:spAutoFit/>
          </a:bodyPr>
          <a:lstStyle/>
          <a:p>
            <a:pPr algn="l"/>
            <a:r>
              <a:rPr sz="1200" b="0">
                <a:solidFill>
                  <a:srgbClr val="102A32"/>
                </a:solidFill>
                <a:latin typeface="Calibri"/>
              </a:rPr>
              <a:t>[146]  (2018). Technical package for cardiovascular disease management in primary health care: team-based care. World Health Organization.</a:t>
            </a:r>
          </a:p>
        </p:txBody>
      </p:sp>
      <p:sp>
        <p:nvSpPr>
          <p:cNvPr id="9" name="TextBox 8"/>
          <p:cNvSpPr txBox="1"/>
          <p:nvPr/>
        </p:nvSpPr>
        <p:spPr>
          <a:xfrm>
            <a:off x="411480" y="4251960"/>
            <a:ext cx="11338560" cy="685800"/>
          </a:xfrm>
          <a:prstGeom prst="rect">
            <a:avLst/>
          </a:prstGeom>
          <a:noFill/>
        </p:spPr>
        <p:txBody>
          <a:bodyPr wrap="square">
            <a:spAutoFit/>
          </a:bodyPr>
          <a:lstStyle/>
          <a:p>
            <a:pPr algn="l"/>
            <a:r>
              <a:rPr sz="1200" b="0">
                <a:solidFill>
                  <a:srgbClr val="102A32"/>
                </a:solidFill>
                <a:latin typeface="Calibri"/>
              </a:rPr>
              <a:t>[147] Ragavendra R. Baliga (2018). Sacubitril/Valsartan. Heart Failure Clinics. https://doi.org/10.1016/j.hfc.2018.06.012</a:t>
            </a:r>
          </a:p>
        </p:txBody>
      </p:sp>
      <p:sp>
        <p:nvSpPr>
          <p:cNvPr id="10" name="TextBox 9"/>
          <p:cNvSpPr txBox="1"/>
          <p:nvPr/>
        </p:nvSpPr>
        <p:spPr>
          <a:xfrm>
            <a:off x="411480" y="4965192"/>
            <a:ext cx="11338560" cy="685800"/>
          </a:xfrm>
          <a:prstGeom prst="rect">
            <a:avLst/>
          </a:prstGeom>
          <a:noFill/>
        </p:spPr>
        <p:txBody>
          <a:bodyPr wrap="square">
            <a:spAutoFit/>
          </a:bodyPr>
          <a:lstStyle/>
          <a:p>
            <a:pPr algn="l"/>
            <a:r>
              <a:rPr sz="1200" b="0">
                <a:solidFill>
                  <a:srgbClr val="102A32"/>
                </a:solidFill>
                <a:latin typeface="Calibri"/>
              </a:rPr>
              <a:t>[148] Joan S. Grant, Lucinda J. Graven (2018). Problems experienced by informal caregivers of individuals with heart failure: An integrative review. International Journal of Nursing Studies. https://doi.org/10.1016/j.ijnurstu.2017.12.016</a:t>
            </a:r>
          </a:p>
        </p:txBody>
      </p:sp>
      <p:sp>
        <p:nvSpPr>
          <p:cNvPr id="11" name="TextBox 10"/>
          <p:cNvSpPr txBox="1"/>
          <p:nvPr/>
        </p:nvSpPr>
        <p:spPr>
          <a:xfrm>
            <a:off x="411480" y="5678424"/>
            <a:ext cx="11338560" cy="685800"/>
          </a:xfrm>
          <a:prstGeom prst="rect">
            <a:avLst/>
          </a:prstGeom>
          <a:noFill/>
        </p:spPr>
        <p:txBody>
          <a:bodyPr wrap="square">
            <a:spAutoFit/>
          </a:bodyPr>
          <a:lstStyle/>
          <a:p>
            <a:pPr algn="l"/>
            <a:r>
              <a:rPr sz="1200" b="0">
                <a:solidFill>
                  <a:srgbClr val="102A32"/>
                </a:solidFill>
                <a:latin typeface="Calibri"/>
              </a:rPr>
              <a:t>[149] Jean-François Obadia, David Messika-Zeitoun, Guillaume Leurent et al. (2018). Percutaneous Repair or Medical Treatment for Secondary Mitral Regurgitation. New England Journal of Medicine. https://doi.org/10.1056/nejmoa1805374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972800" cy="320040"/>
          </a:xfrm>
          <a:prstGeom prst="rect">
            <a:avLst/>
          </a:prstGeom>
          <a:noFill/>
        </p:spPr>
        <p:txBody>
          <a:bodyPr wrap="square">
            <a:spAutoFit/>
          </a:bodyPr>
          <a:lstStyle/>
          <a:p>
            <a:pPr algn="l"/>
            <a:r>
              <a:rPr sz="1200" b="1">
                <a:solidFill>
                  <a:srgbClr val="B85C38"/>
                </a:solidFill>
                <a:latin typeface="Calibri"/>
              </a:rPr>
              <a:t>10.19  NUMBERED, REGISTRY-VALIDATED REFERENCES</a:t>
            </a:r>
          </a:p>
        </p:txBody>
      </p:sp>
      <p:sp>
        <p:nvSpPr>
          <p:cNvPr id="4" name="TextBox 3"/>
          <p:cNvSpPr txBox="1"/>
          <p:nvPr/>
        </p:nvSpPr>
        <p:spPr>
          <a:xfrm>
            <a:off x="411480" y="685800"/>
            <a:ext cx="11338560" cy="685800"/>
          </a:xfrm>
          <a:prstGeom prst="rect">
            <a:avLst/>
          </a:prstGeom>
          <a:noFill/>
        </p:spPr>
        <p:txBody>
          <a:bodyPr wrap="square">
            <a:spAutoFit/>
          </a:bodyPr>
          <a:lstStyle/>
          <a:p>
            <a:pPr algn="l"/>
            <a:r>
              <a:rPr sz="1200" b="0">
                <a:solidFill>
                  <a:srgbClr val="102A32"/>
                </a:solidFill>
                <a:latin typeface="Calibri"/>
              </a:rPr>
              <a:t>[150] John J. Atherton, Andrew Sindone, Carmine G. De Pasquale et al. (2018). National Heart Foundation of Australia and Cardiac Society of Australia and New Zealand: Guidelines for the Prevention, Detection, and Management of Heart Failure in Australia 2018. Heart, Lung and Circulation. https://doi.org/10.1016/j.hlc.2</a:t>
            </a:r>
          </a:p>
        </p:txBody>
      </p:sp>
      <p:sp>
        <p:nvSpPr>
          <p:cNvPr id="5" name="TextBox 4"/>
          <p:cNvSpPr txBox="1"/>
          <p:nvPr/>
        </p:nvSpPr>
        <p:spPr>
          <a:xfrm>
            <a:off x="411480" y="1399032"/>
            <a:ext cx="11338560" cy="685800"/>
          </a:xfrm>
          <a:prstGeom prst="rect">
            <a:avLst/>
          </a:prstGeom>
          <a:noFill/>
        </p:spPr>
        <p:txBody>
          <a:bodyPr wrap="square">
            <a:spAutoFit/>
          </a:bodyPr>
          <a:lstStyle/>
          <a:p>
            <a:pPr algn="l"/>
            <a:r>
              <a:rPr sz="1200" b="0">
                <a:solidFill>
                  <a:srgbClr val="102A32"/>
                </a:solidFill>
                <a:latin typeface="Calibri"/>
              </a:rPr>
              <a:t>[151] S. Mishra, J.C. Mohan, Tiny Nair et al. (2018). Management protocols for chronic heart failure in India. Indian Heart Journal. https://doi.org/10.1016/j.ihj.2017.11.015</a:t>
            </a:r>
          </a:p>
        </p:txBody>
      </p:sp>
      <p:sp>
        <p:nvSpPr>
          <p:cNvPr id="6" name="TextBox 5"/>
          <p:cNvSpPr txBox="1"/>
          <p:nvPr/>
        </p:nvSpPr>
        <p:spPr>
          <a:xfrm>
            <a:off x="411480" y="2112264"/>
            <a:ext cx="11338560" cy="685800"/>
          </a:xfrm>
          <a:prstGeom prst="rect">
            <a:avLst/>
          </a:prstGeom>
          <a:noFill/>
        </p:spPr>
        <p:txBody>
          <a:bodyPr wrap="square">
            <a:spAutoFit/>
          </a:bodyPr>
          <a:lstStyle/>
          <a:p>
            <a:pPr algn="l"/>
            <a:r>
              <a:rPr sz="1200" b="0">
                <a:solidFill>
                  <a:srgbClr val="102A32"/>
                </a:solidFill>
                <a:latin typeface="Calibri"/>
              </a:rPr>
              <a:t>[153] Gregory A Roth, Degu Abate, Kalkidan Hassen Abate et al. (2018). Global, regional, and national age-sex-specific mortality for 282 causes of death in 195 countries and territories, 1980–2017: a systematic analysis for the Global Burden of Disease Study 2017. The Lancet. https://doi.org/10.1016/s0140-6736(18)32203</a:t>
            </a:r>
          </a:p>
        </p:txBody>
      </p:sp>
      <p:sp>
        <p:nvSpPr>
          <p:cNvPr id="7" name="TextBox 6"/>
          <p:cNvSpPr txBox="1"/>
          <p:nvPr/>
        </p:nvSpPr>
        <p:spPr>
          <a:xfrm>
            <a:off x="411480" y="2825496"/>
            <a:ext cx="11338560" cy="685800"/>
          </a:xfrm>
          <a:prstGeom prst="rect">
            <a:avLst/>
          </a:prstGeom>
          <a:noFill/>
        </p:spPr>
        <p:txBody>
          <a:bodyPr wrap="square">
            <a:spAutoFit/>
          </a:bodyPr>
          <a:lstStyle/>
          <a:p>
            <a:pPr algn="l"/>
            <a:r>
              <a:rPr sz="1200" b="0">
                <a:solidFill>
                  <a:srgbClr val="102A32"/>
                </a:solidFill>
                <a:latin typeface="Calibri"/>
              </a:rPr>
              <a:t>[154]  (2018). Chronic heart failure in adults: diagnosis and management (NICE NG106). NICE.</a:t>
            </a:r>
          </a:p>
        </p:txBody>
      </p:sp>
      <p:sp>
        <p:nvSpPr>
          <p:cNvPr id="8" name="TextBox 7"/>
          <p:cNvSpPr txBox="1"/>
          <p:nvPr/>
        </p:nvSpPr>
        <p:spPr>
          <a:xfrm>
            <a:off x="411480" y="3538728"/>
            <a:ext cx="11338560" cy="685800"/>
          </a:xfrm>
          <a:prstGeom prst="rect">
            <a:avLst/>
          </a:prstGeom>
          <a:noFill/>
        </p:spPr>
        <p:txBody>
          <a:bodyPr wrap="square">
            <a:spAutoFit/>
          </a:bodyPr>
          <a:lstStyle/>
          <a:p>
            <a:pPr algn="l"/>
            <a:r>
              <a:rPr sz="1200" b="0">
                <a:solidFill>
                  <a:srgbClr val="102A32"/>
                </a:solidFill>
                <a:latin typeface="Calibri"/>
              </a:rPr>
              <a:t>[155] Antonio Petruzzo, Marco Paturzo, Monica Naletto et al. (2017). The lived experience of caregivers of persons with heart failure: A phenomenological study. European Journal of Cardiovascular Nursing. https://doi.org/10.1177/1474515117707666</a:t>
            </a:r>
          </a:p>
        </p:txBody>
      </p:sp>
      <p:sp>
        <p:nvSpPr>
          <p:cNvPr id="9" name="TextBox 8"/>
          <p:cNvSpPr txBox="1"/>
          <p:nvPr/>
        </p:nvSpPr>
        <p:spPr>
          <a:xfrm>
            <a:off x="411480" y="4251960"/>
            <a:ext cx="11338560" cy="685800"/>
          </a:xfrm>
          <a:prstGeom prst="rect">
            <a:avLst/>
          </a:prstGeom>
          <a:noFill/>
        </p:spPr>
        <p:txBody>
          <a:bodyPr wrap="square">
            <a:spAutoFit/>
          </a:bodyPr>
          <a:lstStyle/>
          <a:p>
            <a:pPr algn="l"/>
            <a:r>
              <a:rPr sz="1200" b="0">
                <a:solidFill>
                  <a:srgbClr val="102A32"/>
                </a:solidFill>
                <a:latin typeface="Calibri"/>
              </a:rPr>
              <a:t>[156] Zaid Iskandar, M., Lang, C.C. (2017). Sacubitril and valsartan fixed combination to reduce heart failure events in post-acute myocardial infarction patients. Drugs of Today. https://doi.org/10.1358/dot.2017.53.10.2722396</a:t>
            </a:r>
          </a:p>
        </p:txBody>
      </p:sp>
      <p:sp>
        <p:nvSpPr>
          <p:cNvPr id="10" name="TextBox 9"/>
          <p:cNvSpPr txBox="1"/>
          <p:nvPr/>
        </p:nvSpPr>
        <p:spPr>
          <a:xfrm>
            <a:off x="411480" y="4965192"/>
            <a:ext cx="11338560" cy="685800"/>
          </a:xfrm>
          <a:prstGeom prst="rect">
            <a:avLst/>
          </a:prstGeom>
          <a:noFill/>
        </p:spPr>
        <p:txBody>
          <a:bodyPr wrap="square">
            <a:spAutoFit/>
          </a:bodyPr>
          <a:lstStyle/>
          <a:p>
            <a:pPr algn="l"/>
            <a:r>
              <a:rPr sz="1200" b="0">
                <a:solidFill>
                  <a:srgbClr val="102A32"/>
                </a:solidFill>
                <a:latin typeface="Calibri"/>
              </a:rPr>
              <a:t>[157] Helen Walthall, Crispin Jenkinson, Mary Boulton (2017). Living with breathlessness in chronic heart failure: a qualitative study. Journal of Clinical Nursing. https://doi.org/10.1111/jocn.13615</a:t>
            </a:r>
          </a:p>
        </p:txBody>
      </p:sp>
      <p:sp>
        <p:nvSpPr>
          <p:cNvPr id="11" name="TextBox 10"/>
          <p:cNvSpPr txBox="1"/>
          <p:nvPr/>
        </p:nvSpPr>
        <p:spPr>
          <a:xfrm>
            <a:off x="411480" y="5678424"/>
            <a:ext cx="11338560" cy="685800"/>
          </a:xfrm>
          <a:prstGeom prst="rect">
            <a:avLst/>
          </a:prstGeom>
          <a:noFill/>
        </p:spPr>
        <p:txBody>
          <a:bodyPr wrap="square">
            <a:spAutoFit/>
          </a:bodyPr>
          <a:lstStyle/>
          <a:p>
            <a:pPr algn="l"/>
            <a:r>
              <a:rPr sz="1200" b="0">
                <a:solidFill>
                  <a:srgbClr val="102A32"/>
                </a:solidFill>
                <a:latin typeface="Calibri"/>
              </a:rPr>
              <a:t>[158] Emelia J. Benjamin, Michael J. Blaha, Stephanie E. Chiuve et al. (2017). Heart Disease and Stroke Statistics—2017 Update: A Report From the American Heart Association. Circulation. https://doi.org/10.1161/cir.0000000000000485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972800" cy="320040"/>
          </a:xfrm>
          <a:prstGeom prst="rect">
            <a:avLst/>
          </a:prstGeom>
          <a:noFill/>
        </p:spPr>
        <p:txBody>
          <a:bodyPr wrap="square">
            <a:spAutoFit/>
          </a:bodyPr>
          <a:lstStyle/>
          <a:p>
            <a:pPr algn="l"/>
            <a:r>
              <a:rPr sz="1200" b="1">
                <a:solidFill>
                  <a:srgbClr val="B85C38"/>
                </a:solidFill>
                <a:latin typeface="Calibri"/>
              </a:rPr>
              <a:t>10.20  NUMBERED, REGISTRY-VALIDATED REFERENCES</a:t>
            </a:r>
          </a:p>
        </p:txBody>
      </p:sp>
      <p:sp>
        <p:nvSpPr>
          <p:cNvPr id="4" name="TextBox 3"/>
          <p:cNvSpPr txBox="1"/>
          <p:nvPr/>
        </p:nvSpPr>
        <p:spPr>
          <a:xfrm>
            <a:off x="411480" y="685800"/>
            <a:ext cx="11338560" cy="685800"/>
          </a:xfrm>
          <a:prstGeom prst="rect">
            <a:avLst/>
          </a:prstGeom>
          <a:noFill/>
        </p:spPr>
        <p:txBody>
          <a:bodyPr wrap="square">
            <a:spAutoFit/>
          </a:bodyPr>
          <a:lstStyle/>
          <a:p>
            <a:pPr algn="l"/>
            <a:r>
              <a:rPr sz="1200" b="0">
                <a:solidFill>
                  <a:srgbClr val="102A32"/>
                </a:solidFill>
                <a:latin typeface="Calibri"/>
              </a:rPr>
              <a:t>[159] Ovidiu Chioncel, Mitja Lainscak, Petar M. Seferovic et al. (2017). Epidemiology and One-Year Outcomes in Patients With Chronic Heart Failure and Preserved, Mid-Range and Reduced Ejection Fraction: An Analysis of The ESC Heart Failure Long-Term Registry. European Journal of Heart Failure. https://doi.org/10.1002/e</a:t>
            </a:r>
          </a:p>
        </p:txBody>
      </p:sp>
      <p:sp>
        <p:nvSpPr>
          <p:cNvPr id="5" name="TextBox 4"/>
          <p:cNvSpPr txBox="1"/>
          <p:nvPr/>
        </p:nvSpPr>
        <p:spPr>
          <a:xfrm>
            <a:off x="411480" y="1399032"/>
            <a:ext cx="11338560" cy="685800"/>
          </a:xfrm>
          <a:prstGeom prst="rect">
            <a:avLst/>
          </a:prstGeom>
          <a:noFill/>
        </p:spPr>
        <p:txBody>
          <a:bodyPr wrap="square">
            <a:spAutoFit/>
          </a:bodyPr>
          <a:lstStyle/>
          <a:p>
            <a:pPr algn="l"/>
            <a:r>
              <a:rPr sz="1200" b="0">
                <a:solidFill>
                  <a:srgbClr val="102A32"/>
                </a:solidFill>
                <a:latin typeface="Calibri"/>
              </a:rPr>
              <a:t>[160] Kori A. LaDonna, Joanna Bates, Glendon R. Tait et al. (2016). ‘Who is on your health‐care team?’ Asking individuals with heart failure about care team membership and roles. Health Expectations. https://doi.org/10.1111/hex.12447</a:t>
            </a:r>
          </a:p>
        </p:txBody>
      </p:sp>
      <p:sp>
        <p:nvSpPr>
          <p:cNvPr id="6" name="TextBox 5"/>
          <p:cNvSpPr txBox="1"/>
          <p:nvPr/>
        </p:nvSpPr>
        <p:spPr>
          <a:xfrm>
            <a:off x="411480" y="2112264"/>
            <a:ext cx="11338560" cy="685800"/>
          </a:xfrm>
          <a:prstGeom prst="rect">
            <a:avLst/>
          </a:prstGeom>
          <a:noFill/>
        </p:spPr>
        <p:txBody>
          <a:bodyPr wrap="square">
            <a:spAutoFit/>
          </a:bodyPr>
          <a:lstStyle/>
          <a:p>
            <a:pPr algn="l"/>
            <a:r>
              <a:rPr sz="1200" b="0">
                <a:solidFill>
                  <a:srgbClr val="102A32"/>
                </a:solidFill>
                <a:latin typeface="Calibri"/>
              </a:rPr>
              <a:t>[161] José F. Vilela-Martin (2016). Spotlight on valsartan&amp;amp;ndash;sacubitril fixed-dose combination for heart failure: the evidence to date. Drug Design, Development and Therapy. https://doi.org/10.2147/dddt.s84782</a:t>
            </a:r>
          </a:p>
        </p:txBody>
      </p:sp>
      <p:sp>
        <p:nvSpPr>
          <p:cNvPr id="7" name="TextBox 6"/>
          <p:cNvSpPr txBox="1"/>
          <p:nvPr/>
        </p:nvSpPr>
        <p:spPr>
          <a:xfrm>
            <a:off x="411480" y="2825496"/>
            <a:ext cx="11338560" cy="685800"/>
          </a:xfrm>
          <a:prstGeom prst="rect">
            <a:avLst/>
          </a:prstGeom>
          <a:noFill/>
        </p:spPr>
        <p:txBody>
          <a:bodyPr wrap="square">
            <a:spAutoFit/>
          </a:bodyPr>
          <a:lstStyle/>
          <a:p>
            <a:pPr algn="l"/>
            <a:r>
              <a:rPr sz="1200" b="0">
                <a:solidFill>
                  <a:srgbClr val="102A32"/>
                </a:solidFill>
                <a:latin typeface="Calibri"/>
              </a:rPr>
              <a:t>[162]  (2016). Sacubitril valsartan for treating symptomatic chronic heart failure with reduced ejection fraction (NICE TA388). NICE (UK).</a:t>
            </a:r>
          </a:p>
        </p:txBody>
      </p:sp>
      <p:sp>
        <p:nvSpPr>
          <p:cNvPr id="8" name="TextBox 7"/>
          <p:cNvSpPr txBox="1"/>
          <p:nvPr/>
        </p:nvSpPr>
        <p:spPr>
          <a:xfrm>
            <a:off x="411480" y="3538728"/>
            <a:ext cx="11338560" cy="685800"/>
          </a:xfrm>
          <a:prstGeom prst="rect">
            <a:avLst/>
          </a:prstGeom>
          <a:noFill/>
        </p:spPr>
        <p:txBody>
          <a:bodyPr wrap="square">
            <a:spAutoFit/>
          </a:bodyPr>
          <a:lstStyle/>
          <a:p>
            <a:pPr algn="l"/>
            <a:r>
              <a:rPr sz="1200" b="0">
                <a:solidFill>
                  <a:srgbClr val="102A32"/>
                </a:solidFill>
                <a:latin typeface="Calibri"/>
              </a:rPr>
              <a:t>[164] Anjali Tiku Owens, Susan C. Brozena, Mariell Jessup (2016). New Management Strategies in Heart Failure. Circulation Research. https://doi.org/10.1161/circresaha.115.306567</a:t>
            </a:r>
          </a:p>
        </p:txBody>
      </p:sp>
      <p:sp>
        <p:nvSpPr>
          <p:cNvPr id="9" name="TextBox 8"/>
          <p:cNvSpPr txBox="1"/>
          <p:nvPr/>
        </p:nvSpPr>
        <p:spPr>
          <a:xfrm>
            <a:off x="411480" y="4251960"/>
            <a:ext cx="11338560" cy="685800"/>
          </a:xfrm>
          <a:prstGeom prst="rect">
            <a:avLst/>
          </a:prstGeom>
          <a:noFill/>
        </p:spPr>
        <p:txBody>
          <a:bodyPr wrap="square">
            <a:spAutoFit/>
          </a:bodyPr>
          <a:lstStyle/>
          <a:p>
            <a:pPr algn="l"/>
            <a:r>
              <a:rPr sz="1200" b="0">
                <a:solidFill>
                  <a:srgbClr val="102A32"/>
                </a:solidFill>
                <a:latin typeface="Calibri"/>
              </a:rPr>
              <a:t>[165]  (2016). New drugs: Sacubitril/valsartan for chronic heart failure. Australian Prescriber. https://doi.org/10.18773/austprescr.2016.080</a:t>
            </a:r>
          </a:p>
        </p:txBody>
      </p:sp>
      <p:sp>
        <p:nvSpPr>
          <p:cNvPr id="10" name="TextBox 9"/>
          <p:cNvSpPr txBox="1"/>
          <p:nvPr/>
        </p:nvSpPr>
        <p:spPr>
          <a:xfrm>
            <a:off x="411480" y="4965192"/>
            <a:ext cx="11338560" cy="685800"/>
          </a:xfrm>
          <a:prstGeom prst="rect">
            <a:avLst/>
          </a:prstGeom>
          <a:noFill/>
        </p:spPr>
        <p:txBody>
          <a:bodyPr wrap="square">
            <a:spAutoFit/>
          </a:bodyPr>
          <a:lstStyle/>
          <a:p>
            <a:pPr algn="l"/>
            <a:r>
              <a:rPr sz="1200" b="0">
                <a:solidFill>
                  <a:srgbClr val="102A32"/>
                </a:solidFill>
                <a:latin typeface="Calibri"/>
              </a:rPr>
              <a:t>[166] Justin Hartupee, Douglas L. Mann (2016). Neurohormonal activation in heart failure with reduced ejection fraction. Nature Reviews Cardiology. https://doi.org/10.1038/nrcardio.2016.163</a:t>
            </a:r>
          </a:p>
        </p:txBody>
      </p:sp>
      <p:sp>
        <p:nvSpPr>
          <p:cNvPr id="11" name="TextBox 10"/>
          <p:cNvSpPr txBox="1"/>
          <p:nvPr/>
        </p:nvSpPr>
        <p:spPr>
          <a:xfrm>
            <a:off x="411480" y="5678424"/>
            <a:ext cx="11338560" cy="685800"/>
          </a:xfrm>
          <a:prstGeom prst="rect">
            <a:avLst/>
          </a:prstGeom>
          <a:noFill/>
        </p:spPr>
        <p:txBody>
          <a:bodyPr wrap="square">
            <a:spAutoFit/>
          </a:bodyPr>
          <a:lstStyle/>
          <a:p>
            <a:pPr algn="l"/>
            <a:r>
              <a:rPr sz="1200" b="0">
                <a:solidFill>
                  <a:srgbClr val="102A32"/>
                </a:solidFill>
                <a:latin typeface="Calibri"/>
              </a:rPr>
              <a:t>[167] Michele Senni, John J.V. McMurray, Rolf Wachter et al. (2016). Initiating Sacubitril/Valsartan (LCZ696) in Heart Failure: Results of TITRATION, a Double-Blind, Randomized Comparison of Two Uptitration Regimens. European Journal of Heart Failure. https://doi.org/10.1002/ejhf.548</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972800" cy="320040"/>
          </a:xfrm>
          <a:prstGeom prst="rect">
            <a:avLst/>
          </a:prstGeom>
          <a:noFill/>
        </p:spPr>
        <p:txBody>
          <a:bodyPr wrap="square">
            <a:spAutoFit/>
          </a:bodyPr>
          <a:lstStyle/>
          <a:p>
            <a:pPr algn="l"/>
            <a:r>
              <a:rPr sz="1200" b="1">
                <a:solidFill>
                  <a:srgbClr val="B85C38"/>
                </a:solidFill>
                <a:latin typeface="Calibri"/>
              </a:rPr>
              <a:t>10.21  NUMBERED, REGISTRY-VALIDATED REFERENCES</a:t>
            </a:r>
          </a:p>
        </p:txBody>
      </p:sp>
      <p:sp>
        <p:nvSpPr>
          <p:cNvPr id="4" name="TextBox 3"/>
          <p:cNvSpPr txBox="1"/>
          <p:nvPr/>
        </p:nvSpPr>
        <p:spPr>
          <a:xfrm>
            <a:off x="411480" y="685800"/>
            <a:ext cx="11338560" cy="685800"/>
          </a:xfrm>
          <a:prstGeom prst="rect">
            <a:avLst/>
          </a:prstGeom>
          <a:noFill/>
        </p:spPr>
        <p:txBody>
          <a:bodyPr wrap="square">
            <a:spAutoFit/>
          </a:bodyPr>
          <a:lstStyle/>
          <a:p>
            <a:pPr algn="l"/>
            <a:r>
              <a:rPr sz="1200" b="0">
                <a:solidFill>
                  <a:srgbClr val="102A32"/>
                </a:solidFill>
                <a:latin typeface="Calibri"/>
              </a:rPr>
              <a:t>[168] Boback Ziaeian, Gregg C. Fonarow (2016). Epidemiology and aetiology of heart failure. Nature Reviews Cardiology. https://doi.org/10.1038/nrcardio.2016.25</a:t>
            </a:r>
          </a:p>
        </p:txBody>
      </p:sp>
      <p:sp>
        <p:nvSpPr>
          <p:cNvPr id="5" name="TextBox 4"/>
          <p:cNvSpPr txBox="1"/>
          <p:nvPr/>
        </p:nvSpPr>
        <p:spPr>
          <a:xfrm>
            <a:off x="411480" y="1399032"/>
            <a:ext cx="11338560" cy="685800"/>
          </a:xfrm>
          <a:prstGeom prst="rect">
            <a:avLst/>
          </a:prstGeom>
          <a:noFill/>
        </p:spPr>
        <p:txBody>
          <a:bodyPr wrap="square">
            <a:spAutoFit/>
          </a:bodyPr>
          <a:lstStyle/>
          <a:p>
            <a:pPr algn="l"/>
            <a:r>
              <a:rPr sz="1200" b="0">
                <a:solidFill>
                  <a:srgbClr val="102A32"/>
                </a:solidFill>
                <a:latin typeface="Calibri"/>
              </a:rPr>
              <a:t>[169] Jonathan R. Carapetis, Andrea Beaton, Madeleine W. Cunningham et al. (2016). Acute rheumatic fever and rheumatic heart disease. Nature Reviews Disease Primers. https://doi.org/10.1038/nrdp.2015.84</a:t>
            </a:r>
          </a:p>
        </p:txBody>
      </p:sp>
      <p:sp>
        <p:nvSpPr>
          <p:cNvPr id="6" name="TextBox 5"/>
          <p:cNvSpPr txBox="1"/>
          <p:nvPr/>
        </p:nvSpPr>
        <p:spPr>
          <a:xfrm>
            <a:off x="411480" y="2112264"/>
            <a:ext cx="11338560" cy="685800"/>
          </a:xfrm>
          <a:prstGeom prst="rect">
            <a:avLst/>
          </a:prstGeom>
          <a:noFill/>
        </p:spPr>
        <p:txBody>
          <a:bodyPr wrap="square">
            <a:spAutoFit/>
          </a:bodyPr>
          <a:lstStyle/>
          <a:p>
            <a:pPr algn="l"/>
            <a:r>
              <a:rPr sz="1200" b="0">
                <a:solidFill>
                  <a:srgbClr val="102A32"/>
                </a:solidFill>
                <a:latin typeface="Calibri"/>
              </a:rPr>
              <a:t>[170] M. Volpe, M. Carnovali, V. Mastromarino (2015). The natriuretic peptides system in the pathophysiology of heart failure: from molecular basis to treatment. Clinical Science. https://doi.org/10.1042/cs20150469</a:t>
            </a:r>
          </a:p>
        </p:txBody>
      </p:sp>
      <p:sp>
        <p:nvSpPr>
          <p:cNvPr id="7" name="TextBox 6"/>
          <p:cNvSpPr txBox="1"/>
          <p:nvPr/>
        </p:nvSpPr>
        <p:spPr>
          <a:xfrm>
            <a:off x="411480" y="2825496"/>
            <a:ext cx="11338560" cy="685800"/>
          </a:xfrm>
          <a:prstGeom prst="rect">
            <a:avLst/>
          </a:prstGeom>
          <a:noFill/>
        </p:spPr>
        <p:txBody>
          <a:bodyPr wrap="square">
            <a:spAutoFit/>
          </a:bodyPr>
          <a:lstStyle/>
          <a:p>
            <a:pPr algn="l"/>
            <a:r>
              <a:rPr sz="1200" b="0">
                <a:solidFill>
                  <a:srgbClr val="102A32"/>
                </a:solidFill>
                <a:latin typeface="Calibri"/>
              </a:rPr>
              <a:t>[171]  (2015). Sustainable Development Goal 3 — Good health and well-being. United Nations DESA.</a:t>
            </a:r>
          </a:p>
        </p:txBody>
      </p:sp>
      <p:sp>
        <p:nvSpPr>
          <p:cNvPr id="8" name="TextBox 7"/>
          <p:cNvSpPr txBox="1"/>
          <p:nvPr/>
        </p:nvSpPr>
        <p:spPr>
          <a:xfrm>
            <a:off x="411480" y="3538728"/>
            <a:ext cx="11338560" cy="685800"/>
          </a:xfrm>
          <a:prstGeom prst="rect">
            <a:avLst/>
          </a:prstGeom>
          <a:noFill/>
        </p:spPr>
        <p:txBody>
          <a:bodyPr wrap="square">
            <a:spAutoFit/>
          </a:bodyPr>
          <a:lstStyle/>
          <a:p>
            <a:pPr algn="l"/>
            <a:r>
              <a:rPr sz="1200" b="0">
                <a:solidFill>
                  <a:srgbClr val="102A32"/>
                </a:solidFill>
                <a:latin typeface="Calibri"/>
              </a:rPr>
              <a:t>[172] Sally C Inglis, Robyn A Clark, Riet Dierckx et al. (2015). Structured telephone support or non-invasive telemonitoring for patients with heart failure. Cochrane Database of Systematic Reviews. https://doi.org/10.1002/14651858.cd007228.pub3</a:t>
            </a:r>
          </a:p>
        </p:txBody>
      </p:sp>
      <p:sp>
        <p:nvSpPr>
          <p:cNvPr id="9" name="TextBox 8"/>
          <p:cNvSpPr txBox="1"/>
          <p:nvPr/>
        </p:nvSpPr>
        <p:spPr>
          <a:xfrm>
            <a:off x="411480" y="4251960"/>
            <a:ext cx="11338560" cy="685800"/>
          </a:xfrm>
          <a:prstGeom prst="rect">
            <a:avLst/>
          </a:prstGeom>
          <a:noFill/>
        </p:spPr>
        <p:txBody>
          <a:bodyPr wrap="square">
            <a:spAutoFit/>
          </a:bodyPr>
          <a:lstStyle/>
          <a:p>
            <a:pPr algn="l"/>
            <a:r>
              <a:rPr sz="1200" b="0">
                <a:solidFill>
                  <a:srgbClr val="102A32"/>
                </a:solidFill>
                <a:latin typeface="Calibri"/>
              </a:rPr>
              <a:t>[173]  (2015). Sacubitril/valsartan combination fast-tracked to heart failure patients. The Pharmaceutical Journal. https://doi.org/10.1211/pj.2015.20069267</a:t>
            </a:r>
          </a:p>
        </p:txBody>
      </p:sp>
      <p:sp>
        <p:nvSpPr>
          <p:cNvPr id="10" name="TextBox 9"/>
          <p:cNvSpPr txBox="1"/>
          <p:nvPr/>
        </p:nvSpPr>
        <p:spPr>
          <a:xfrm>
            <a:off x="411480" y="4965192"/>
            <a:ext cx="11338560" cy="685800"/>
          </a:xfrm>
          <a:prstGeom prst="rect">
            <a:avLst/>
          </a:prstGeom>
          <a:noFill/>
        </p:spPr>
        <p:txBody>
          <a:bodyPr wrap="square">
            <a:spAutoFit/>
          </a:bodyPr>
          <a:lstStyle/>
          <a:p>
            <a:pPr algn="l"/>
            <a:r>
              <a:rPr sz="1200" b="0">
                <a:solidFill>
                  <a:srgbClr val="102A32"/>
                </a:solidFill>
                <a:latin typeface="Calibri"/>
              </a:rPr>
              <a:t>[174] Roberto M. Lang, Luigi P. Badano, Victor Mor-Avi et al. (2015). Recommendations for Cardiac Chamber Quantification by Echocardiography in Adults: An Update from the American Society of Echocardiography and the European Association of Cardiovascular Imaging. Journal of the American Society of Echocardiography. htt</a:t>
            </a:r>
          </a:p>
        </p:txBody>
      </p:sp>
      <p:sp>
        <p:nvSpPr>
          <p:cNvPr id="11" name="TextBox 10"/>
          <p:cNvSpPr txBox="1"/>
          <p:nvPr/>
        </p:nvSpPr>
        <p:spPr>
          <a:xfrm>
            <a:off x="411480" y="5678424"/>
            <a:ext cx="11338560" cy="685800"/>
          </a:xfrm>
          <a:prstGeom prst="rect">
            <a:avLst/>
          </a:prstGeom>
          <a:noFill/>
        </p:spPr>
        <p:txBody>
          <a:bodyPr wrap="square">
            <a:spAutoFit/>
          </a:bodyPr>
          <a:lstStyle/>
          <a:p>
            <a:pPr algn="l"/>
            <a:r>
              <a:rPr sz="1200" b="0">
                <a:solidFill>
                  <a:srgbClr val="102A32"/>
                </a:solidFill>
                <a:latin typeface="Calibri"/>
              </a:rPr>
              <a:t>[175]  (2015). Good health and well-being — United Nations Sustainable Development Goal 3. United Nations.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972800" cy="320040"/>
          </a:xfrm>
          <a:prstGeom prst="rect">
            <a:avLst/>
          </a:prstGeom>
          <a:noFill/>
        </p:spPr>
        <p:txBody>
          <a:bodyPr wrap="square">
            <a:spAutoFit/>
          </a:bodyPr>
          <a:lstStyle/>
          <a:p>
            <a:pPr algn="l"/>
            <a:r>
              <a:rPr sz="1200" b="1">
                <a:solidFill>
                  <a:srgbClr val="B85C38"/>
                </a:solidFill>
                <a:latin typeface="Calibri"/>
              </a:rPr>
              <a:t>10.22  NUMBERED, REGISTRY-VALIDATED REFERENCES</a:t>
            </a:r>
          </a:p>
        </p:txBody>
      </p:sp>
      <p:sp>
        <p:nvSpPr>
          <p:cNvPr id="4" name="TextBox 3"/>
          <p:cNvSpPr txBox="1"/>
          <p:nvPr/>
        </p:nvSpPr>
        <p:spPr>
          <a:xfrm>
            <a:off x="411480" y="685800"/>
            <a:ext cx="11338560" cy="685800"/>
          </a:xfrm>
          <a:prstGeom prst="rect">
            <a:avLst/>
          </a:prstGeom>
          <a:noFill/>
        </p:spPr>
        <p:txBody>
          <a:bodyPr wrap="square">
            <a:spAutoFit/>
          </a:bodyPr>
          <a:lstStyle/>
          <a:p>
            <a:pPr algn="l"/>
            <a:r>
              <a:rPr sz="1200" b="0">
                <a:solidFill>
                  <a:srgbClr val="102A32"/>
                </a:solidFill>
                <a:latin typeface="Calibri"/>
              </a:rPr>
              <a:t>[176] Bernard Zinman, Christoph Wanner, John M. Lachin et al. (2015). Empagliflozin, Cardiovascular Outcomes, and Mortality in Type 2 Diabetes. New England Journal of Medicine. https://doi.org/10.1056/nejmoa1504720</a:t>
            </a:r>
          </a:p>
        </p:txBody>
      </p:sp>
      <p:sp>
        <p:nvSpPr>
          <p:cNvPr id="5" name="TextBox 4"/>
          <p:cNvSpPr txBox="1"/>
          <p:nvPr/>
        </p:nvSpPr>
        <p:spPr>
          <a:xfrm>
            <a:off x="411480" y="1399032"/>
            <a:ext cx="11338560" cy="685800"/>
          </a:xfrm>
          <a:prstGeom prst="rect">
            <a:avLst/>
          </a:prstGeom>
          <a:noFill/>
        </p:spPr>
        <p:txBody>
          <a:bodyPr wrap="square">
            <a:spAutoFit/>
          </a:bodyPr>
          <a:lstStyle/>
          <a:p>
            <a:pPr algn="l"/>
            <a:r>
              <a:rPr sz="1200" b="0">
                <a:solidFill>
                  <a:srgbClr val="102A32"/>
                </a:solidFill>
                <a:latin typeface="Calibri"/>
              </a:rPr>
              <a:t>[177] Sivadasanpillai Harikrishnan, Ganapathi Sanjay, Thajudeen Anees et al. (2015). Clinical Presentation, Management, in-Hospital and 90-Day Outcomes of Heart Failure Patients in Trivandrum, Kerala, India: The Trivandrum Heart Failure Registry. European Journal of Heart Failure. https://doi.org/10.1002/ejhf.283</a:t>
            </a:r>
          </a:p>
        </p:txBody>
      </p:sp>
      <p:sp>
        <p:nvSpPr>
          <p:cNvPr id="6" name="TextBox 5"/>
          <p:cNvSpPr txBox="1"/>
          <p:nvPr/>
        </p:nvSpPr>
        <p:spPr>
          <a:xfrm>
            <a:off x="411480" y="2112264"/>
            <a:ext cx="11338560" cy="685800"/>
          </a:xfrm>
          <a:prstGeom prst="rect">
            <a:avLst/>
          </a:prstGeom>
          <a:noFill/>
        </p:spPr>
        <p:txBody>
          <a:bodyPr wrap="square">
            <a:spAutoFit/>
          </a:bodyPr>
          <a:lstStyle/>
          <a:p>
            <a:pPr algn="l"/>
            <a:r>
              <a:rPr sz="1200" b="0">
                <a:solidFill>
                  <a:srgbClr val="102A32"/>
                </a:solidFill>
                <a:latin typeface="Calibri"/>
              </a:rPr>
              <a:t>[178] Dio Kavalieratos, Emma M. Mitchell, Timothy S. Carey et al. (2014). “Not the ‘Grim Reaper Service’”: An Assessment of Provider Knowledge, Attitudes, and Perceptions Regarding Palliative Care Referral Barriers in Heart Failure. Journal of the American Heart Association. https://doi.org/10.1161/jaha.113.000544</a:t>
            </a:r>
          </a:p>
        </p:txBody>
      </p:sp>
      <p:sp>
        <p:nvSpPr>
          <p:cNvPr id="7" name="TextBox 6"/>
          <p:cNvSpPr txBox="1"/>
          <p:nvPr/>
        </p:nvSpPr>
        <p:spPr>
          <a:xfrm>
            <a:off x="411480" y="2825496"/>
            <a:ext cx="11338560" cy="685800"/>
          </a:xfrm>
          <a:prstGeom prst="rect">
            <a:avLst/>
          </a:prstGeom>
          <a:noFill/>
        </p:spPr>
        <p:txBody>
          <a:bodyPr wrap="square">
            <a:spAutoFit/>
          </a:bodyPr>
          <a:lstStyle/>
          <a:p>
            <a:pPr algn="l"/>
            <a:r>
              <a:rPr sz="1200" b="0">
                <a:solidFill>
                  <a:srgbClr val="102A32"/>
                </a:solidFill>
                <a:latin typeface="Calibri"/>
              </a:rPr>
              <a:t>[179] Bertram Pitt, Marc A. Pfeffer, Susan F. Assmann et al. (2014). Spironolactone for Heart Failure with Preserved Ejection Fraction. New England Journal of Medicine. https://doi.org/10.1056/nejmoa1313731</a:t>
            </a:r>
          </a:p>
        </p:txBody>
      </p:sp>
      <p:sp>
        <p:nvSpPr>
          <p:cNvPr id="8" name="TextBox 7"/>
          <p:cNvSpPr txBox="1"/>
          <p:nvPr/>
        </p:nvSpPr>
        <p:spPr>
          <a:xfrm>
            <a:off x="411480" y="3538728"/>
            <a:ext cx="11338560" cy="685800"/>
          </a:xfrm>
          <a:prstGeom prst="rect">
            <a:avLst/>
          </a:prstGeom>
          <a:noFill/>
        </p:spPr>
        <p:txBody>
          <a:bodyPr wrap="square">
            <a:spAutoFit/>
          </a:bodyPr>
          <a:lstStyle/>
          <a:p>
            <a:pPr algn="l"/>
            <a:r>
              <a:rPr sz="1200" b="0">
                <a:solidFill>
                  <a:srgbClr val="102A32"/>
                </a:solidFill>
                <a:latin typeface="Calibri"/>
              </a:rPr>
              <a:t>[180] Rod S Taylor, Viral A Sagar, Edward J Davies et al. (2014). Exercise-based rehabilitation for heart failure. Cochrane Database of Systematic Reviews. https://doi.org/10.1002/14651858.cd003331.pub4</a:t>
            </a:r>
          </a:p>
        </p:txBody>
      </p:sp>
      <p:sp>
        <p:nvSpPr>
          <p:cNvPr id="9" name="TextBox 8"/>
          <p:cNvSpPr txBox="1"/>
          <p:nvPr/>
        </p:nvSpPr>
        <p:spPr>
          <a:xfrm>
            <a:off x="411480" y="4251960"/>
            <a:ext cx="11338560" cy="685800"/>
          </a:xfrm>
          <a:prstGeom prst="rect">
            <a:avLst/>
          </a:prstGeom>
          <a:noFill/>
        </p:spPr>
        <p:txBody>
          <a:bodyPr wrap="square">
            <a:spAutoFit/>
          </a:bodyPr>
          <a:lstStyle/>
          <a:p>
            <a:pPr algn="l"/>
            <a:r>
              <a:rPr sz="1200" b="0">
                <a:solidFill>
                  <a:srgbClr val="102A32"/>
                </a:solidFill>
                <a:latin typeface="Calibri"/>
              </a:rPr>
              <a:t>[181] Vasilios Athyros, Niki Katsiki, Asterios Karagiannis (2014). Editorial: (New Drug (LCZ696) for the Treatment of Heart Failure with Reduced Ejection Fraction After 10 Years. Can One Study Change the Guidelines?). Current Vascular Pharmacology. https://doi.org/10.2174/157016111206141210114716</a:t>
            </a:r>
          </a:p>
        </p:txBody>
      </p:sp>
      <p:sp>
        <p:nvSpPr>
          <p:cNvPr id="10" name="TextBox 9"/>
          <p:cNvSpPr txBox="1"/>
          <p:nvPr/>
        </p:nvSpPr>
        <p:spPr>
          <a:xfrm>
            <a:off x="411480" y="4965192"/>
            <a:ext cx="11338560" cy="685800"/>
          </a:xfrm>
          <a:prstGeom prst="rect">
            <a:avLst/>
          </a:prstGeom>
          <a:noFill/>
        </p:spPr>
        <p:txBody>
          <a:bodyPr wrap="square">
            <a:spAutoFit/>
          </a:bodyPr>
          <a:lstStyle/>
          <a:p>
            <a:pPr algn="l"/>
            <a:r>
              <a:rPr sz="1200" b="0">
                <a:solidFill>
                  <a:srgbClr val="102A32"/>
                </a:solidFill>
                <a:latin typeface="Calibri"/>
              </a:rPr>
              <a:t>[182] Lindsey Anderson, Rod S Taylor (2014). Cardiac rehabilitation for people with heart disease: an overview of Cochrane systematic reviews. Cochrane Database of Systematic Reviews. https://doi.org/10.1002/14651858.cd011273.pub2</a:t>
            </a:r>
          </a:p>
        </p:txBody>
      </p:sp>
      <p:sp>
        <p:nvSpPr>
          <p:cNvPr id="11" name="TextBox 10"/>
          <p:cNvSpPr txBox="1"/>
          <p:nvPr/>
        </p:nvSpPr>
        <p:spPr>
          <a:xfrm>
            <a:off x="411480" y="5678424"/>
            <a:ext cx="11338560" cy="685800"/>
          </a:xfrm>
          <a:prstGeom prst="rect">
            <a:avLst/>
          </a:prstGeom>
          <a:noFill/>
        </p:spPr>
        <p:txBody>
          <a:bodyPr wrap="square">
            <a:spAutoFit/>
          </a:bodyPr>
          <a:lstStyle/>
          <a:p>
            <a:pPr algn="l"/>
            <a:r>
              <a:rPr sz="1200" b="0">
                <a:solidFill>
                  <a:srgbClr val="102A32"/>
                </a:solidFill>
                <a:latin typeface="Calibri"/>
              </a:rPr>
              <a:t>[183] John J.V. McMurray, Milton Packer, Akshay S. Desai et al. (2014). Angiotensin–Neprilysin Inhibition versus Enalapril in Heart Failure. New England Journal of Medicine. https://doi.org/10.1056/nejmoa1409077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972800" cy="320040"/>
          </a:xfrm>
          <a:prstGeom prst="rect">
            <a:avLst/>
          </a:prstGeom>
          <a:noFill/>
        </p:spPr>
        <p:txBody>
          <a:bodyPr wrap="square">
            <a:spAutoFit/>
          </a:bodyPr>
          <a:lstStyle/>
          <a:p>
            <a:pPr algn="l"/>
            <a:r>
              <a:rPr sz="1200" b="1">
                <a:solidFill>
                  <a:srgbClr val="B85C38"/>
                </a:solidFill>
                <a:latin typeface="Calibri"/>
              </a:rPr>
              <a:t>10.23  NUMBERED, REGISTRY-VALIDATED REFERENCES</a:t>
            </a:r>
          </a:p>
        </p:txBody>
      </p:sp>
      <p:sp>
        <p:nvSpPr>
          <p:cNvPr id="4" name="TextBox 3"/>
          <p:cNvSpPr txBox="1"/>
          <p:nvPr/>
        </p:nvSpPr>
        <p:spPr>
          <a:xfrm>
            <a:off x="411480" y="685800"/>
            <a:ext cx="11338560" cy="685800"/>
          </a:xfrm>
          <a:prstGeom prst="rect">
            <a:avLst/>
          </a:prstGeom>
          <a:noFill/>
        </p:spPr>
        <p:txBody>
          <a:bodyPr wrap="square">
            <a:spAutoFit/>
          </a:bodyPr>
          <a:lstStyle/>
          <a:p>
            <a:pPr algn="l"/>
            <a:r>
              <a:rPr sz="1200" b="0">
                <a:solidFill>
                  <a:srgbClr val="102A32"/>
                </a:solidFill>
                <a:latin typeface="Calibri"/>
              </a:rPr>
              <a:t>[184]  (2013). Global action plan for the prevention and control of noncommunicable diseases 2013-2020. World Health Organization.</a:t>
            </a:r>
          </a:p>
        </p:txBody>
      </p:sp>
      <p:sp>
        <p:nvSpPr>
          <p:cNvPr id="5" name="TextBox 4"/>
          <p:cNvSpPr txBox="1"/>
          <p:nvPr/>
        </p:nvSpPr>
        <p:spPr>
          <a:xfrm>
            <a:off x="411480" y="1399032"/>
            <a:ext cx="11338560" cy="685800"/>
          </a:xfrm>
          <a:prstGeom prst="rect">
            <a:avLst/>
          </a:prstGeom>
          <a:noFill/>
        </p:spPr>
        <p:txBody>
          <a:bodyPr wrap="square">
            <a:spAutoFit/>
          </a:bodyPr>
          <a:lstStyle/>
          <a:p>
            <a:pPr algn="l"/>
            <a:r>
              <a:rPr sz="1200" b="0">
                <a:solidFill>
                  <a:srgbClr val="102A32"/>
                </a:solidFill>
                <a:latin typeface="Calibri"/>
              </a:rPr>
              <a:t>[185] Vincent M. van Deursen, Renato Urso, Cecile Laroche et al. (2013). Co-Morbidities in Patients with Heart Failure: An Analysis of the European Heart Failure Pilot Survey. European Journal of Heart Failure. https://doi.org/10.1002/ejhf.30</a:t>
            </a:r>
          </a:p>
        </p:txBody>
      </p:sp>
      <p:sp>
        <p:nvSpPr>
          <p:cNvPr id="6" name="TextBox 5"/>
          <p:cNvSpPr txBox="1"/>
          <p:nvPr/>
        </p:nvSpPr>
        <p:spPr>
          <a:xfrm>
            <a:off x="411480" y="2112264"/>
            <a:ext cx="11338560" cy="685800"/>
          </a:xfrm>
          <a:prstGeom prst="rect">
            <a:avLst/>
          </a:prstGeom>
          <a:noFill/>
        </p:spPr>
        <p:txBody>
          <a:bodyPr wrap="square">
            <a:spAutoFit/>
          </a:bodyPr>
          <a:lstStyle/>
          <a:p>
            <a:pPr algn="l"/>
            <a:r>
              <a:rPr sz="1200" b="0">
                <a:solidFill>
                  <a:srgbClr val="102A32"/>
                </a:solidFill>
                <a:latin typeface="Calibri"/>
              </a:rPr>
              <a:t>[186] Soraya Siabani, Stephen R Leeder, Patricia M Davidson (2013). Barriers and facilitators to self-care in chronic heart failure: a meta-synthesis of qualitative studies. SpringerPlus. https://doi.org/10.1186/2193-1801-2-320</a:t>
            </a:r>
          </a:p>
        </p:txBody>
      </p:sp>
      <p:sp>
        <p:nvSpPr>
          <p:cNvPr id="7" name="TextBox 6"/>
          <p:cNvSpPr txBox="1"/>
          <p:nvPr/>
        </p:nvSpPr>
        <p:spPr>
          <a:xfrm>
            <a:off x="411480" y="2825496"/>
            <a:ext cx="11338560" cy="685800"/>
          </a:xfrm>
          <a:prstGeom prst="rect">
            <a:avLst/>
          </a:prstGeom>
          <a:noFill/>
        </p:spPr>
        <p:txBody>
          <a:bodyPr wrap="square">
            <a:spAutoFit/>
          </a:bodyPr>
          <a:lstStyle/>
          <a:p>
            <a:pPr algn="l"/>
            <a:r>
              <a:rPr sz="1200" b="0">
                <a:solidFill>
                  <a:srgbClr val="102A32"/>
                </a:solidFill>
                <a:latin typeface="Calibri"/>
              </a:rPr>
              <a:t>[187] Clyde W. Yancy, Mariell Jessup, Biykem Bozkurt et al. (2013). 2013 ACCF/AHA Guideline for the Management of Heart Failure: Executive Summary. Journal of the American College of Cardiology. https://doi.org/10.1016/j.jacc.2013.05.020</a:t>
            </a:r>
          </a:p>
        </p:txBody>
      </p:sp>
      <p:sp>
        <p:nvSpPr>
          <p:cNvPr id="8" name="TextBox 7"/>
          <p:cNvSpPr txBox="1"/>
          <p:nvPr/>
        </p:nvSpPr>
        <p:spPr>
          <a:xfrm>
            <a:off x="411480" y="3538728"/>
            <a:ext cx="11338560" cy="685800"/>
          </a:xfrm>
          <a:prstGeom prst="rect">
            <a:avLst/>
          </a:prstGeom>
          <a:noFill/>
        </p:spPr>
        <p:txBody>
          <a:bodyPr wrap="square">
            <a:spAutoFit/>
          </a:bodyPr>
          <a:lstStyle/>
          <a:p>
            <a:pPr algn="l"/>
            <a:r>
              <a:rPr sz="1200" b="0">
                <a:solidFill>
                  <a:srgbClr val="102A32"/>
                </a:solidFill>
                <a:latin typeface="Calibri"/>
              </a:rPr>
              <a:t>[188] Clyde W. Yancy, Mariell Jessup, Biykem Bozkurt et al. (2013). 2013 ACCF/AHA Guideline for the Management of Heart Failure. Journal of the American College of Cardiology. https://doi.org/10.1016/j.jacc.2013.05.019</a:t>
            </a:r>
          </a:p>
        </p:txBody>
      </p:sp>
      <p:sp>
        <p:nvSpPr>
          <p:cNvPr id="9" name="TextBox 8"/>
          <p:cNvSpPr txBox="1"/>
          <p:nvPr/>
        </p:nvSpPr>
        <p:spPr>
          <a:xfrm>
            <a:off x="411480" y="4251960"/>
            <a:ext cx="11338560" cy="685800"/>
          </a:xfrm>
          <a:prstGeom prst="rect">
            <a:avLst/>
          </a:prstGeom>
          <a:noFill/>
        </p:spPr>
        <p:txBody>
          <a:bodyPr wrap="square">
            <a:spAutoFit/>
          </a:bodyPr>
          <a:lstStyle/>
          <a:p>
            <a:pPr algn="l"/>
            <a:r>
              <a:rPr sz="1200" b="0">
                <a:solidFill>
                  <a:srgbClr val="102A32"/>
                </a:solidFill>
                <a:latin typeface="Calibri"/>
              </a:rPr>
              <a:t>[189]  (2012). Pramipexole: risk of heart failure. WHO IRIS.</a:t>
            </a:r>
          </a:p>
        </p:txBody>
      </p:sp>
      <p:sp>
        <p:nvSpPr>
          <p:cNvPr id="10" name="TextBox 9"/>
          <p:cNvSpPr txBox="1"/>
          <p:nvPr/>
        </p:nvSpPr>
        <p:spPr>
          <a:xfrm>
            <a:off x="411480" y="4965192"/>
            <a:ext cx="11338560" cy="685800"/>
          </a:xfrm>
          <a:prstGeom prst="rect">
            <a:avLst/>
          </a:prstGeom>
          <a:noFill/>
        </p:spPr>
        <p:txBody>
          <a:bodyPr wrap="square">
            <a:spAutoFit/>
          </a:bodyPr>
          <a:lstStyle/>
          <a:p>
            <a:pPr algn="l"/>
            <a:r>
              <a:rPr sz="1200" b="0">
                <a:solidFill>
                  <a:srgbClr val="102A32"/>
                </a:solidFill>
                <a:latin typeface="Calibri"/>
              </a:rPr>
              <a:t>[190] Emily Seto, Kevin J Leonard, Joseph A Cafazzo et al. (2012). Mobile Phone-Based Telemonitoring for Heart Failure Management: A Randomized Controlled Trial. Journal of Medical Internet Research. https://doi.org/10.2196/jmir.1909</a:t>
            </a:r>
          </a:p>
        </p:txBody>
      </p:sp>
      <p:sp>
        <p:nvSpPr>
          <p:cNvPr id="11" name="TextBox 10"/>
          <p:cNvSpPr txBox="1"/>
          <p:nvPr/>
        </p:nvSpPr>
        <p:spPr>
          <a:xfrm>
            <a:off x="411480" y="5678424"/>
            <a:ext cx="11338560" cy="685800"/>
          </a:xfrm>
          <a:prstGeom prst="rect">
            <a:avLst/>
          </a:prstGeom>
          <a:noFill/>
        </p:spPr>
        <p:txBody>
          <a:bodyPr wrap="square">
            <a:spAutoFit/>
          </a:bodyPr>
          <a:lstStyle/>
          <a:p>
            <a:pPr algn="l"/>
            <a:r>
              <a:rPr sz="1200" b="0">
                <a:solidFill>
                  <a:srgbClr val="102A32"/>
                </a:solidFill>
                <a:latin typeface="Calibri"/>
              </a:rPr>
              <a:t>[191] Gwaltney (2012). Hearing the voice of the heart failure patient: key experiences identified in qualitative interviews. British Journal of Cardiology. https://doi.org/10.5837/bjc.2012.004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972800" cy="320040"/>
          </a:xfrm>
          <a:prstGeom prst="rect">
            <a:avLst/>
          </a:prstGeom>
          <a:noFill/>
        </p:spPr>
        <p:txBody>
          <a:bodyPr wrap="square">
            <a:spAutoFit/>
          </a:bodyPr>
          <a:lstStyle/>
          <a:p>
            <a:pPr algn="l"/>
            <a:r>
              <a:rPr sz="1200" b="1">
                <a:solidFill>
                  <a:srgbClr val="B85C38"/>
                </a:solidFill>
                <a:latin typeface="Calibri"/>
              </a:rPr>
              <a:t>10.24  NUMBERED, REGISTRY-VALIDATED REFERENCES</a:t>
            </a:r>
          </a:p>
        </p:txBody>
      </p:sp>
      <p:sp>
        <p:nvSpPr>
          <p:cNvPr id="4" name="TextBox 3"/>
          <p:cNvSpPr txBox="1"/>
          <p:nvPr/>
        </p:nvSpPr>
        <p:spPr>
          <a:xfrm>
            <a:off x="411480" y="685800"/>
            <a:ext cx="11338560" cy="685800"/>
          </a:xfrm>
          <a:prstGeom prst="rect">
            <a:avLst/>
          </a:prstGeom>
          <a:noFill/>
        </p:spPr>
        <p:txBody>
          <a:bodyPr wrap="square">
            <a:spAutoFit/>
          </a:bodyPr>
          <a:lstStyle/>
          <a:p>
            <a:pPr algn="l"/>
            <a:r>
              <a:rPr sz="1200" b="0">
                <a:solidFill>
                  <a:srgbClr val="102A32"/>
                </a:solidFill>
                <a:latin typeface="Calibri"/>
              </a:rPr>
              <a:t>[192] William T Abraham, Philip B Adamson, Robert C Bourge et al. (2011). Wireless pulmonary artery haemodynamic monitoring in chronic heart failure: a randomised controlled trial. The Lancet. https://doi.org/10.1016/s0140-6736(11)60101-3</a:t>
            </a:r>
          </a:p>
        </p:txBody>
      </p:sp>
      <p:sp>
        <p:nvSpPr>
          <p:cNvPr id="5" name="TextBox 4"/>
          <p:cNvSpPr txBox="1"/>
          <p:nvPr/>
        </p:nvSpPr>
        <p:spPr>
          <a:xfrm>
            <a:off x="411480" y="1399032"/>
            <a:ext cx="11338560" cy="685800"/>
          </a:xfrm>
          <a:prstGeom prst="rect">
            <a:avLst/>
          </a:prstGeom>
          <a:noFill/>
        </p:spPr>
        <p:txBody>
          <a:bodyPr wrap="square">
            <a:spAutoFit/>
          </a:bodyPr>
          <a:lstStyle/>
          <a:p>
            <a:pPr algn="l"/>
            <a:r>
              <a:rPr sz="1200" b="0">
                <a:solidFill>
                  <a:srgbClr val="102A32"/>
                </a:solidFill>
                <a:latin typeface="Calibri"/>
              </a:rPr>
              <a:t>[193] K. Gallacher, C. R. May, V. M. Montori et al. (2011). Understanding Patients' Experiences of Treatment Burden in Chronic Heart Failure Using Normalization Process Theory. The Annals of Family Medicine. https://doi.org/10.1370/afm.1249</a:t>
            </a:r>
          </a:p>
        </p:txBody>
      </p:sp>
      <p:sp>
        <p:nvSpPr>
          <p:cNvPr id="6" name="TextBox 5"/>
          <p:cNvSpPr txBox="1"/>
          <p:nvPr/>
        </p:nvSpPr>
        <p:spPr>
          <a:xfrm>
            <a:off x="411480" y="2112264"/>
            <a:ext cx="11338560" cy="685800"/>
          </a:xfrm>
          <a:prstGeom prst="rect">
            <a:avLst/>
          </a:prstGeom>
          <a:noFill/>
        </p:spPr>
        <p:txBody>
          <a:bodyPr wrap="square">
            <a:spAutoFit/>
          </a:bodyPr>
          <a:lstStyle/>
          <a:p>
            <a:pPr algn="l"/>
            <a:r>
              <a:rPr sz="1200" b="0">
                <a:solidFill>
                  <a:srgbClr val="102A32"/>
                </a:solidFill>
                <a:latin typeface="Calibri"/>
              </a:rPr>
              <a:t>[194] Xiaofeng Kang, Zheng Li, Marie T. Nolan (2011). Informal Caregivers' Experiences of Caring for Patients With Chronic Heart Failure. Journal of Cardiovascular Nursing. https://doi.org/10.1097/jcn.0b013e3182076a69</a:t>
            </a:r>
          </a:p>
        </p:txBody>
      </p:sp>
      <p:sp>
        <p:nvSpPr>
          <p:cNvPr id="7" name="TextBox 6"/>
          <p:cNvSpPr txBox="1"/>
          <p:nvPr/>
        </p:nvSpPr>
        <p:spPr>
          <a:xfrm>
            <a:off x="411480" y="2825496"/>
            <a:ext cx="11338560" cy="685800"/>
          </a:xfrm>
          <a:prstGeom prst="rect">
            <a:avLst/>
          </a:prstGeom>
          <a:noFill/>
        </p:spPr>
        <p:txBody>
          <a:bodyPr wrap="square">
            <a:spAutoFit/>
          </a:bodyPr>
          <a:lstStyle/>
          <a:p>
            <a:pPr algn="l"/>
            <a:r>
              <a:rPr sz="1200" b="0">
                <a:solidFill>
                  <a:srgbClr val="102A32"/>
                </a:solidFill>
                <a:latin typeface="Calibri"/>
              </a:rPr>
              <a:t>[195] Faiez Zannad, John J.V. McMurray, Henry Krum et al. (2011). Eplerenone in Patients with Systolic Heart Failure and Mild Symptoms. New England Journal of Medicine. https://doi.org/10.1056/nejmoa1009492</a:t>
            </a:r>
          </a:p>
        </p:txBody>
      </p:sp>
      <p:sp>
        <p:nvSpPr>
          <p:cNvPr id="8" name="TextBox 7"/>
          <p:cNvSpPr txBox="1"/>
          <p:nvPr/>
        </p:nvSpPr>
        <p:spPr>
          <a:xfrm>
            <a:off x="411480" y="3538728"/>
            <a:ext cx="11338560" cy="685800"/>
          </a:xfrm>
          <a:prstGeom prst="rect">
            <a:avLst/>
          </a:prstGeom>
          <a:noFill/>
        </p:spPr>
        <p:txBody>
          <a:bodyPr wrap="square">
            <a:spAutoFit/>
          </a:bodyPr>
          <a:lstStyle/>
          <a:p>
            <a:pPr algn="l"/>
            <a:r>
              <a:rPr sz="1200" b="0">
                <a:solidFill>
                  <a:srgbClr val="102A32"/>
                </a:solidFill>
                <a:latin typeface="Calibri"/>
              </a:rPr>
              <a:t>[196] Yun-Hee Jeon, Stefan G Kraus, Tanisha Jowsey et al. (2010). The experience of living with chronic heart failure: a narrative review of qualitative studies. BMC Health Services Research. https://doi.org/10.1186/1472-6963-10-77</a:t>
            </a:r>
          </a:p>
        </p:txBody>
      </p:sp>
      <p:sp>
        <p:nvSpPr>
          <p:cNvPr id="9" name="TextBox 8"/>
          <p:cNvSpPr txBox="1"/>
          <p:nvPr/>
        </p:nvSpPr>
        <p:spPr>
          <a:xfrm>
            <a:off x="411480" y="4251960"/>
            <a:ext cx="11338560" cy="685800"/>
          </a:xfrm>
          <a:prstGeom prst="rect">
            <a:avLst/>
          </a:prstGeom>
          <a:noFill/>
        </p:spPr>
        <p:txBody>
          <a:bodyPr wrap="square">
            <a:spAutoFit/>
          </a:bodyPr>
          <a:lstStyle/>
          <a:p>
            <a:pPr algn="l"/>
            <a:r>
              <a:rPr sz="1200" b="0">
                <a:solidFill>
                  <a:srgbClr val="102A32"/>
                </a:solidFill>
                <a:latin typeface="Calibri"/>
              </a:rPr>
              <a:t>[197] Karl Swedberg, Michel Komajda, Michael Böhm et al. (2010). Ivabradine and outcomes in chronic heart failure (SHIFT): a randomised placebo-controlled study. The Lancet. https://doi.org/10.1016/s0140-6736(10)61198-1</a:t>
            </a:r>
          </a:p>
        </p:txBody>
      </p:sp>
      <p:sp>
        <p:nvSpPr>
          <p:cNvPr id="10" name="TextBox 9"/>
          <p:cNvSpPr txBox="1"/>
          <p:nvPr/>
        </p:nvSpPr>
        <p:spPr>
          <a:xfrm>
            <a:off x="411480" y="4965192"/>
            <a:ext cx="11338560" cy="685800"/>
          </a:xfrm>
          <a:prstGeom prst="rect">
            <a:avLst/>
          </a:prstGeom>
          <a:noFill/>
        </p:spPr>
        <p:txBody>
          <a:bodyPr wrap="square">
            <a:spAutoFit/>
          </a:bodyPr>
          <a:lstStyle/>
          <a:p>
            <a:pPr algn="l"/>
            <a:r>
              <a:rPr sz="1200" b="0">
                <a:solidFill>
                  <a:srgbClr val="102A32"/>
                </a:solidFill>
                <a:latin typeface="Calibri"/>
              </a:rPr>
              <a:t>[198] Heart Failure Society of America (2010). HFSA 2010 Comprehensive Heart Failure Practice Guideline. Journal of Cardiac Failure. https://doi.org/10.1016/j.cardfail.2010.04.004</a:t>
            </a:r>
          </a:p>
        </p:txBody>
      </p:sp>
      <p:sp>
        <p:nvSpPr>
          <p:cNvPr id="11" name="TextBox 10"/>
          <p:cNvSpPr txBox="1"/>
          <p:nvPr/>
        </p:nvSpPr>
        <p:spPr>
          <a:xfrm>
            <a:off x="411480" y="5678424"/>
            <a:ext cx="11338560" cy="685800"/>
          </a:xfrm>
          <a:prstGeom prst="rect">
            <a:avLst/>
          </a:prstGeom>
          <a:noFill/>
        </p:spPr>
        <p:txBody>
          <a:bodyPr wrap="square">
            <a:spAutoFit/>
          </a:bodyPr>
          <a:lstStyle/>
          <a:p>
            <a:pPr algn="l"/>
            <a:r>
              <a:rPr sz="1200" b="0">
                <a:solidFill>
                  <a:srgbClr val="102A32"/>
                </a:solidFill>
                <a:latin typeface="Calibri"/>
              </a:rPr>
              <a:t>[199] Heart Failure Society of America (2010). Executive Summary: HFSA 2010 Comprehensive Heart Failure Practice Guideline. Journal of Cardiac Failure. https://doi.org/10.1016/j.cardfail.2010.04.005</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972800" cy="320040"/>
          </a:xfrm>
          <a:prstGeom prst="rect">
            <a:avLst/>
          </a:prstGeom>
          <a:noFill/>
        </p:spPr>
        <p:txBody>
          <a:bodyPr wrap="square">
            <a:spAutoFit/>
          </a:bodyPr>
          <a:lstStyle/>
          <a:p>
            <a:pPr algn="l"/>
            <a:r>
              <a:rPr sz="1200" b="1">
                <a:solidFill>
                  <a:srgbClr val="B85C38"/>
                </a:solidFill>
                <a:latin typeface="Calibri"/>
              </a:rPr>
              <a:t>10.25  NUMBERED, REGISTRY-VALIDATED REFERENCES</a:t>
            </a:r>
          </a:p>
        </p:txBody>
      </p:sp>
      <p:sp>
        <p:nvSpPr>
          <p:cNvPr id="4" name="TextBox 3"/>
          <p:cNvSpPr txBox="1"/>
          <p:nvPr/>
        </p:nvSpPr>
        <p:spPr>
          <a:xfrm>
            <a:off x="411480" y="685800"/>
            <a:ext cx="11338560" cy="685800"/>
          </a:xfrm>
          <a:prstGeom prst="rect">
            <a:avLst/>
          </a:prstGeom>
          <a:noFill/>
        </p:spPr>
        <p:txBody>
          <a:bodyPr wrap="square">
            <a:spAutoFit/>
          </a:bodyPr>
          <a:lstStyle/>
          <a:p>
            <a:pPr algn="l"/>
            <a:r>
              <a:rPr sz="1200" b="0">
                <a:solidFill>
                  <a:srgbClr val="102A32"/>
                </a:solidFill>
                <a:latin typeface="Calibri"/>
              </a:rPr>
              <a:t>[200] David B. Bekelman, John S. Rumsfeld, Edward P. Havranek et al. (2009). Symptom Burden, Depression, and Spiritual Well-Being: A Comparison of Heart Failure and Advanced Cancer Patients. Journal of General Internal Medicine. https://doi.org/10.1007/s11606-009-0931-y</a:t>
            </a:r>
          </a:p>
        </p:txBody>
      </p:sp>
      <p:sp>
        <p:nvSpPr>
          <p:cNvPr id="5" name="TextBox 4"/>
          <p:cNvSpPr txBox="1"/>
          <p:nvPr/>
        </p:nvSpPr>
        <p:spPr>
          <a:xfrm>
            <a:off x="411480" y="1399032"/>
            <a:ext cx="11338560" cy="685800"/>
          </a:xfrm>
          <a:prstGeom prst="rect">
            <a:avLst/>
          </a:prstGeom>
          <a:noFill/>
        </p:spPr>
        <p:txBody>
          <a:bodyPr wrap="square">
            <a:spAutoFit/>
          </a:bodyPr>
          <a:lstStyle/>
          <a:p>
            <a:pPr algn="l"/>
            <a:r>
              <a:rPr sz="1200" b="0">
                <a:solidFill>
                  <a:srgbClr val="102A32"/>
                </a:solidFill>
                <a:latin typeface="Calibri"/>
              </a:rPr>
              <a:t>[201] Seongkum Heo, Terry A. Lennie, Chizimuzo Okoli et al. (2009). Quality of life in patients with heart failure: Ask the patients. Heart &amp;amp; Lung. https://doi.org/10.1016/j.hrtlng.2008.04.002</a:t>
            </a:r>
          </a:p>
        </p:txBody>
      </p:sp>
      <p:sp>
        <p:nvSpPr>
          <p:cNvPr id="6" name="TextBox 5"/>
          <p:cNvSpPr txBox="1"/>
          <p:nvPr/>
        </p:nvSpPr>
        <p:spPr>
          <a:xfrm>
            <a:off x="411480" y="2112264"/>
            <a:ext cx="11338560" cy="685800"/>
          </a:xfrm>
          <a:prstGeom prst="rect">
            <a:avLst/>
          </a:prstGeom>
          <a:noFill/>
        </p:spPr>
        <p:txBody>
          <a:bodyPr wrap="square">
            <a:spAutoFit/>
          </a:bodyPr>
          <a:lstStyle/>
          <a:p>
            <a:pPr algn="l"/>
            <a:r>
              <a:rPr sz="1200" b="0">
                <a:solidFill>
                  <a:srgbClr val="102A32"/>
                </a:solidFill>
                <a:latin typeface="Calibri"/>
              </a:rPr>
              <a:t>[202] Barbara Riegel, Christopher S. Lee, Victoria Vaughan Dickson et al. (2009). An Update on the Self-care of Heart Failure Index. Journal of Cardiovascular Nursing. https://doi.org/10.1097/jcn.0b013e3181b4baa0</a:t>
            </a:r>
          </a:p>
        </p:txBody>
      </p:sp>
      <p:sp>
        <p:nvSpPr>
          <p:cNvPr id="7" name="TextBox 6"/>
          <p:cNvSpPr txBox="1"/>
          <p:nvPr/>
        </p:nvSpPr>
        <p:spPr>
          <a:xfrm>
            <a:off x="411480" y="2825496"/>
            <a:ext cx="11338560" cy="685800"/>
          </a:xfrm>
          <a:prstGeom prst="rect">
            <a:avLst/>
          </a:prstGeom>
          <a:noFill/>
        </p:spPr>
        <p:txBody>
          <a:bodyPr wrap="square">
            <a:spAutoFit/>
          </a:bodyPr>
          <a:lstStyle/>
          <a:p>
            <a:pPr algn="l"/>
            <a:r>
              <a:rPr sz="1200" b="0">
                <a:solidFill>
                  <a:srgbClr val="102A32"/>
                </a:solidFill>
                <a:latin typeface="Calibri"/>
              </a:rPr>
              <a:t>[203] Carl Thompson, Karen Spilsbury, Dawn Dowding et al. (2008). Do heart failure specialist nurses think differently when faced with ‘hard’ or ‘easy’ decisions: a judgement analysis. Journal of Clinical Nursing. https://doi.org/10.1111/j.1365-2702.2008.02303.x</a:t>
            </a:r>
          </a:p>
        </p:txBody>
      </p:sp>
      <p:sp>
        <p:nvSpPr>
          <p:cNvPr id="8" name="TextBox 7"/>
          <p:cNvSpPr txBox="1"/>
          <p:nvPr/>
        </p:nvSpPr>
        <p:spPr>
          <a:xfrm>
            <a:off x="411480" y="3538728"/>
            <a:ext cx="11338560" cy="685800"/>
          </a:xfrm>
          <a:prstGeom prst="rect">
            <a:avLst/>
          </a:prstGeom>
          <a:noFill/>
        </p:spPr>
        <p:txBody>
          <a:bodyPr wrap="square">
            <a:spAutoFit/>
          </a:bodyPr>
          <a:lstStyle/>
          <a:p>
            <a:pPr algn="l"/>
            <a:r>
              <a:rPr sz="1200" b="0">
                <a:solidFill>
                  <a:srgbClr val="102A32"/>
                </a:solidFill>
                <a:latin typeface="Calibri"/>
              </a:rPr>
              <a:t>[204] Larry A. Allen (2008). Discordance Between Patient-Predicted and Model-Predicted Life Expectancy Among Ambulatory Patients With Heart Failure. JAMA. https://doi.org/10.1001/jama.299.21.2533</a:t>
            </a:r>
          </a:p>
        </p:txBody>
      </p:sp>
      <p:sp>
        <p:nvSpPr>
          <p:cNvPr id="9" name="TextBox 8"/>
          <p:cNvSpPr txBox="1"/>
          <p:nvPr/>
        </p:nvSpPr>
        <p:spPr>
          <a:xfrm>
            <a:off x="411480" y="4251960"/>
            <a:ext cx="11338560" cy="685800"/>
          </a:xfrm>
          <a:prstGeom prst="rect">
            <a:avLst/>
          </a:prstGeom>
          <a:noFill/>
        </p:spPr>
        <p:txBody>
          <a:bodyPr wrap="square">
            <a:spAutoFit/>
          </a:bodyPr>
          <a:lstStyle/>
          <a:p>
            <a:pPr algn="l"/>
            <a:r>
              <a:rPr sz="1200" b="0">
                <a:solidFill>
                  <a:srgbClr val="102A32"/>
                </a:solidFill>
                <a:latin typeface="Calibri"/>
              </a:rPr>
              <a:t>[205]  (2006). Is mortality from heart failure increasing in Australia? An analysis of official data on mortality for 1997-2003.. WHO IRIS.</a:t>
            </a:r>
          </a:p>
        </p:txBody>
      </p:sp>
      <p:sp>
        <p:nvSpPr>
          <p:cNvPr id="10" name="TextBox 9"/>
          <p:cNvSpPr txBox="1"/>
          <p:nvPr/>
        </p:nvSpPr>
        <p:spPr>
          <a:xfrm>
            <a:off x="411480" y="4965192"/>
            <a:ext cx="11338560" cy="685800"/>
          </a:xfrm>
          <a:prstGeom prst="rect">
            <a:avLst/>
          </a:prstGeom>
          <a:noFill/>
        </p:spPr>
        <p:txBody>
          <a:bodyPr wrap="square">
            <a:spAutoFit/>
          </a:bodyPr>
          <a:lstStyle/>
          <a:p>
            <a:pPr algn="l"/>
            <a:r>
              <a:rPr sz="1200" b="0">
                <a:solidFill>
                  <a:srgbClr val="102A32"/>
                </a:solidFill>
                <a:latin typeface="Calibri"/>
              </a:rPr>
              <a:t>[206] Heart Failure Society Of America (2006). Executive Summary: HFSA 2006 Comprehensive Heart Failure Practice Guideline. Journal of Cardiac Failure. https://doi.org/10.1016/j.cardfail.2005.12.001</a:t>
            </a:r>
          </a:p>
        </p:txBody>
      </p:sp>
      <p:sp>
        <p:nvSpPr>
          <p:cNvPr id="11" name="TextBox 10"/>
          <p:cNvSpPr txBox="1"/>
          <p:nvPr/>
        </p:nvSpPr>
        <p:spPr>
          <a:xfrm>
            <a:off x="411480" y="5678424"/>
            <a:ext cx="11338560" cy="685800"/>
          </a:xfrm>
          <a:prstGeom prst="rect">
            <a:avLst/>
          </a:prstGeom>
          <a:noFill/>
        </p:spPr>
        <p:txBody>
          <a:bodyPr wrap="square">
            <a:spAutoFit/>
          </a:bodyPr>
          <a:lstStyle/>
          <a:p>
            <a:pPr algn="l"/>
            <a:r>
              <a:rPr sz="1200" b="0">
                <a:solidFill>
                  <a:srgbClr val="102A32"/>
                </a:solidFill>
                <a:latin typeface="Calibri"/>
              </a:rPr>
              <a:t>[207] Marc A Pfeffer, Karl Swedberg, Christopher B Granger et al. (2003). Effects of candesartan on mortality and morbidity in patients with chronic heart failure: the CHARM-Overall programme. The Lancet. https://doi.org/10.1016/s0140-6736(03)14282-1</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972800" cy="320040"/>
          </a:xfrm>
          <a:prstGeom prst="rect">
            <a:avLst/>
          </a:prstGeom>
          <a:noFill/>
        </p:spPr>
        <p:txBody>
          <a:bodyPr wrap="square">
            <a:spAutoFit/>
          </a:bodyPr>
          <a:lstStyle/>
          <a:p>
            <a:pPr algn="l"/>
            <a:r>
              <a:rPr sz="1200" b="1">
                <a:solidFill>
                  <a:srgbClr val="B85C38"/>
                </a:solidFill>
                <a:latin typeface="Calibri"/>
              </a:rPr>
              <a:t>10.26  NUMBERED, REGISTRY-VALIDATED REFERENCES</a:t>
            </a:r>
          </a:p>
        </p:txBody>
      </p:sp>
      <p:sp>
        <p:nvSpPr>
          <p:cNvPr id="4" name="TextBox 3"/>
          <p:cNvSpPr txBox="1"/>
          <p:nvPr/>
        </p:nvSpPr>
        <p:spPr>
          <a:xfrm>
            <a:off x="411480" y="685800"/>
            <a:ext cx="11338560" cy="685800"/>
          </a:xfrm>
          <a:prstGeom prst="rect">
            <a:avLst/>
          </a:prstGeom>
          <a:noFill/>
        </p:spPr>
        <p:txBody>
          <a:bodyPr wrap="square">
            <a:spAutoFit/>
          </a:bodyPr>
          <a:lstStyle/>
          <a:p>
            <a:pPr algn="l"/>
            <a:r>
              <a:rPr sz="1200" b="0">
                <a:solidFill>
                  <a:srgbClr val="102A32"/>
                </a:solidFill>
                <a:latin typeface="Calibri"/>
              </a:rPr>
              <a:t>[208] John JV McMurray, Jan Östergren, Karl Swedberg et al. (2003). Effects of candesartan in patients with chronic heart failure and reduced left-ventricular systolic function taking angiotensin-converting-enzyme inhibitors: the CHARM-Added trial. The Lancet. https://doi.org/10.1016/s0140-6736(03)14283-3</a:t>
            </a:r>
          </a:p>
        </p:txBody>
      </p:sp>
      <p:sp>
        <p:nvSpPr>
          <p:cNvPr id="5" name="TextBox 4"/>
          <p:cNvSpPr txBox="1"/>
          <p:nvPr/>
        </p:nvSpPr>
        <p:spPr>
          <a:xfrm>
            <a:off x="411480" y="1399032"/>
            <a:ext cx="11338560" cy="685800"/>
          </a:xfrm>
          <a:prstGeom prst="rect">
            <a:avLst/>
          </a:prstGeom>
          <a:noFill/>
        </p:spPr>
        <p:txBody>
          <a:bodyPr wrap="square">
            <a:spAutoFit/>
          </a:bodyPr>
          <a:lstStyle/>
          <a:p>
            <a:pPr algn="l"/>
            <a:r>
              <a:rPr sz="1200" b="0">
                <a:solidFill>
                  <a:srgbClr val="102A32"/>
                </a:solidFill>
                <a:latin typeface="Calibri"/>
              </a:rPr>
              <a:t>[211]  (2001). New biochemical markers in chronic heart failure. WHO IRIS.</a:t>
            </a:r>
          </a:p>
        </p:txBody>
      </p:sp>
      <p:sp>
        <p:nvSpPr>
          <p:cNvPr id="6" name="TextBox 5"/>
          <p:cNvSpPr txBox="1"/>
          <p:nvPr/>
        </p:nvSpPr>
        <p:spPr>
          <a:xfrm>
            <a:off x="411480" y="2112264"/>
            <a:ext cx="11338560" cy="685800"/>
          </a:xfrm>
          <a:prstGeom prst="rect">
            <a:avLst/>
          </a:prstGeom>
          <a:noFill/>
        </p:spPr>
        <p:txBody>
          <a:bodyPr wrap="square">
            <a:spAutoFit/>
          </a:bodyPr>
          <a:lstStyle/>
          <a:p>
            <a:pPr algn="l"/>
            <a:r>
              <a:rPr sz="1200" b="0">
                <a:solidFill>
                  <a:srgbClr val="102A32"/>
                </a:solidFill>
                <a:latin typeface="Calibri"/>
              </a:rPr>
              <a:t>[212] Bertram Pitt, Faiez Zannad, Willem J. Remme et al. (1999). The Effect of Spironolactone on Morbidity and Mortality in Patients with Severe Heart Failure. New England Journal of Medicine. https://doi.org/10.1056/nejm199909023411001</a:t>
            </a:r>
          </a:p>
        </p:txBody>
      </p:sp>
      <p:sp>
        <p:nvSpPr>
          <p:cNvPr id="7" name="TextBox 6"/>
          <p:cNvSpPr txBox="1"/>
          <p:nvPr/>
        </p:nvSpPr>
        <p:spPr>
          <a:xfrm>
            <a:off x="411480" y="2825496"/>
            <a:ext cx="11338560" cy="685800"/>
          </a:xfrm>
          <a:prstGeom prst="rect">
            <a:avLst/>
          </a:prstGeom>
          <a:noFill/>
        </p:spPr>
        <p:txBody>
          <a:bodyPr wrap="square">
            <a:spAutoFit/>
          </a:bodyPr>
          <a:lstStyle/>
          <a:p>
            <a:pPr algn="l"/>
            <a:r>
              <a:rPr sz="1200" b="0">
                <a:solidFill>
                  <a:srgbClr val="102A32"/>
                </a:solidFill>
                <a:latin typeface="Calibri"/>
              </a:rPr>
              <a:t>[213]  (1996). Management of heart failure. WHO IRIS.</a:t>
            </a:r>
          </a:p>
        </p:txBody>
      </p:sp>
      <p:sp>
        <p:nvSpPr>
          <p:cNvPr id="8" name="TextBox 7"/>
          <p:cNvSpPr txBox="1"/>
          <p:nvPr/>
        </p:nvSpPr>
        <p:spPr>
          <a:xfrm>
            <a:off x="411480" y="3538728"/>
            <a:ext cx="11338560" cy="685800"/>
          </a:xfrm>
          <a:prstGeom prst="rect">
            <a:avLst/>
          </a:prstGeom>
          <a:noFill/>
        </p:spPr>
        <p:txBody>
          <a:bodyPr wrap="square">
            <a:spAutoFit/>
          </a:bodyPr>
          <a:lstStyle/>
          <a:p>
            <a:pPr algn="l"/>
            <a:r>
              <a:rPr sz="1200" b="0">
                <a:solidFill>
                  <a:srgbClr val="102A32"/>
                </a:solidFill>
                <a:latin typeface="Calibri"/>
              </a:rPr>
              <a:t>[214]  (1964). Congestive heart failure in women in Iraq. WHO IRIS.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